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gramme" id="{4fcc9b3c-421b-f4ea-3072-fea398c3b9ce}">
          <p14:sldIdLst>
            <p14:sldId id="256"/>
            <p14:sldId id="257"/>
            <p14:sldId id="258"/>
          </p14:sldIdLst>
        </p14:section>
        <p14:section name="Rapport" id="{d93a3c38-3da7-348e-f32f-cc34aefe1a50}">
          <p14:sldIdLst>
            <p14:sldId id="259"/>
            <p14:sldId id="260"/>
            <p14:sldId id="261"/>
            <p14:sldId id="262"/>
          </p14:sldIdLst>
        </p14:section>
        <p14:section name="Vision et réalisations" id="{5097d7c7-9bda-be09-f42a-dedefc93871d}">
          <p14:sldIdLst>
            <p14:sldId id="263"/>
            <p14:sldId id="264"/>
            <p14:sldId id="265"/>
            <p14:sldId id="266"/>
          </p14:sldIdLst>
        </p14:section>
        <p14:section name="Activités et clubs" id="{a0561304-df5c-6519-8a65-5c092e87bd94}">
          <p14:sldIdLst>
            <p14:sldId id="267"/>
            <p14:sldId id="268"/>
            <p14:sldId id="269"/>
            <p14:sldId id="270"/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Moyenne /20</c:v>
                </c:pt>
              </c:strCache>
            </c:strRef>
          </c:tx>
          <c:spPr>
            <a:solidFill>
              <a:srgbClr val="1F5A3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B2B2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5A3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5A3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D212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F5A3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F5A3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F5A3A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F5A3A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1F5A3A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Class 1</c:v>
                  </c:pt>
                  <c:pt idx="1">
                    <c:v>Class 2</c:v>
                  </c:pt>
                  <c:pt idx="2">
                    <c:v>Class 3</c:v>
                  </c:pt>
                  <c:pt idx="3">
                    <c:v>Class 4</c:v>
                  </c:pt>
                  <c:pt idx="4">
                    <c:v>Class 5</c:v>
                  </c:pt>
                  <c:pt idx="5">
                    <c:v>Class 6</c:v>
                  </c:pt>
                  <c:pt idx="6">
                    <c:v>CM1</c:v>
                  </c:pt>
                  <c:pt idx="7">
                    <c:v>CM2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14.4</c:v>
                </c:pt>
                <c:pt idx="1">
                  <c:v>15.74</c:v>
                </c:pt>
                <c:pt idx="2">
                  <c:v>9.33</c:v>
                </c:pt>
                <c:pt idx="3">
                  <c:v>16.66</c:v>
                </c:pt>
                <c:pt idx="4">
                  <c:v>16.84</c:v>
                </c:pt>
                <c:pt idx="5">
                  <c:v>16.53</c:v>
                </c:pt>
                <c:pt idx="6">
                  <c:v>10.78</c:v>
                </c:pt>
                <c:pt idx="7">
                  <c:v>12.56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400" u="none">
                  <a:solidFill>
                    <a:srgbClr val="1B2B2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B2B2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9525" cap="flat">
              <a:solidFill>
                <a:srgbClr val="D5E2D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6686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POUR AJOUTER UNE IMAGE : cliquer sur le cadre en pointillés, puis Format de la forme &gt; Remplissage &gt; Image (ou Insertion &gt; Images, puis glisser l’image à la place du cadre et la mettre à la taille). Le cadre peut ensuite être supprimé.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points : hymne, mot du Directeur de campus, rapport de la direction pédagogique, vision et réalisations, activités extrascolaires, clubs.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Messages clés du Directeur de campus à ajouter.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Rapport sur la rentrée 2026 et programmes d’orientation destinés à tous les élèves.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Moyenne générale de l’école : 15,11 sur 20. 24 élèves évalués, 22 avec une moyenne supérieure ou égale à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Effectifs, élèves évalués, moyenne de classe sur 20, élèves avec une moyenne supérieure ou égale à 10, taux de réussite et répartition des cotes.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Réserves sur les petits effectifs et sur CM2. La légende des cotes est à ajouter.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vision est mentionnée dans les notes sans détail : énoncé à ajouter.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Introduction d’activités d’apprentissage numérisées.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Approche hands-on, minds-on. Projets mensuels présentés par les élèves. Exemples : bouquet de fleurs, radio, cycle de l’eau, jardin de fleurs, arrosage quotidien.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Bouquet de fleurs, radio, cycle de l’eau, jardin de fleurs, arrosage quotidien et travaux manuels en classe.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Organisation d’une excursion ou d’un pique-nique. Photos des enfants sur le site de pique-nique, Village Madiba.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Trois clubs présentés par les experts : Media, Information Technology et un troisième club à préciser.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Activités : photographie, vidéographie, journalisme (gratuit), journalisme, prise de parole en public, théâtre.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Introduction aux activités informatiques.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troisième club est mentionné dans les notes sans nom ni activités.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Clôture de la réunion : questions des parents.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2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Code/4e831f0f-b184-5886-b47e-eb817a26816e/scratchpad/pp3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274320"/>
            <a:ext cx="777240" cy="7772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Bright Continent Bilingual School  ·  First PTA Meeting / Première réunion PTA</a:t>
            </a: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i="1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 card"/>
          <p:cNvSpPr/>
          <p:nvPr/>
        </p:nvSpPr>
        <p:spPr>
          <a:xfrm>
            <a:off x="548640" y="548640"/>
            <a:ext cx="1463040" cy="1463040"/>
          </a:xfrm>
          <a:prstGeom prst="roundRect">
            <a:avLst>
              <a:gd name="adj" fmla="val 937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3" name="Logo" descr="Logo Bright Continent Bilingual Schoo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0080"/>
            <a:ext cx="1280160" cy="1280160"/>
          </a:xfrm>
          <a:prstGeom prst="rect">
            <a:avLst/>
          </a:prstGeom>
        </p:spPr>
      </p:pic>
      <p:sp>
        <p:nvSpPr>
          <p:cNvPr id="4" name="Titre EN"/>
          <p:cNvSpPr txBox="1"/>
          <p:nvPr/>
        </p:nvSpPr>
        <p:spPr>
          <a:xfrm>
            <a:off x="548640" y="237744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FIRST PTA MEETING</a:t>
            </a:r>
            <a:endParaRPr lang="en-US" sz="4800" dirty="0"/>
          </a:p>
        </p:txBody>
      </p:sp>
      <p:sp>
        <p:nvSpPr>
          <p:cNvPr id="5" name="Titre FR"/>
          <p:cNvSpPr txBox="1"/>
          <p:nvPr/>
        </p:nvSpPr>
        <p:spPr>
          <a:xfrm>
            <a:off x="548640" y="333756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PREMIÈRE RÉUNION PTA</a:t>
            </a:r>
            <a:endParaRPr lang="en-US" sz="3000" dirty="0"/>
          </a:p>
        </p:txBody>
      </p:sp>
      <p:sp>
        <p:nvSpPr>
          <p:cNvPr id="6" name="Sous-titre"/>
          <p:cNvSpPr txBox="1"/>
          <p:nvPr/>
        </p:nvSpPr>
        <p:spPr>
          <a:xfrm>
            <a:off x="548640" y="402336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Parents – Enseignants / Parents – Teachers</a:t>
            </a:r>
            <a:endParaRPr lang="en-US" sz="1800" dirty="0"/>
          </a:p>
        </p:txBody>
      </p:sp>
      <p:sp>
        <p:nvSpPr>
          <p:cNvPr id="7" name="École"/>
          <p:cNvSpPr txBox="1"/>
          <p:nvPr/>
        </p:nvSpPr>
        <p:spPr>
          <a:xfrm>
            <a:off x="548640" y="50292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Bright Continent Bilingual School</a:t>
            </a:r>
            <a:endParaRPr lang="en-US" sz="2400" dirty="0"/>
          </a:p>
        </p:txBody>
      </p:sp>
      <p:sp>
        <p:nvSpPr>
          <p:cNvPr id="8" name="Contact"/>
          <p:cNvSpPr txBox="1"/>
          <p:nvPr/>
        </p:nvSpPr>
        <p:spPr>
          <a:xfrm>
            <a:off x="548640" y="553212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Dragage – Yaoundé  ·  +237 678 34 12 13</a:t>
            </a:r>
            <a:endParaRPr lang="en-US" sz="1800" dirty="0"/>
          </a:p>
        </p:txBody>
      </p:sp>
      <p:sp>
        <p:nvSpPr>
          <p:cNvPr id="9" name="IMAGE À AJOUTER – couverture"/>
          <p:cNvSpPr/>
          <p:nvPr/>
        </p:nvSpPr>
        <p:spPr>
          <a:xfrm>
            <a:off x="6949440" y="594360"/>
            <a:ext cx="4754880" cy="5669280"/>
          </a:xfrm>
          <a:prstGeom prst="roundRect">
            <a:avLst>
              <a:gd name="adj" fmla="val 2308"/>
            </a:avLst>
          </a:prstGeom>
          <a:solidFill>
            <a:schemeClr val="accent1"/>
          </a:solidFill>
          <a:ln w="25400">
            <a:solidFill>
              <a:schemeClr val="accent2"/>
            </a:solidFill>
            <a:prstDash val="dash"/>
          </a:ln>
        </p:spPr>
      </p:sp>
      <p:pic>
        <p:nvPicPr>
          <p:cNvPr id="10" name="Icon imag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788920"/>
            <a:ext cx="548640" cy="548640"/>
          </a:xfrm>
          <a:prstGeom prst="rect">
            <a:avLst/>
          </a:prstGeom>
        </p:spPr>
      </p:pic>
      <p:sp>
        <p:nvSpPr>
          <p:cNvPr id="11" name="Texte emplacement image"/>
          <p:cNvSpPr txBox="1"/>
          <p:nvPr/>
        </p:nvSpPr>
        <p:spPr>
          <a:xfrm>
            <a:off x="7132320" y="342900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Insérer l’image ici / Insert image here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Photo de couverture : élèves, école, ou parents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Programme de la réunion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Programme / Agenda</a:t>
            </a:r>
            <a:endParaRPr lang="en-US" sz="2000" dirty="0"/>
          </a:p>
        </p:txBody>
      </p:sp>
      <p:sp>
        <p:nvSpPr>
          <p:cNvPr id="5" name="Point 1"/>
          <p:cNvSpPr/>
          <p:nvPr/>
        </p:nvSpPr>
        <p:spPr>
          <a:xfrm>
            <a:off x="548640" y="1691640"/>
            <a:ext cx="6949440" cy="658368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Numéro"/>
          <p:cNvSpPr txBox="1"/>
          <p:nvPr/>
        </p:nvSpPr>
        <p:spPr>
          <a:xfrm>
            <a:off x="685800" y="1783080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Bilingual text"/>
          <p:cNvSpPr txBox="1"/>
          <p:nvPr/>
        </p:nvSpPr>
        <p:spPr>
          <a:xfrm>
            <a:off x="1371600" y="1709928"/>
            <a:ext cx="6035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Chant de l’hymne national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Singing of the National Anthem</a:t>
            </a:r>
            <a:endParaRPr lang="en-US" sz="1600" dirty="0"/>
          </a:p>
        </p:txBody>
      </p:sp>
      <p:sp>
        <p:nvSpPr>
          <p:cNvPr id="8" name="Point 2"/>
          <p:cNvSpPr/>
          <p:nvPr/>
        </p:nvSpPr>
        <p:spPr>
          <a:xfrm>
            <a:off x="548640" y="2441448"/>
            <a:ext cx="6949440" cy="658368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9" name="Numéro"/>
          <p:cNvSpPr txBox="1"/>
          <p:nvPr/>
        </p:nvSpPr>
        <p:spPr>
          <a:xfrm>
            <a:off x="685800" y="253288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Bilingual text"/>
          <p:cNvSpPr txBox="1"/>
          <p:nvPr/>
        </p:nvSpPr>
        <p:spPr>
          <a:xfrm>
            <a:off x="1371600" y="2459736"/>
            <a:ext cx="6035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Le mot du Directeur de campus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A word from the Campus Director</a:t>
            </a:r>
            <a:endParaRPr lang="en-US" sz="1600" dirty="0"/>
          </a:p>
        </p:txBody>
      </p:sp>
      <p:sp>
        <p:nvSpPr>
          <p:cNvPr id="11" name="Point 3"/>
          <p:cNvSpPr/>
          <p:nvPr/>
        </p:nvSpPr>
        <p:spPr>
          <a:xfrm>
            <a:off x="548640" y="3191256"/>
            <a:ext cx="6949440" cy="658368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2" name="Numéro"/>
          <p:cNvSpPr txBox="1"/>
          <p:nvPr/>
        </p:nvSpPr>
        <p:spPr>
          <a:xfrm>
            <a:off x="685800" y="3282696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Bilingual text"/>
          <p:cNvSpPr txBox="1"/>
          <p:nvPr/>
        </p:nvSpPr>
        <p:spPr>
          <a:xfrm>
            <a:off x="1371600" y="3209544"/>
            <a:ext cx="6035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Le bureau de la direction pédagogique (Headteacher)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The Headteacher’s Desk</a:t>
            </a:r>
            <a:endParaRPr lang="en-US" sz="1600" dirty="0"/>
          </a:p>
        </p:txBody>
      </p:sp>
      <p:sp>
        <p:nvSpPr>
          <p:cNvPr id="14" name="Point 4"/>
          <p:cNvSpPr/>
          <p:nvPr/>
        </p:nvSpPr>
        <p:spPr>
          <a:xfrm>
            <a:off x="548640" y="3941064"/>
            <a:ext cx="6949440" cy="658368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5" name="Numéro"/>
          <p:cNvSpPr txBox="1"/>
          <p:nvPr/>
        </p:nvSpPr>
        <p:spPr>
          <a:xfrm>
            <a:off x="685800" y="4032504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6" name="Bilingual text"/>
          <p:cNvSpPr txBox="1"/>
          <p:nvPr/>
        </p:nvSpPr>
        <p:spPr>
          <a:xfrm>
            <a:off x="1371600" y="3959352"/>
            <a:ext cx="6035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Notre vision et nos réalisations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Our vision and achievements so far</a:t>
            </a:r>
            <a:endParaRPr lang="en-US" sz="1600" dirty="0"/>
          </a:p>
        </p:txBody>
      </p:sp>
      <p:sp>
        <p:nvSpPr>
          <p:cNvPr id="17" name="Point 5"/>
          <p:cNvSpPr/>
          <p:nvPr/>
        </p:nvSpPr>
        <p:spPr>
          <a:xfrm>
            <a:off x="548640" y="4690872"/>
            <a:ext cx="6949440" cy="658368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8" name="Numéro"/>
          <p:cNvSpPr txBox="1"/>
          <p:nvPr/>
        </p:nvSpPr>
        <p:spPr>
          <a:xfrm>
            <a:off x="685800" y="4782312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19" name="Bilingual text"/>
          <p:cNvSpPr txBox="1"/>
          <p:nvPr/>
        </p:nvSpPr>
        <p:spPr>
          <a:xfrm>
            <a:off x="1371600" y="4709160"/>
            <a:ext cx="6035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Activités extrascolaires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Extracurricular activities</a:t>
            </a:r>
            <a:endParaRPr lang="en-US" sz="1600" dirty="0"/>
          </a:p>
        </p:txBody>
      </p:sp>
      <p:sp>
        <p:nvSpPr>
          <p:cNvPr id="20" name="Point 6"/>
          <p:cNvSpPr/>
          <p:nvPr/>
        </p:nvSpPr>
        <p:spPr>
          <a:xfrm>
            <a:off x="548640" y="5440680"/>
            <a:ext cx="6949440" cy="658368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1" name="Numéro"/>
          <p:cNvSpPr txBox="1"/>
          <p:nvPr/>
        </p:nvSpPr>
        <p:spPr>
          <a:xfrm>
            <a:off x="685800" y="5532120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6</a:t>
            </a:r>
            <a:endParaRPr lang="en-US" sz="1800" dirty="0"/>
          </a:p>
        </p:txBody>
      </p:sp>
      <p:sp>
        <p:nvSpPr>
          <p:cNvPr id="22" name="Bilingual text"/>
          <p:cNvSpPr txBox="1"/>
          <p:nvPr/>
        </p:nvSpPr>
        <p:spPr>
          <a:xfrm>
            <a:off x="1371600" y="5458968"/>
            <a:ext cx="6035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Clubs et activités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Clubs and activities</a:t>
            </a:r>
            <a:endParaRPr lang="en-US" sz="1600" dirty="0"/>
          </a:p>
        </p:txBody>
      </p:sp>
      <p:sp>
        <p:nvSpPr>
          <p:cNvPr id="23" name="IMAGE À AJOUTER – photo : parents / école"/>
          <p:cNvSpPr/>
          <p:nvPr/>
        </p:nvSpPr>
        <p:spPr>
          <a:xfrm>
            <a:off x="7863840" y="1691640"/>
            <a:ext cx="3794760" cy="4389120"/>
          </a:xfrm>
          <a:prstGeom prst="roundRect">
            <a:avLst>
              <a:gd name="adj" fmla="val 2892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24" name="Icon imag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0" y="3273552"/>
            <a:ext cx="502920" cy="502920"/>
          </a:xfrm>
          <a:prstGeom prst="rect">
            <a:avLst/>
          </a:prstGeom>
        </p:spPr>
      </p:pic>
      <p:sp>
        <p:nvSpPr>
          <p:cNvPr id="25" name="Texte emplacement image"/>
          <p:cNvSpPr txBox="1"/>
          <p:nvPr/>
        </p:nvSpPr>
        <p:spPr>
          <a:xfrm>
            <a:off x="8001000" y="3931920"/>
            <a:ext cx="3520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photo : parents / école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Le mot du Directeur de campus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A word from the Campus Director</a:t>
            </a:r>
            <a:endParaRPr lang="en-US" sz="2000" dirty="0"/>
          </a:p>
        </p:txBody>
      </p:sp>
      <p:sp>
        <p:nvSpPr>
          <p:cNvPr id="5" name="IMAGE À AJOUTER – portrait ou photo du Directeur de campus"/>
          <p:cNvSpPr/>
          <p:nvPr/>
        </p:nvSpPr>
        <p:spPr>
          <a:xfrm>
            <a:off x="548640" y="1691640"/>
            <a:ext cx="4023360" cy="438912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6" name="Icon imag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08860" y="3273552"/>
            <a:ext cx="502920" cy="502920"/>
          </a:xfrm>
          <a:prstGeom prst="rect">
            <a:avLst/>
          </a:prstGeom>
        </p:spPr>
      </p:pic>
      <p:sp>
        <p:nvSpPr>
          <p:cNvPr id="7" name="Texte emplacement image"/>
          <p:cNvSpPr txBox="1"/>
          <p:nvPr/>
        </p:nvSpPr>
        <p:spPr>
          <a:xfrm>
            <a:off x="685800" y="3931920"/>
            <a:ext cx="3749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portrait ou photo du Directeur de campus</a:t>
            </a:r>
            <a:endParaRPr lang="en-US" sz="1400" dirty="0"/>
          </a:p>
        </p:txBody>
      </p:sp>
      <p:sp>
        <p:nvSpPr>
          <p:cNvPr id="8" name="À compléter"/>
          <p:cNvSpPr/>
          <p:nvPr/>
        </p:nvSpPr>
        <p:spPr>
          <a:xfrm>
            <a:off x="4937760" y="1691640"/>
            <a:ext cx="6720840" cy="4389120"/>
          </a:xfrm>
          <a:prstGeom prst="roundRect">
            <a:avLst>
              <a:gd name="adj" fmla="val 2500"/>
            </a:avLst>
          </a:prstGeom>
          <a:solidFill>
            <a:schemeClr val="bg1"/>
          </a:solidFill>
          <a:ln w="31750">
            <a:solidFill>
              <a:schemeClr val="accent2"/>
            </a:solidFill>
            <a:prstDash val="dash"/>
          </a:ln>
        </p:spPr>
      </p:sp>
      <p:sp>
        <p:nvSpPr>
          <p:cNvPr id="9" name="À compléter texte"/>
          <p:cNvSpPr txBox="1"/>
          <p:nvPr/>
        </p:nvSpPr>
        <p:spPr>
          <a:xfrm>
            <a:off x="5166360" y="1691640"/>
            <a:ext cx="62636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À compléter / To be completed</a:t>
            </a:r>
            <a:endParaRPr lang="en-US" sz="15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Messages clés à ajouter.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Key messages to be added.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Le bureau de la direction pédagogique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The Headteacher’s Desk — Report on the resumption of the 2026 academic year</a:t>
            </a:r>
            <a:endParaRPr lang="en-US" sz="2000" dirty="0"/>
          </a:p>
        </p:txBody>
      </p:sp>
      <p:sp>
        <p:nvSpPr>
          <p:cNvPr id="5" name="Rapport"/>
          <p:cNvSpPr/>
          <p:nvPr/>
        </p:nvSpPr>
        <p:spPr>
          <a:xfrm>
            <a:off x="548640" y="1691640"/>
            <a:ext cx="512064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Icon circle"/>
          <p:cNvSpPr/>
          <p:nvPr/>
        </p:nvSpPr>
        <p:spPr>
          <a:xfrm>
            <a:off x="731520" y="20574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4166" y="2200046"/>
            <a:ext cx="309067" cy="309067"/>
          </a:xfrm>
          <a:prstGeom prst="rect">
            <a:avLst/>
          </a:prstGeom>
        </p:spPr>
      </p:pic>
      <p:sp>
        <p:nvSpPr>
          <p:cNvPr id="8" name="Bilingual text"/>
          <p:cNvSpPr txBox="1"/>
          <p:nvPr/>
        </p:nvSpPr>
        <p:spPr>
          <a:xfrm>
            <a:off x="1508760" y="1737360"/>
            <a:ext cx="4069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Rapport sur la rentrée scolaire 2026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Report on the resumption of the 2026 academic year</a:t>
            </a:r>
            <a:endParaRPr lang="en-US" sz="1800" dirty="0"/>
          </a:p>
        </p:txBody>
      </p:sp>
      <p:sp>
        <p:nvSpPr>
          <p:cNvPr id="9" name="IMAGE À AJOUTER – photos de la rentrée / de l’orientation des élèves"/>
          <p:cNvSpPr/>
          <p:nvPr/>
        </p:nvSpPr>
        <p:spPr>
          <a:xfrm>
            <a:off x="548640" y="3154680"/>
            <a:ext cx="512064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10" name="Icon imag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0" y="4005072"/>
            <a:ext cx="502920" cy="502920"/>
          </a:xfrm>
          <a:prstGeom prst="rect">
            <a:avLst/>
          </a:prstGeom>
        </p:spPr>
      </p:pic>
      <p:sp>
        <p:nvSpPr>
          <p:cNvPr id="11" name="Texte emplacement image"/>
          <p:cNvSpPr txBox="1"/>
          <p:nvPr/>
        </p:nvSpPr>
        <p:spPr>
          <a:xfrm>
            <a:off x="685800" y="466344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photos de la rentrée / de l’orientation des élèves</a:t>
            </a:r>
            <a:endParaRPr lang="en-US" sz="1400" dirty="0"/>
          </a:p>
        </p:txBody>
      </p:sp>
      <p:sp>
        <p:nvSpPr>
          <p:cNvPr id="12" name="Titre orientation"/>
          <p:cNvSpPr txBox="1"/>
          <p:nvPr/>
        </p:nvSpPr>
        <p:spPr>
          <a:xfrm>
            <a:off x="6035040" y="1691640"/>
            <a:ext cx="5623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Programmes d’orientation pour tous les élèves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Orientation programmes held for all learners</a:t>
            </a:r>
            <a:endParaRPr lang="en-US" sz="1800" dirty="0"/>
          </a:p>
        </p:txBody>
      </p:sp>
      <p:sp>
        <p:nvSpPr>
          <p:cNvPr id="13" name="Orientation 1"/>
          <p:cNvSpPr/>
          <p:nvPr/>
        </p:nvSpPr>
        <p:spPr>
          <a:xfrm>
            <a:off x="6035040" y="2560320"/>
            <a:ext cx="5623560" cy="795528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4" name="Icon circle"/>
          <p:cNvSpPr/>
          <p:nvPr/>
        </p:nvSpPr>
        <p:spPr>
          <a:xfrm>
            <a:off x="6172200" y="267919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3874" y="2810866"/>
            <a:ext cx="285293" cy="285293"/>
          </a:xfrm>
          <a:prstGeom prst="rect">
            <a:avLst/>
          </a:prstGeom>
        </p:spPr>
      </p:pic>
      <p:sp>
        <p:nvSpPr>
          <p:cNvPr id="16" name="Bilingual text"/>
          <p:cNvSpPr txBox="1"/>
          <p:nvPr/>
        </p:nvSpPr>
        <p:spPr>
          <a:xfrm>
            <a:off x="6858000" y="2578608"/>
            <a:ext cx="4709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Présentation des activités d’apprentissage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Presentation of learning activities</a:t>
            </a:r>
            <a:endParaRPr lang="en-US" sz="1500" dirty="0"/>
          </a:p>
        </p:txBody>
      </p:sp>
      <p:sp>
        <p:nvSpPr>
          <p:cNvPr id="17" name="Orientation 2"/>
          <p:cNvSpPr/>
          <p:nvPr/>
        </p:nvSpPr>
        <p:spPr>
          <a:xfrm>
            <a:off x="6035040" y="3447288"/>
            <a:ext cx="5623560" cy="795528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8" name="Icon circle"/>
          <p:cNvSpPr/>
          <p:nvPr/>
        </p:nvSpPr>
        <p:spPr>
          <a:xfrm>
            <a:off x="6172200" y="35661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9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3874" y="3697834"/>
            <a:ext cx="285293" cy="285293"/>
          </a:xfrm>
          <a:prstGeom prst="rect">
            <a:avLst/>
          </a:prstGeom>
        </p:spPr>
      </p:pic>
      <p:sp>
        <p:nvSpPr>
          <p:cNvPr id="20" name="Bilingual text"/>
          <p:cNvSpPr txBox="1"/>
          <p:nvPr/>
        </p:nvSpPr>
        <p:spPr>
          <a:xfrm>
            <a:off x="6858000" y="3465576"/>
            <a:ext cx="4709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Explication des périodes et méthodes d’évaluation par chaque enseignant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Explanation of evaluation periods and methods by each teacher</a:t>
            </a:r>
            <a:endParaRPr lang="en-US" sz="1500" dirty="0"/>
          </a:p>
        </p:txBody>
      </p:sp>
      <p:sp>
        <p:nvSpPr>
          <p:cNvPr id="21" name="Orientation 3"/>
          <p:cNvSpPr/>
          <p:nvPr/>
        </p:nvSpPr>
        <p:spPr>
          <a:xfrm>
            <a:off x="6035040" y="4334256"/>
            <a:ext cx="5623560" cy="795528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2" name="Icon circle"/>
          <p:cNvSpPr/>
          <p:nvPr/>
        </p:nvSpPr>
        <p:spPr>
          <a:xfrm>
            <a:off x="6172200" y="445312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3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3874" y="4584802"/>
            <a:ext cx="285293" cy="285293"/>
          </a:xfrm>
          <a:prstGeom prst="rect">
            <a:avLst/>
          </a:prstGeom>
        </p:spPr>
      </p:pic>
      <p:sp>
        <p:nvSpPr>
          <p:cNvPr id="24" name="Bilingual text"/>
          <p:cNvSpPr txBox="1"/>
          <p:nvPr/>
        </p:nvSpPr>
        <p:spPr>
          <a:xfrm>
            <a:off x="6858000" y="4352544"/>
            <a:ext cx="4709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Présentation du règlement intérieur, par M. Abdel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Presentation of school rules and regulations, by Mr Abdel</a:t>
            </a:r>
            <a:endParaRPr lang="en-US" sz="1500" dirty="0"/>
          </a:p>
        </p:txBody>
      </p:sp>
      <p:sp>
        <p:nvSpPr>
          <p:cNvPr id="25" name="Orientation 4"/>
          <p:cNvSpPr/>
          <p:nvPr/>
        </p:nvSpPr>
        <p:spPr>
          <a:xfrm>
            <a:off x="6035040" y="5221224"/>
            <a:ext cx="5623560" cy="795528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6" name="Icon circle"/>
          <p:cNvSpPr/>
          <p:nvPr/>
        </p:nvSpPr>
        <p:spPr>
          <a:xfrm>
            <a:off x="6172200" y="5340096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7" name="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3874" y="5471770"/>
            <a:ext cx="285293" cy="285293"/>
          </a:xfrm>
          <a:prstGeom prst="rect">
            <a:avLst/>
          </a:prstGeom>
        </p:spPr>
      </p:pic>
      <p:sp>
        <p:nvSpPr>
          <p:cNvPr id="28" name="Bilingual text"/>
          <p:cNvSpPr txBox="1"/>
          <p:nvPr/>
        </p:nvSpPr>
        <p:spPr>
          <a:xfrm>
            <a:off x="6858000" y="5239512"/>
            <a:ext cx="4709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Accent sur la ponctualité, le respect et la discipline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Emphasis on punctuality, respect and discipline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Résultats de la première séquence (UA 1)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Results of the first sequence — Class 1 to CM2, report cards of 13 October 2026</a:t>
            </a:r>
            <a:endParaRPr lang="en-US" sz="2000" dirty="0"/>
          </a:p>
        </p:txBody>
      </p:sp>
      <p:sp>
        <p:nvSpPr>
          <p:cNvPr id="5" name="Chiffre clé 1"/>
          <p:cNvSpPr/>
          <p:nvPr/>
        </p:nvSpPr>
        <p:spPr>
          <a:xfrm>
            <a:off x="548640" y="1691640"/>
            <a:ext cx="374904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Valeur"/>
          <p:cNvSpPr txBox="1"/>
          <p:nvPr/>
        </p:nvSpPr>
        <p:spPr>
          <a:xfrm>
            <a:off x="731520" y="1764792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24</a:t>
            </a:r>
            <a:endParaRPr lang="en-US" sz="3400" dirty="0"/>
          </a:p>
        </p:txBody>
      </p:sp>
      <p:sp>
        <p:nvSpPr>
          <p:cNvPr id="7" name="Libellé"/>
          <p:cNvSpPr txBox="1"/>
          <p:nvPr/>
        </p:nvSpPr>
        <p:spPr>
          <a:xfrm>
            <a:off x="731520" y="2423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élèves évalués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learners assessed</a:t>
            </a:r>
            <a:endParaRPr lang="en-US" sz="1600" dirty="0"/>
          </a:p>
        </p:txBody>
      </p:sp>
      <p:sp>
        <p:nvSpPr>
          <p:cNvPr id="8" name="Chiffre clé 2"/>
          <p:cNvSpPr/>
          <p:nvPr/>
        </p:nvSpPr>
        <p:spPr>
          <a:xfrm>
            <a:off x="548640" y="3172968"/>
            <a:ext cx="374904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9" name="Valeur"/>
          <p:cNvSpPr txBox="1"/>
          <p:nvPr/>
        </p:nvSpPr>
        <p:spPr>
          <a:xfrm>
            <a:off x="731520" y="324612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15.11 / 20</a:t>
            </a:r>
            <a:endParaRPr lang="en-US" sz="3400" dirty="0"/>
          </a:p>
        </p:txBody>
      </p:sp>
      <p:sp>
        <p:nvSpPr>
          <p:cNvPr id="10" name="Libellé"/>
          <p:cNvSpPr txBox="1"/>
          <p:nvPr/>
        </p:nvSpPr>
        <p:spPr>
          <a:xfrm>
            <a:off x="731520" y="3904488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moyenne générale de l’école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school general average</a:t>
            </a:r>
            <a:endParaRPr lang="en-US" sz="1600" dirty="0"/>
          </a:p>
        </p:txBody>
      </p:sp>
      <p:sp>
        <p:nvSpPr>
          <p:cNvPr id="11" name="Chiffre clé 3"/>
          <p:cNvSpPr/>
          <p:nvPr/>
        </p:nvSpPr>
        <p:spPr>
          <a:xfrm>
            <a:off x="548640" y="4654296"/>
            <a:ext cx="374904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2" name="Valeur"/>
          <p:cNvSpPr txBox="1"/>
          <p:nvPr/>
        </p:nvSpPr>
        <p:spPr>
          <a:xfrm>
            <a:off x="731520" y="4727448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22 sur 24</a:t>
            </a:r>
            <a:endParaRPr lang="en-US" sz="3400" dirty="0"/>
          </a:p>
        </p:txBody>
      </p:sp>
      <p:sp>
        <p:nvSpPr>
          <p:cNvPr id="13" name="Libellé"/>
          <p:cNvSpPr txBox="1"/>
          <p:nvPr/>
        </p:nvSpPr>
        <p:spPr>
          <a:xfrm>
            <a:off x="731520" y="5385816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avec une moyenne ≥ 10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learners with an average ≥ 10</a:t>
            </a:r>
            <a:endParaRPr lang="en-US" sz="1600" dirty="0"/>
          </a:p>
        </p:txBody>
      </p:sp>
      <p:sp>
        <p:nvSpPr>
          <p:cNvPr id="14" name="Titre graphique"/>
          <p:cNvSpPr txBox="1"/>
          <p:nvPr/>
        </p:nvSpPr>
        <p:spPr>
          <a:xfrm>
            <a:off x="4663440" y="16916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Moyenne de classe sur 20 / Class average out of 20</a:t>
            </a:r>
            <a:endParaRPr lang="en-US" sz="18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4663440" y="2103120"/>
          <a:ext cx="69951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Résultats par classe — UA 1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Results by class</a:t>
            </a:r>
            <a:endParaRPr lang="en-US" sz="2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1099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280160"/>
                <a:gridCol w="1280160"/>
                <a:gridCol w="1828800"/>
                <a:gridCol w="1280160"/>
                <a:gridCol w="1508760"/>
                <a:gridCol w="21945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Effectif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Évalués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Moyenne /20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Réussite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A+ / A / IP / NA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A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 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6/6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4 / 2 / 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 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5 / 2 / 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 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D21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0 / 0 / 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 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4/5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80 %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/ 1 / 0 / 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 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2/2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2 / 0 / 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 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16.53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1 / 0 / 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CM1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0 / 1 / 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CM2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0 / 1 / 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Note"/>
          <p:cNvSpPr txBox="1"/>
          <p:nvPr/>
        </p:nvSpPr>
        <p:spPr>
          <a:xfrm>
            <a:off x="548640" y="598932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« Évalués » = élèves ayant au moins une note. / “Assessed” = learners with at least one mark.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Comment lire ces résultats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How to read these results</a:t>
            </a:r>
            <a:endParaRPr lang="en-US" sz="2000" dirty="0"/>
          </a:p>
        </p:txBody>
      </p:sp>
      <p:sp>
        <p:nvSpPr>
          <p:cNvPr id="5" name="Lecture 1"/>
          <p:cNvSpPr/>
          <p:nvPr/>
        </p:nvSpPr>
        <p:spPr>
          <a:xfrm>
            <a:off x="548640" y="1691640"/>
            <a:ext cx="6766560" cy="841248"/>
          </a:xfrm>
          <a:prstGeom prst="roundRect">
            <a:avLst>
              <a:gd name="adj" fmla="val 130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Icon circle"/>
          <p:cNvSpPr/>
          <p:nvPr/>
        </p:nvSpPr>
        <p:spPr>
          <a:xfrm>
            <a:off x="685800" y="182880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863" y="1964863"/>
            <a:ext cx="294803" cy="294803"/>
          </a:xfrm>
          <a:prstGeom prst="rect">
            <a:avLst/>
          </a:prstGeom>
        </p:spPr>
      </p:pic>
      <p:sp>
        <p:nvSpPr>
          <p:cNvPr id="8" name="Bilingual text"/>
          <p:cNvSpPr txBox="1"/>
          <p:nvPr/>
        </p:nvSpPr>
        <p:spPr>
          <a:xfrm>
            <a:off x="1417320" y="1709928"/>
            <a:ext cx="5806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Moyennes calculées sur les compétences réellement évaluées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Averages are calculated on the competencies actually assessed — not all on the same total</a:t>
            </a:r>
            <a:endParaRPr lang="en-US" sz="1500" dirty="0"/>
          </a:p>
        </p:txBody>
      </p:sp>
      <p:sp>
        <p:nvSpPr>
          <p:cNvPr id="9" name="Lecture 2"/>
          <p:cNvSpPr/>
          <p:nvPr/>
        </p:nvSpPr>
        <p:spPr>
          <a:xfrm>
            <a:off x="548640" y="2651760"/>
            <a:ext cx="6766560" cy="841248"/>
          </a:xfrm>
          <a:prstGeom prst="roundRect">
            <a:avLst>
              <a:gd name="adj" fmla="val 130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0" name="Icon circle"/>
          <p:cNvSpPr/>
          <p:nvPr/>
        </p:nvSpPr>
        <p:spPr>
          <a:xfrm>
            <a:off x="685800" y="278892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863" y="2924983"/>
            <a:ext cx="294803" cy="294803"/>
          </a:xfrm>
          <a:prstGeom prst="rect">
            <a:avLst/>
          </a:prstGeom>
        </p:spPr>
      </p:pic>
      <p:sp>
        <p:nvSpPr>
          <p:cNvPr id="12" name="Bilingual text"/>
          <p:cNvSpPr txBox="1"/>
          <p:nvPr/>
        </p:nvSpPr>
        <p:spPr>
          <a:xfrm>
            <a:off x="1417320" y="2670048"/>
            <a:ext cx="5806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Class 3, Class 6 et CM1 : un seul élève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One learner only: the class average is that learner’s own average and has no statistical value</a:t>
            </a:r>
            <a:endParaRPr lang="en-US" sz="1500" dirty="0"/>
          </a:p>
        </p:txBody>
      </p:sp>
      <p:sp>
        <p:nvSpPr>
          <p:cNvPr id="13" name="Lecture 3"/>
          <p:cNvSpPr/>
          <p:nvPr/>
        </p:nvSpPr>
        <p:spPr>
          <a:xfrm>
            <a:off x="548640" y="3611880"/>
            <a:ext cx="6766560" cy="841248"/>
          </a:xfrm>
          <a:prstGeom prst="roundRect">
            <a:avLst>
              <a:gd name="adj" fmla="val 130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4" name="Icon circle"/>
          <p:cNvSpPr/>
          <p:nvPr/>
        </p:nvSpPr>
        <p:spPr>
          <a:xfrm>
            <a:off x="685800" y="374904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863" y="3885103"/>
            <a:ext cx="294803" cy="294803"/>
          </a:xfrm>
          <a:prstGeom prst="rect">
            <a:avLst/>
          </a:prstGeom>
        </p:spPr>
      </p:pic>
      <p:sp>
        <p:nvSpPr>
          <p:cNvPr id="16" name="Bilingual text"/>
          <p:cNvSpPr txBox="1"/>
          <p:nvPr/>
        </p:nvSpPr>
        <p:spPr>
          <a:xfrm>
            <a:off x="1417320" y="3630168"/>
            <a:ext cx="5806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CM2 : 2 élèves, 1 seul a des notes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CM2: 2 learners, only 1 has marks</a:t>
            </a:r>
            <a:endParaRPr lang="en-US" sz="1500" dirty="0"/>
          </a:p>
        </p:txBody>
      </p:sp>
      <p:sp>
        <p:nvSpPr>
          <p:cNvPr id="17" name="Lecture 4"/>
          <p:cNvSpPr/>
          <p:nvPr/>
        </p:nvSpPr>
        <p:spPr>
          <a:xfrm>
            <a:off x="548640" y="4572000"/>
            <a:ext cx="6766560" cy="841248"/>
          </a:xfrm>
          <a:prstGeom prst="roundRect">
            <a:avLst>
              <a:gd name="adj" fmla="val 130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8" name="Icon circle"/>
          <p:cNvSpPr/>
          <p:nvPr/>
        </p:nvSpPr>
        <p:spPr>
          <a:xfrm>
            <a:off x="685800" y="47091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9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863" y="4845223"/>
            <a:ext cx="294803" cy="294803"/>
          </a:xfrm>
          <a:prstGeom prst="rect">
            <a:avLst/>
          </a:prstGeom>
        </p:spPr>
      </p:pic>
      <p:sp>
        <p:nvSpPr>
          <p:cNvPr id="20" name="Bilingual text"/>
          <p:cNvSpPr txBox="1"/>
          <p:nvPr/>
        </p:nvSpPr>
        <p:spPr>
          <a:xfrm>
            <a:off x="1417320" y="4590288"/>
            <a:ext cx="5806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Class 1 et Class 5 : peu d’élèves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Few learners: handle ranks and averages with care</a:t>
            </a:r>
            <a:endParaRPr lang="en-US" sz="1500" dirty="0"/>
          </a:p>
        </p:txBody>
      </p:sp>
      <p:sp>
        <p:nvSpPr>
          <p:cNvPr id="21" name="À compléter"/>
          <p:cNvSpPr/>
          <p:nvPr/>
        </p:nvSpPr>
        <p:spPr>
          <a:xfrm>
            <a:off x="7680960" y="1691640"/>
            <a:ext cx="3977640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31750">
            <a:solidFill>
              <a:schemeClr val="accent2"/>
            </a:solidFill>
            <a:prstDash val="dash"/>
          </a:ln>
        </p:spPr>
      </p:sp>
      <p:sp>
        <p:nvSpPr>
          <p:cNvPr id="22" name="À compléter texte"/>
          <p:cNvSpPr txBox="1"/>
          <p:nvPr/>
        </p:nvSpPr>
        <p:spPr>
          <a:xfrm>
            <a:off x="7909560" y="1691640"/>
            <a:ext cx="3520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À compléter / To be completed</a:t>
            </a:r>
            <a:endParaRPr lang="en-US" sz="15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Légende des cotes (A+, A, IP, NA, ECA) à ajouter.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Key to the grades (A+, A, IP, NA, ECA) to be added.</a:t>
            </a:r>
            <a:endParaRPr lang="en-US" sz="1500" dirty="0"/>
          </a:p>
        </p:txBody>
      </p:sp>
      <p:sp>
        <p:nvSpPr>
          <p:cNvPr id="23" name="IMAGE À AJOUTER – photo ou illustration (optionnel)"/>
          <p:cNvSpPr/>
          <p:nvPr/>
        </p:nvSpPr>
        <p:spPr>
          <a:xfrm>
            <a:off x="7680960" y="3886200"/>
            <a:ext cx="397764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24" name="Icon imag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18320" y="4302252"/>
            <a:ext cx="502920" cy="502920"/>
          </a:xfrm>
          <a:prstGeom prst="rect">
            <a:avLst/>
          </a:prstGeom>
        </p:spPr>
      </p:pic>
      <p:sp>
        <p:nvSpPr>
          <p:cNvPr id="25" name="Texte emplacement image"/>
          <p:cNvSpPr txBox="1"/>
          <p:nvPr/>
        </p:nvSpPr>
        <p:spPr>
          <a:xfrm>
            <a:off x="7818120" y="4960620"/>
            <a:ext cx="3703320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photo ou illustration (optionnel)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Notre vision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Our vision</a:t>
            </a:r>
            <a:endParaRPr lang="en-US" sz="2000" dirty="0"/>
          </a:p>
        </p:txBody>
      </p:sp>
      <p:sp>
        <p:nvSpPr>
          <p:cNvPr id="5" name="À compléter"/>
          <p:cNvSpPr/>
          <p:nvPr/>
        </p:nvSpPr>
        <p:spPr>
          <a:xfrm>
            <a:off x="548640" y="1691640"/>
            <a:ext cx="6309360" cy="4389120"/>
          </a:xfrm>
          <a:prstGeom prst="roundRect">
            <a:avLst>
              <a:gd name="adj" fmla="val 2500"/>
            </a:avLst>
          </a:prstGeom>
          <a:solidFill>
            <a:schemeClr val="bg1"/>
          </a:solidFill>
          <a:ln w="31750">
            <a:solidFill>
              <a:schemeClr val="accent2"/>
            </a:solidFill>
            <a:prstDash val="dash"/>
          </a:ln>
        </p:spPr>
      </p:sp>
      <p:sp>
        <p:nvSpPr>
          <p:cNvPr id="6" name="À compléter texte"/>
          <p:cNvSpPr txBox="1"/>
          <p:nvPr/>
        </p:nvSpPr>
        <p:spPr>
          <a:xfrm>
            <a:off x="777240" y="1691640"/>
            <a:ext cx="58521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À compléter / To be completed</a:t>
            </a:r>
            <a:endParaRPr lang="en-US" sz="15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Énoncé de la vision de l’école à ajouter.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School vision statement to be added.</a:t>
            </a:r>
            <a:endParaRPr lang="en-US" sz="1500" dirty="0"/>
          </a:p>
        </p:txBody>
      </p:sp>
      <p:sp>
        <p:nvSpPr>
          <p:cNvPr id="7" name="IMAGE À AJOUTER – image illustrant la vision de l’école"/>
          <p:cNvSpPr/>
          <p:nvPr/>
        </p:nvSpPr>
        <p:spPr>
          <a:xfrm>
            <a:off x="7223760" y="1691640"/>
            <a:ext cx="4434840" cy="438912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8" name="Icon imag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3273552"/>
            <a:ext cx="502920" cy="502920"/>
          </a:xfrm>
          <a:prstGeom prst="rect">
            <a:avLst/>
          </a:prstGeom>
        </p:spPr>
      </p:pic>
      <p:sp>
        <p:nvSpPr>
          <p:cNvPr id="9" name="Texte emplacement image"/>
          <p:cNvSpPr txBox="1"/>
          <p:nvPr/>
        </p:nvSpPr>
        <p:spPr>
          <a:xfrm>
            <a:off x="7360920" y="3931920"/>
            <a:ext cx="4160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image illustrant la vision de l’école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Nos réalisations : l’apprentissage numérique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Our achievements: digitalised learning</a:t>
            </a:r>
            <a:endParaRPr lang="en-US" sz="2000" dirty="0"/>
          </a:p>
        </p:txBody>
      </p:sp>
      <p:sp>
        <p:nvSpPr>
          <p:cNvPr id="5" name="Digitalised learning"/>
          <p:cNvSpPr/>
          <p:nvPr/>
        </p:nvSpPr>
        <p:spPr>
          <a:xfrm>
            <a:off x="548640" y="1691640"/>
            <a:ext cx="1110996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Icon circle"/>
          <p:cNvSpPr/>
          <p:nvPr/>
        </p:nvSpPr>
        <p:spPr>
          <a:xfrm>
            <a:off x="777240" y="192024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2062886"/>
            <a:ext cx="309067" cy="309067"/>
          </a:xfrm>
          <a:prstGeom prst="rect">
            <a:avLst/>
          </a:prstGeom>
        </p:spPr>
      </p:pic>
      <p:sp>
        <p:nvSpPr>
          <p:cNvPr id="8" name="Bilingual text"/>
          <p:cNvSpPr txBox="1"/>
          <p:nvPr/>
        </p:nvSpPr>
        <p:spPr>
          <a:xfrm>
            <a:off x="1600200" y="1737360"/>
            <a:ext cx="9875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Introduction d’activités d’apprentissage numérisées</a:t>
            </a:r>
            <a:endParaRPr lang="en-US" sz="19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Introduction of digitalised learning activities</a:t>
            </a:r>
            <a:endParaRPr lang="en-US" sz="1900" dirty="0"/>
          </a:p>
        </p:txBody>
      </p:sp>
      <p:sp>
        <p:nvSpPr>
          <p:cNvPr id="9" name="IMAGE À AJOUTER – élèves en activité numérique"/>
          <p:cNvSpPr/>
          <p:nvPr/>
        </p:nvSpPr>
        <p:spPr>
          <a:xfrm>
            <a:off x="548640" y="3017520"/>
            <a:ext cx="3611880" cy="3063240"/>
          </a:xfrm>
          <a:prstGeom prst="roundRect">
            <a:avLst>
              <a:gd name="adj" fmla="val 3582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10" name="Icon imag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3936492"/>
            <a:ext cx="502920" cy="502920"/>
          </a:xfrm>
          <a:prstGeom prst="rect">
            <a:avLst/>
          </a:prstGeom>
        </p:spPr>
      </p:pic>
      <p:sp>
        <p:nvSpPr>
          <p:cNvPr id="11" name="Texte emplacement image"/>
          <p:cNvSpPr txBox="1"/>
          <p:nvPr/>
        </p:nvSpPr>
        <p:spPr>
          <a:xfrm>
            <a:off x="685800" y="4594860"/>
            <a:ext cx="3337560" cy="1440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élèves en activité numérique</a:t>
            </a:r>
            <a:endParaRPr lang="en-US" sz="1400" dirty="0"/>
          </a:p>
        </p:txBody>
      </p:sp>
      <p:sp>
        <p:nvSpPr>
          <p:cNvPr id="12" name="IMAGE À AJOUTER – salle ou équipement"/>
          <p:cNvSpPr/>
          <p:nvPr/>
        </p:nvSpPr>
        <p:spPr>
          <a:xfrm>
            <a:off x="4297680" y="3017520"/>
            <a:ext cx="3611880" cy="3063240"/>
          </a:xfrm>
          <a:prstGeom prst="roundRect">
            <a:avLst>
              <a:gd name="adj" fmla="val 3582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13" name="Icon imag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3936492"/>
            <a:ext cx="502920" cy="502920"/>
          </a:xfrm>
          <a:prstGeom prst="rect">
            <a:avLst/>
          </a:prstGeom>
        </p:spPr>
      </p:pic>
      <p:sp>
        <p:nvSpPr>
          <p:cNvPr id="14" name="Texte emplacement image"/>
          <p:cNvSpPr txBox="1"/>
          <p:nvPr/>
        </p:nvSpPr>
        <p:spPr>
          <a:xfrm>
            <a:off x="4434840" y="4594860"/>
            <a:ext cx="3337560" cy="1440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salle ou équipement</a:t>
            </a:r>
            <a:endParaRPr lang="en-US" sz="1400" dirty="0"/>
          </a:p>
        </p:txBody>
      </p:sp>
      <p:sp>
        <p:nvSpPr>
          <p:cNvPr id="15" name="IMAGE À AJOUTER – projet numérique"/>
          <p:cNvSpPr/>
          <p:nvPr/>
        </p:nvSpPr>
        <p:spPr>
          <a:xfrm>
            <a:off x="8046720" y="3017520"/>
            <a:ext cx="3611880" cy="3063240"/>
          </a:xfrm>
          <a:prstGeom prst="roundRect">
            <a:avLst>
              <a:gd name="adj" fmla="val 3582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16" name="Icon imag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0" y="3936492"/>
            <a:ext cx="502920" cy="502920"/>
          </a:xfrm>
          <a:prstGeom prst="rect">
            <a:avLst/>
          </a:prstGeom>
        </p:spPr>
      </p:pic>
      <p:sp>
        <p:nvSpPr>
          <p:cNvPr id="17" name="Texte emplacement image"/>
          <p:cNvSpPr txBox="1"/>
          <p:nvPr/>
        </p:nvSpPr>
        <p:spPr>
          <a:xfrm>
            <a:off x="8183880" y="4594860"/>
            <a:ext cx="3337560" cy="1440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projet numérique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Nos réalisations : l’apprentissage par projets (PBL)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Our achievements: Project-Based Learning</a:t>
            </a:r>
            <a:endParaRPr lang="en-US" sz="2000" dirty="0"/>
          </a:p>
        </p:txBody>
      </p:sp>
      <p:sp>
        <p:nvSpPr>
          <p:cNvPr id="5" name="PBL 1"/>
          <p:cNvSpPr/>
          <p:nvPr/>
        </p:nvSpPr>
        <p:spPr>
          <a:xfrm>
            <a:off x="548640" y="1691640"/>
            <a:ext cx="544068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Icon circle"/>
          <p:cNvSpPr/>
          <p:nvPr/>
        </p:nvSpPr>
        <p:spPr>
          <a:xfrm>
            <a:off x="731520" y="1911096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583" y="2047159"/>
            <a:ext cx="294803" cy="294803"/>
          </a:xfrm>
          <a:prstGeom prst="rect">
            <a:avLst/>
          </a:prstGeom>
        </p:spPr>
      </p:pic>
      <p:sp>
        <p:nvSpPr>
          <p:cNvPr id="8" name="Bilingual text"/>
          <p:cNvSpPr txBox="1"/>
          <p:nvPr/>
        </p:nvSpPr>
        <p:spPr>
          <a:xfrm>
            <a:off x="1508760" y="1719072"/>
            <a:ext cx="43891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Apprendre en faisant et en réfléchissant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Hands-on, minds-on learning approach</a:t>
            </a:r>
            <a:endParaRPr lang="en-US" sz="1600" dirty="0"/>
          </a:p>
        </p:txBody>
      </p:sp>
      <p:sp>
        <p:nvSpPr>
          <p:cNvPr id="9" name="PBL 2"/>
          <p:cNvSpPr/>
          <p:nvPr/>
        </p:nvSpPr>
        <p:spPr>
          <a:xfrm>
            <a:off x="6217920" y="1691640"/>
            <a:ext cx="544068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0" name="Icon circle"/>
          <p:cNvSpPr/>
          <p:nvPr/>
        </p:nvSpPr>
        <p:spPr>
          <a:xfrm>
            <a:off x="6400800" y="1911096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6863" y="2047159"/>
            <a:ext cx="294803" cy="294803"/>
          </a:xfrm>
          <a:prstGeom prst="rect">
            <a:avLst/>
          </a:prstGeom>
        </p:spPr>
      </p:pic>
      <p:sp>
        <p:nvSpPr>
          <p:cNvPr id="12" name="Bilingual text"/>
          <p:cNvSpPr txBox="1"/>
          <p:nvPr/>
        </p:nvSpPr>
        <p:spPr>
          <a:xfrm>
            <a:off x="7178040" y="1719072"/>
            <a:ext cx="43891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Projets mensuels présentés par les élèves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Monthly projects presented by learners</a:t>
            </a:r>
            <a:endParaRPr lang="en-US" sz="1600" dirty="0"/>
          </a:p>
        </p:txBody>
      </p:sp>
      <p:sp>
        <p:nvSpPr>
          <p:cNvPr id="13" name="Sous-titre exemples"/>
          <p:cNvSpPr txBox="1"/>
          <p:nvPr/>
        </p:nvSpPr>
        <p:spPr>
          <a:xfrm>
            <a:off x="548640" y="28803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Exemples de projets et d’activités / Examples of projects and activities</a:t>
            </a:r>
            <a:endParaRPr lang="en-US" sz="1800" dirty="0"/>
          </a:p>
        </p:txBody>
      </p:sp>
      <p:pic>
        <p:nvPicPr>
          <p:cNvPr id="14" name="Photo Bouquet de fleurs" descr="Bouquet de fleu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337560"/>
            <a:ext cx="2103120" cy="1691640"/>
          </a:xfrm>
          <a:prstGeom prst="rect">
            <a:avLst/>
          </a:prstGeom>
        </p:spPr>
      </p:pic>
      <p:sp>
        <p:nvSpPr>
          <p:cNvPr id="15" name="Légende"/>
          <p:cNvSpPr txBox="1"/>
          <p:nvPr/>
        </p:nvSpPr>
        <p:spPr>
          <a:xfrm>
            <a:off x="548640" y="50749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Bouquet de fleurs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Bouquet of flowers</a:t>
            </a:r>
            <a:endParaRPr lang="en-US" sz="1400" dirty="0"/>
          </a:p>
        </p:txBody>
      </p:sp>
      <p:pic>
        <p:nvPicPr>
          <p:cNvPr id="16" name="Photo Radio" descr="Radi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8920" y="3337560"/>
            <a:ext cx="2103120" cy="1691640"/>
          </a:xfrm>
          <a:prstGeom prst="rect">
            <a:avLst/>
          </a:prstGeom>
        </p:spPr>
      </p:pic>
      <p:sp>
        <p:nvSpPr>
          <p:cNvPr id="17" name="Légende"/>
          <p:cNvSpPr txBox="1"/>
          <p:nvPr/>
        </p:nvSpPr>
        <p:spPr>
          <a:xfrm>
            <a:off x="2788920" y="50749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Radio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Radio</a:t>
            </a:r>
            <a:endParaRPr lang="en-US" sz="1400" dirty="0"/>
          </a:p>
        </p:txBody>
      </p:sp>
      <p:pic>
        <p:nvPicPr>
          <p:cNvPr id="18" name="Photo Cycle de l’eau" descr="Cycle de l’eau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0" y="3337560"/>
            <a:ext cx="2103120" cy="1691640"/>
          </a:xfrm>
          <a:prstGeom prst="rect">
            <a:avLst/>
          </a:prstGeom>
        </p:spPr>
      </p:pic>
      <p:sp>
        <p:nvSpPr>
          <p:cNvPr id="19" name="Légende"/>
          <p:cNvSpPr txBox="1"/>
          <p:nvPr/>
        </p:nvSpPr>
        <p:spPr>
          <a:xfrm>
            <a:off x="5029200" y="50749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Cycle de l’eau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Water cycle</a:t>
            </a:r>
            <a:endParaRPr lang="en-US" sz="1400" dirty="0"/>
          </a:p>
        </p:txBody>
      </p:sp>
      <p:pic>
        <p:nvPicPr>
          <p:cNvPr id="20" name="Photo Jardin de fleurs" descr="Jardin de fleur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69480" y="3337560"/>
            <a:ext cx="2103120" cy="1691640"/>
          </a:xfrm>
          <a:prstGeom prst="rect">
            <a:avLst/>
          </a:prstGeom>
        </p:spPr>
      </p:pic>
      <p:sp>
        <p:nvSpPr>
          <p:cNvPr id="21" name="Légende"/>
          <p:cNvSpPr txBox="1"/>
          <p:nvPr/>
        </p:nvSpPr>
        <p:spPr>
          <a:xfrm>
            <a:off x="7269480" y="50749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Jardin de fleurs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Flower garden</a:t>
            </a:r>
            <a:endParaRPr lang="en-US" sz="1400" dirty="0"/>
          </a:p>
        </p:txBody>
      </p:sp>
      <p:pic>
        <p:nvPicPr>
          <p:cNvPr id="22" name="Photo Arrosage quotidien des plantes par les enfants" descr="Arrosage quotidien des plantes par les enfant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09760" y="3337560"/>
            <a:ext cx="2103120" cy="1691640"/>
          </a:xfrm>
          <a:prstGeom prst="rect">
            <a:avLst/>
          </a:prstGeom>
        </p:spPr>
      </p:pic>
      <p:sp>
        <p:nvSpPr>
          <p:cNvPr id="23" name="Légende"/>
          <p:cNvSpPr txBox="1"/>
          <p:nvPr/>
        </p:nvSpPr>
        <p:spPr>
          <a:xfrm>
            <a:off x="9509760" y="50749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Arrosage quotidien des plantes par les enfants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Daily watering of plants by children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Les projets mensuels en images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Monthly projects in pictures</a:t>
            </a:r>
            <a:endParaRPr lang="en-US" sz="2000" dirty="0"/>
          </a:p>
        </p:txBody>
      </p:sp>
      <p:pic>
        <p:nvPicPr>
          <p:cNvPr id="5" name="Photo Bouquet de fleurs — Class 2" descr="Bouquet de fleurs — Class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3611880" cy="1783080"/>
          </a:xfrm>
          <a:prstGeom prst="rect">
            <a:avLst/>
          </a:prstGeom>
        </p:spPr>
      </p:pic>
      <p:sp>
        <p:nvSpPr>
          <p:cNvPr id="6" name="Légende"/>
          <p:cNvSpPr txBox="1"/>
          <p:nvPr/>
        </p:nvSpPr>
        <p:spPr>
          <a:xfrm>
            <a:off x="548640" y="3456432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Bouquet de fleurs — Class 2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Bouquet of flowers — Class 2</a:t>
            </a:r>
            <a:endParaRPr lang="en-US" sz="1500" dirty="0"/>
          </a:p>
        </p:txBody>
      </p:sp>
      <p:pic>
        <p:nvPicPr>
          <p:cNvPr id="7" name="Photo Radio" descr="Radi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645920"/>
            <a:ext cx="3611880" cy="1783080"/>
          </a:xfrm>
          <a:prstGeom prst="rect">
            <a:avLst/>
          </a:prstGeom>
        </p:spPr>
      </p:pic>
      <p:sp>
        <p:nvSpPr>
          <p:cNvPr id="8" name="Légende"/>
          <p:cNvSpPr txBox="1"/>
          <p:nvPr/>
        </p:nvSpPr>
        <p:spPr>
          <a:xfrm>
            <a:off x="4297680" y="3456432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Radio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Radio</a:t>
            </a:r>
            <a:endParaRPr lang="en-US" sz="1500" dirty="0"/>
          </a:p>
        </p:txBody>
      </p:sp>
      <p:pic>
        <p:nvPicPr>
          <p:cNvPr id="9" name="Photo Cycle de l’eau" descr="Cycle de l’eau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645920"/>
            <a:ext cx="3611880" cy="1783080"/>
          </a:xfrm>
          <a:prstGeom prst="rect">
            <a:avLst/>
          </a:prstGeom>
        </p:spPr>
      </p:pic>
      <p:sp>
        <p:nvSpPr>
          <p:cNvPr id="10" name="Légende"/>
          <p:cNvSpPr txBox="1"/>
          <p:nvPr/>
        </p:nvSpPr>
        <p:spPr>
          <a:xfrm>
            <a:off x="8046720" y="3456432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Cycle de l’eau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Water cycle</a:t>
            </a:r>
            <a:endParaRPr lang="en-US" sz="1500" dirty="0"/>
          </a:p>
        </p:txBody>
      </p:sp>
      <p:pic>
        <p:nvPicPr>
          <p:cNvPr id="11" name="Photo Jardin de fleurs" descr="Jardin de fleur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977640"/>
            <a:ext cx="3611880" cy="1783080"/>
          </a:xfrm>
          <a:prstGeom prst="rect">
            <a:avLst/>
          </a:prstGeom>
        </p:spPr>
      </p:pic>
      <p:sp>
        <p:nvSpPr>
          <p:cNvPr id="12" name="Légende"/>
          <p:cNvSpPr txBox="1"/>
          <p:nvPr/>
        </p:nvSpPr>
        <p:spPr>
          <a:xfrm>
            <a:off x="548640" y="5788152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Jardin de fleurs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Flower garden</a:t>
            </a:r>
            <a:endParaRPr lang="en-US" sz="1500" dirty="0"/>
          </a:p>
        </p:txBody>
      </p:sp>
      <p:pic>
        <p:nvPicPr>
          <p:cNvPr id="13" name="Photo Arrosage quotidien des plantes" descr="Arrosage quotidien des plant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7680" y="3977640"/>
            <a:ext cx="3611880" cy="1783080"/>
          </a:xfrm>
          <a:prstGeom prst="rect">
            <a:avLst/>
          </a:prstGeom>
        </p:spPr>
      </p:pic>
      <p:sp>
        <p:nvSpPr>
          <p:cNvPr id="14" name="Légende"/>
          <p:cNvSpPr txBox="1"/>
          <p:nvPr/>
        </p:nvSpPr>
        <p:spPr>
          <a:xfrm>
            <a:off x="4297680" y="5788152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Arrosage quotidien des plantes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Daily watering of plants</a:t>
            </a:r>
            <a:endParaRPr lang="en-US" sz="1500" dirty="0"/>
          </a:p>
        </p:txBody>
      </p:sp>
      <p:pic>
        <p:nvPicPr>
          <p:cNvPr id="15" name="Photo Travaux manuels en classe" descr="Travaux manuels en class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20" y="3977640"/>
            <a:ext cx="3611880" cy="1783080"/>
          </a:xfrm>
          <a:prstGeom prst="rect">
            <a:avLst/>
          </a:prstGeom>
        </p:spPr>
      </p:pic>
      <p:sp>
        <p:nvSpPr>
          <p:cNvPr id="16" name="Légende"/>
          <p:cNvSpPr txBox="1"/>
          <p:nvPr/>
        </p:nvSpPr>
        <p:spPr>
          <a:xfrm>
            <a:off x="8046720" y="5788152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Travaux manuels en classe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Hands-on crafts in class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Activités extrascolaires : excursion / pique-nique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Extracurricular activities: excursion / picnic</a:t>
            </a:r>
            <a:endParaRPr lang="en-US" sz="2000" dirty="0"/>
          </a:p>
        </p:txBody>
      </p:sp>
      <p:sp>
        <p:nvSpPr>
          <p:cNvPr id="5" name="Excursion"/>
          <p:cNvSpPr/>
          <p:nvPr/>
        </p:nvSpPr>
        <p:spPr>
          <a:xfrm>
            <a:off x="548640" y="1691640"/>
            <a:ext cx="1110996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Icon circle"/>
          <p:cNvSpPr/>
          <p:nvPr/>
        </p:nvSpPr>
        <p:spPr>
          <a:xfrm>
            <a:off x="777240" y="192024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2062886"/>
            <a:ext cx="309067" cy="309067"/>
          </a:xfrm>
          <a:prstGeom prst="rect">
            <a:avLst/>
          </a:prstGeom>
        </p:spPr>
      </p:pic>
      <p:sp>
        <p:nvSpPr>
          <p:cNvPr id="8" name="Bilingual text"/>
          <p:cNvSpPr txBox="1"/>
          <p:nvPr/>
        </p:nvSpPr>
        <p:spPr>
          <a:xfrm>
            <a:off x="1600200" y="1737360"/>
            <a:ext cx="9875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Organisation d’une excursion / d’un pique-nique</a:t>
            </a:r>
            <a:endParaRPr lang="en-US" sz="19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Organisation of an excursion / picnic</a:t>
            </a:r>
            <a:endParaRPr lang="en-US" sz="1900" dirty="0"/>
          </a:p>
        </p:txBody>
      </p:sp>
      <p:pic>
        <p:nvPicPr>
          <p:cNvPr id="9" name="Photo pique-nique 1" descr="Les enfants et les enseignants au pique-nique, Village Madib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017520"/>
            <a:ext cx="2103120" cy="2807208"/>
          </a:xfrm>
          <a:prstGeom prst="rect">
            <a:avLst/>
          </a:prstGeom>
        </p:spPr>
      </p:pic>
      <p:pic>
        <p:nvPicPr>
          <p:cNvPr id="10" name="Photo pique-nique 2" descr="Les enfants et les enseignants au pique-nique, Village Madib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8064" y="3017520"/>
            <a:ext cx="2103120" cy="2807208"/>
          </a:xfrm>
          <a:prstGeom prst="rect">
            <a:avLst/>
          </a:prstGeom>
        </p:spPr>
      </p:pic>
      <p:pic>
        <p:nvPicPr>
          <p:cNvPr id="11" name="Photo pique-nique 3" descr="Les enfants et les enseignants au pique-nique, Village Madib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7488" y="3017520"/>
            <a:ext cx="2103120" cy="2807208"/>
          </a:xfrm>
          <a:prstGeom prst="rect">
            <a:avLst/>
          </a:prstGeom>
        </p:spPr>
      </p:pic>
      <p:pic>
        <p:nvPicPr>
          <p:cNvPr id="12" name="Photo pique-nique 4" descr="Les enfants et les enseignants au pique-nique, Village Madiba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96912" y="3017520"/>
            <a:ext cx="2103120" cy="2807208"/>
          </a:xfrm>
          <a:prstGeom prst="rect">
            <a:avLst/>
          </a:prstGeom>
        </p:spPr>
      </p:pic>
      <p:pic>
        <p:nvPicPr>
          <p:cNvPr id="13" name="Photo pique-nique 5" descr="Les enfants et les enseignants au pique-nique, Village Madiba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46336" y="3017520"/>
            <a:ext cx="2103120" cy="2807208"/>
          </a:xfrm>
          <a:prstGeom prst="rect">
            <a:avLst/>
          </a:prstGeom>
        </p:spPr>
      </p:pic>
      <p:sp>
        <p:nvSpPr>
          <p:cNvPr id="14" name="Légende"/>
          <p:cNvSpPr txBox="1"/>
          <p:nvPr/>
        </p:nvSpPr>
        <p:spPr>
          <a:xfrm>
            <a:off x="548640" y="594360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Site de pique-nique, Village Madiba / Picnic site, Village Madiba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Clubs et activités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Presentation of each club by the experts</a:t>
            </a:r>
            <a:endParaRPr lang="en-US" sz="2000" dirty="0"/>
          </a:p>
        </p:txBody>
      </p:sp>
      <p:sp>
        <p:nvSpPr>
          <p:cNvPr id="5" name="Club 1"/>
          <p:cNvSpPr/>
          <p:nvPr/>
        </p:nvSpPr>
        <p:spPr>
          <a:xfrm>
            <a:off x="548640" y="1691640"/>
            <a:ext cx="3611880" cy="438912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Numéro club"/>
          <p:cNvSpPr txBox="1"/>
          <p:nvPr/>
        </p:nvSpPr>
        <p:spPr>
          <a:xfrm>
            <a:off x="777240" y="182880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Club 1</a:t>
            </a:r>
            <a:endParaRPr lang="en-US" sz="1600" dirty="0"/>
          </a:p>
        </p:txBody>
      </p:sp>
      <p:sp>
        <p:nvSpPr>
          <p:cNvPr id="7" name="IMAGE À AJOUTER – image du club 1"/>
          <p:cNvSpPr/>
          <p:nvPr/>
        </p:nvSpPr>
        <p:spPr>
          <a:xfrm>
            <a:off x="731520" y="2286000"/>
            <a:ext cx="3246120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8" name="Icon imag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3120" y="2884932"/>
            <a:ext cx="502920" cy="502920"/>
          </a:xfrm>
          <a:prstGeom prst="rect">
            <a:avLst/>
          </a:prstGeom>
        </p:spPr>
      </p:pic>
      <p:sp>
        <p:nvSpPr>
          <p:cNvPr id="9" name="Texte emplacement image"/>
          <p:cNvSpPr txBox="1"/>
          <p:nvPr/>
        </p:nvSpPr>
        <p:spPr>
          <a:xfrm>
            <a:off x="868680" y="3543300"/>
            <a:ext cx="2971800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image du club 1</a:t>
            </a:r>
            <a:endParaRPr lang="en-US" sz="1400" dirty="0"/>
          </a:p>
        </p:txBody>
      </p:sp>
      <p:sp>
        <p:nvSpPr>
          <p:cNvPr id="10" name="Nom club"/>
          <p:cNvSpPr txBox="1"/>
          <p:nvPr/>
        </p:nvSpPr>
        <p:spPr>
          <a:xfrm>
            <a:off x="777240" y="484632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Media</a:t>
            </a:r>
            <a:endParaRPr lang="en-US" sz="19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Club Médias</a:t>
            </a:r>
            <a:endParaRPr lang="en-US" sz="1900" dirty="0"/>
          </a:p>
        </p:txBody>
      </p:sp>
      <p:sp>
        <p:nvSpPr>
          <p:cNvPr id="11" name="Club 2"/>
          <p:cNvSpPr/>
          <p:nvPr/>
        </p:nvSpPr>
        <p:spPr>
          <a:xfrm>
            <a:off x="4297680" y="1691640"/>
            <a:ext cx="3611880" cy="438912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2" name="Numéro club"/>
          <p:cNvSpPr txBox="1"/>
          <p:nvPr/>
        </p:nvSpPr>
        <p:spPr>
          <a:xfrm>
            <a:off x="4526280" y="182880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Club 2</a:t>
            </a:r>
            <a:endParaRPr lang="en-US" sz="1600" dirty="0"/>
          </a:p>
        </p:txBody>
      </p:sp>
      <p:sp>
        <p:nvSpPr>
          <p:cNvPr id="13" name="IMAGE À AJOUTER – image du club 2"/>
          <p:cNvSpPr/>
          <p:nvPr/>
        </p:nvSpPr>
        <p:spPr>
          <a:xfrm>
            <a:off x="4480560" y="2286000"/>
            <a:ext cx="3246120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14" name="Icon imag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884932"/>
            <a:ext cx="502920" cy="502920"/>
          </a:xfrm>
          <a:prstGeom prst="rect">
            <a:avLst/>
          </a:prstGeom>
        </p:spPr>
      </p:pic>
      <p:sp>
        <p:nvSpPr>
          <p:cNvPr id="15" name="Texte emplacement image"/>
          <p:cNvSpPr txBox="1"/>
          <p:nvPr/>
        </p:nvSpPr>
        <p:spPr>
          <a:xfrm>
            <a:off x="4617720" y="3543300"/>
            <a:ext cx="2971800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image du club 2</a:t>
            </a:r>
            <a:endParaRPr lang="en-US" sz="1400" dirty="0"/>
          </a:p>
        </p:txBody>
      </p:sp>
      <p:sp>
        <p:nvSpPr>
          <p:cNvPr id="16" name="Nom club"/>
          <p:cNvSpPr txBox="1"/>
          <p:nvPr/>
        </p:nvSpPr>
        <p:spPr>
          <a:xfrm>
            <a:off x="4526280" y="484632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Information Technology (IT)</a:t>
            </a:r>
            <a:endParaRPr lang="en-US" sz="19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Club Informatique</a:t>
            </a:r>
            <a:endParaRPr lang="en-US" sz="1900" dirty="0"/>
          </a:p>
        </p:txBody>
      </p:sp>
      <p:sp>
        <p:nvSpPr>
          <p:cNvPr id="17" name="Club 3"/>
          <p:cNvSpPr/>
          <p:nvPr/>
        </p:nvSpPr>
        <p:spPr>
          <a:xfrm>
            <a:off x="8046720" y="1691640"/>
            <a:ext cx="3611880" cy="438912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8" name="Numéro club"/>
          <p:cNvSpPr txBox="1"/>
          <p:nvPr/>
        </p:nvSpPr>
        <p:spPr>
          <a:xfrm>
            <a:off x="8275320" y="182880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Club 3</a:t>
            </a:r>
            <a:endParaRPr lang="en-US" sz="1600" dirty="0"/>
          </a:p>
        </p:txBody>
      </p:sp>
      <p:sp>
        <p:nvSpPr>
          <p:cNvPr id="19" name="IMAGE À AJOUTER – image du club 3"/>
          <p:cNvSpPr/>
          <p:nvPr/>
        </p:nvSpPr>
        <p:spPr>
          <a:xfrm>
            <a:off x="8229600" y="2286000"/>
            <a:ext cx="3246120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20" name="Icon imag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0" y="2884932"/>
            <a:ext cx="502920" cy="502920"/>
          </a:xfrm>
          <a:prstGeom prst="rect">
            <a:avLst/>
          </a:prstGeom>
        </p:spPr>
      </p:pic>
      <p:sp>
        <p:nvSpPr>
          <p:cNvPr id="21" name="Texte emplacement image"/>
          <p:cNvSpPr txBox="1"/>
          <p:nvPr/>
        </p:nvSpPr>
        <p:spPr>
          <a:xfrm>
            <a:off x="8366760" y="3543300"/>
            <a:ext cx="2971800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image du club 3</a:t>
            </a:r>
            <a:endParaRPr lang="en-US" sz="1400" dirty="0"/>
          </a:p>
        </p:txBody>
      </p:sp>
      <p:sp>
        <p:nvSpPr>
          <p:cNvPr id="22" name="Nom club"/>
          <p:cNvSpPr txBox="1"/>
          <p:nvPr/>
        </p:nvSpPr>
        <p:spPr>
          <a:xfrm>
            <a:off x="8275320" y="484632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À préciser / To be specified</a:t>
            </a:r>
            <a:endParaRPr lang="en-US" sz="1900" dirty="0"/>
          </a:p>
          <a:p>
            <a:pPr indent="0" marL="0">
              <a:buNone/>
            </a:pP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Club 1 : Media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Presented by the expert</a:t>
            </a:r>
            <a:endParaRPr lang="en-US" sz="2000" dirty="0"/>
          </a:p>
        </p:txBody>
      </p:sp>
      <p:sp>
        <p:nvSpPr>
          <p:cNvPr id="5" name="IMAGE À AJOUTER – image du Media Club"/>
          <p:cNvSpPr/>
          <p:nvPr/>
        </p:nvSpPr>
        <p:spPr>
          <a:xfrm>
            <a:off x="548640" y="1691640"/>
            <a:ext cx="5486400" cy="308610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6" name="Icon imag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40380" y="2622042"/>
            <a:ext cx="502920" cy="502920"/>
          </a:xfrm>
          <a:prstGeom prst="rect">
            <a:avLst/>
          </a:prstGeom>
        </p:spPr>
      </p:pic>
      <p:sp>
        <p:nvSpPr>
          <p:cNvPr id="7" name="Texte emplacement image"/>
          <p:cNvSpPr txBox="1"/>
          <p:nvPr/>
        </p:nvSpPr>
        <p:spPr>
          <a:xfrm>
            <a:off x="685800" y="3280410"/>
            <a:ext cx="521208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image du Media Club</a:t>
            </a:r>
            <a:endParaRPr lang="en-US" sz="1400" dirty="0"/>
          </a:p>
        </p:txBody>
      </p:sp>
      <p:sp>
        <p:nvSpPr>
          <p:cNvPr id="8" name="Callout"/>
          <p:cNvSpPr/>
          <p:nvPr/>
        </p:nvSpPr>
        <p:spPr>
          <a:xfrm>
            <a:off x="548640" y="4983480"/>
            <a:ext cx="5486400" cy="9144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Callout text"/>
          <p:cNvSpPr txBox="1"/>
          <p:nvPr/>
        </p:nvSpPr>
        <p:spPr>
          <a:xfrm>
            <a:off x="777240" y="49834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Informer · Parler · Photographier · Filmer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Inform · Speak · Photograph · Film</a:t>
            </a:r>
            <a:endParaRPr lang="en-US" sz="1700" dirty="0"/>
          </a:p>
        </p:txBody>
      </p:sp>
      <p:sp>
        <p:nvSpPr>
          <p:cNvPr id="10" name="Activité 1"/>
          <p:cNvSpPr/>
          <p:nvPr/>
        </p:nvSpPr>
        <p:spPr>
          <a:xfrm>
            <a:off x="6355080" y="1691640"/>
            <a:ext cx="5303520" cy="640080"/>
          </a:xfrm>
          <a:prstGeom prst="roundRect">
            <a:avLst>
              <a:gd name="adj" fmla="val 1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1" name="Icon circle"/>
          <p:cNvSpPr/>
          <p:nvPr/>
        </p:nvSpPr>
        <p:spPr>
          <a:xfrm>
            <a:off x="6473952" y="1755648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6847" y="1878543"/>
            <a:ext cx="266273" cy="266273"/>
          </a:xfrm>
          <a:prstGeom prst="rect">
            <a:avLst/>
          </a:prstGeom>
        </p:spPr>
      </p:pic>
      <p:sp>
        <p:nvSpPr>
          <p:cNvPr id="13" name="Bilingual text"/>
          <p:cNvSpPr txBox="1"/>
          <p:nvPr/>
        </p:nvSpPr>
        <p:spPr>
          <a:xfrm>
            <a:off x="7132320" y="1700784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Photographie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Photography</a:t>
            </a:r>
            <a:endParaRPr lang="en-US" sz="1600" dirty="0"/>
          </a:p>
        </p:txBody>
      </p:sp>
      <p:sp>
        <p:nvSpPr>
          <p:cNvPr id="14" name="Activité 2"/>
          <p:cNvSpPr/>
          <p:nvPr/>
        </p:nvSpPr>
        <p:spPr>
          <a:xfrm>
            <a:off x="6355080" y="2423160"/>
            <a:ext cx="5303520" cy="640080"/>
          </a:xfrm>
          <a:prstGeom prst="roundRect">
            <a:avLst>
              <a:gd name="adj" fmla="val 1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5" name="Icon circle"/>
          <p:cNvSpPr/>
          <p:nvPr/>
        </p:nvSpPr>
        <p:spPr>
          <a:xfrm>
            <a:off x="6473952" y="2487168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6847" y="2610063"/>
            <a:ext cx="266273" cy="266273"/>
          </a:xfrm>
          <a:prstGeom prst="rect">
            <a:avLst/>
          </a:prstGeom>
        </p:spPr>
      </p:pic>
      <p:sp>
        <p:nvSpPr>
          <p:cNvPr id="17" name="Bilingual text"/>
          <p:cNvSpPr txBox="1"/>
          <p:nvPr/>
        </p:nvSpPr>
        <p:spPr>
          <a:xfrm>
            <a:off x="7132320" y="2432304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Vidéographie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Videography</a:t>
            </a:r>
            <a:endParaRPr lang="en-US" sz="1600" dirty="0"/>
          </a:p>
        </p:txBody>
      </p:sp>
      <p:sp>
        <p:nvSpPr>
          <p:cNvPr id="18" name="Activité 3"/>
          <p:cNvSpPr/>
          <p:nvPr/>
        </p:nvSpPr>
        <p:spPr>
          <a:xfrm>
            <a:off x="6355080" y="3154680"/>
            <a:ext cx="5303520" cy="640080"/>
          </a:xfrm>
          <a:prstGeom prst="roundRect">
            <a:avLst>
              <a:gd name="adj" fmla="val 1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9" name="Icon circle"/>
          <p:cNvSpPr/>
          <p:nvPr/>
        </p:nvSpPr>
        <p:spPr>
          <a:xfrm>
            <a:off x="6473952" y="3218688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6847" y="3341583"/>
            <a:ext cx="266273" cy="266273"/>
          </a:xfrm>
          <a:prstGeom prst="rect">
            <a:avLst/>
          </a:prstGeom>
        </p:spPr>
      </p:pic>
      <p:sp>
        <p:nvSpPr>
          <p:cNvPr id="21" name="Bilingual text"/>
          <p:cNvSpPr txBox="1"/>
          <p:nvPr/>
        </p:nvSpPr>
        <p:spPr>
          <a:xfrm>
            <a:off x="7132320" y="3163824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Journalisme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Journalism</a:t>
            </a:r>
            <a:endParaRPr lang="en-US" sz="1600" dirty="0"/>
          </a:p>
        </p:txBody>
      </p:sp>
      <p:sp>
        <p:nvSpPr>
          <p:cNvPr id="22" name="Badge free"/>
          <p:cNvSpPr txBox="1"/>
          <p:nvPr/>
        </p:nvSpPr>
        <p:spPr>
          <a:xfrm>
            <a:off x="10058400" y="3282696"/>
            <a:ext cx="1508760" cy="384048"/>
          </a:xfrm>
          <a:prstGeom prst="roundRect">
            <a:avLst>
              <a:gd name="adj" fmla="val 4761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GRATUIT / FREE</a:t>
            </a:r>
            <a:endParaRPr lang="en-US" sz="1200" dirty="0"/>
          </a:p>
        </p:txBody>
      </p:sp>
      <p:sp>
        <p:nvSpPr>
          <p:cNvPr id="23" name="Activité 4"/>
          <p:cNvSpPr/>
          <p:nvPr/>
        </p:nvSpPr>
        <p:spPr>
          <a:xfrm>
            <a:off x="6355080" y="3886200"/>
            <a:ext cx="5303520" cy="640080"/>
          </a:xfrm>
          <a:prstGeom prst="roundRect">
            <a:avLst>
              <a:gd name="adj" fmla="val 1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4" name="Icon circle"/>
          <p:cNvSpPr/>
          <p:nvPr/>
        </p:nvSpPr>
        <p:spPr>
          <a:xfrm>
            <a:off x="6473952" y="3950208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6847" y="4073103"/>
            <a:ext cx="266273" cy="266273"/>
          </a:xfrm>
          <a:prstGeom prst="rect">
            <a:avLst/>
          </a:prstGeom>
        </p:spPr>
      </p:pic>
      <p:sp>
        <p:nvSpPr>
          <p:cNvPr id="26" name="Bilingual text"/>
          <p:cNvSpPr txBox="1"/>
          <p:nvPr/>
        </p:nvSpPr>
        <p:spPr>
          <a:xfrm>
            <a:off x="7132320" y="3895344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Journalisme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Journalism</a:t>
            </a:r>
            <a:endParaRPr lang="en-US" sz="1600" dirty="0"/>
          </a:p>
        </p:txBody>
      </p:sp>
      <p:sp>
        <p:nvSpPr>
          <p:cNvPr id="27" name="Activité 5"/>
          <p:cNvSpPr/>
          <p:nvPr/>
        </p:nvSpPr>
        <p:spPr>
          <a:xfrm>
            <a:off x="6355080" y="4617720"/>
            <a:ext cx="5303520" cy="640080"/>
          </a:xfrm>
          <a:prstGeom prst="roundRect">
            <a:avLst>
              <a:gd name="adj" fmla="val 1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8" name="Icon circle"/>
          <p:cNvSpPr/>
          <p:nvPr/>
        </p:nvSpPr>
        <p:spPr>
          <a:xfrm>
            <a:off x="6473952" y="4681728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9" name="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6847" y="4804623"/>
            <a:ext cx="266273" cy="266273"/>
          </a:xfrm>
          <a:prstGeom prst="rect">
            <a:avLst/>
          </a:prstGeom>
        </p:spPr>
      </p:pic>
      <p:sp>
        <p:nvSpPr>
          <p:cNvPr id="30" name="Bilingual text"/>
          <p:cNvSpPr txBox="1"/>
          <p:nvPr/>
        </p:nvSpPr>
        <p:spPr>
          <a:xfrm>
            <a:off x="7132320" y="4626864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Prise de parole en public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Public speaking</a:t>
            </a:r>
            <a:endParaRPr lang="en-US" sz="1600" dirty="0"/>
          </a:p>
        </p:txBody>
      </p:sp>
      <p:sp>
        <p:nvSpPr>
          <p:cNvPr id="31" name="Activité 6"/>
          <p:cNvSpPr/>
          <p:nvPr/>
        </p:nvSpPr>
        <p:spPr>
          <a:xfrm>
            <a:off x="6355080" y="5349240"/>
            <a:ext cx="5303520" cy="640080"/>
          </a:xfrm>
          <a:prstGeom prst="roundRect">
            <a:avLst>
              <a:gd name="adj" fmla="val 1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32" name="Icon circle"/>
          <p:cNvSpPr/>
          <p:nvPr/>
        </p:nvSpPr>
        <p:spPr>
          <a:xfrm>
            <a:off x="6473952" y="5413248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3" name="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96847" y="5536143"/>
            <a:ext cx="266273" cy="266273"/>
          </a:xfrm>
          <a:prstGeom prst="rect">
            <a:avLst/>
          </a:prstGeom>
        </p:spPr>
      </p:pic>
      <p:sp>
        <p:nvSpPr>
          <p:cNvPr id="34" name="Bilingual text"/>
          <p:cNvSpPr txBox="1"/>
          <p:nvPr/>
        </p:nvSpPr>
        <p:spPr>
          <a:xfrm>
            <a:off x="7132320" y="5358384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Art dramatique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Theatre acting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Club 2 : Information Technology (IT)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Presented by the expert</a:t>
            </a:r>
            <a:endParaRPr lang="en-US" sz="2000" dirty="0"/>
          </a:p>
        </p:txBody>
      </p:sp>
      <p:sp>
        <p:nvSpPr>
          <p:cNvPr id="5" name="IMAGE À AJOUTER – image de l’IT Club"/>
          <p:cNvSpPr/>
          <p:nvPr/>
        </p:nvSpPr>
        <p:spPr>
          <a:xfrm>
            <a:off x="548640" y="1691640"/>
            <a:ext cx="5486400" cy="308610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6" name="Icon imag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40380" y="2622042"/>
            <a:ext cx="502920" cy="502920"/>
          </a:xfrm>
          <a:prstGeom prst="rect">
            <a:avLst/>
          </a:prstGeom>
        </p:spPr>
      </p:pic>
      <p:sp>
        <p:nvSpPr>
          <p:cNvPr id="7" name="Texte emplacement image"/>
          <p:cNvSpPr txBox="1"/>
          <p:nvPr/>
        </p:nvSpPr>
        <p:spPr>
          <a:xfrm>
            <a:off x="685800" y="3280410"/>
            <a:ext cx="521208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image de l’IT Club</a:t>
            </a:r>
            <a:endParaRPr lang="en-US" sz="1400" dirty="0"/>
          </a:p>
        </p:txBody>
      </p:sp>
      <p:sp>
        <p:nvSpPr>
          <p:cNvPr id="8" name="Callout"/>
          <p:cNvSpPr/>
          <p:nvPr/>
        </p:nvSpPr>
        <p:spPr>
          <a:xfrm>
            <a:off x="548640" y="4983480"/>
            <a:ext cx="5486400" cy="9144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Callout text"/>
          <p:cNvSpPr txBox="1"/>
          <p:nvPr/>
        </p:nvSpPr>
        <p:spPr>
          <a:xfrm>
            <a:off x="777240" y="49834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Logique · Créativité · Culture numérique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Logic · Creativity · Digital literacy</a:t>
            </a:r>
            <a:endParaRPr lang="en-US" sz="1700" dirty="0"/>
          </a:p>
        </p:txBody>
      </p:sp>
      <p:sp>
        <p:nvSpPr>
          <p:cNvPr id="10" name="Introduction IT"/>
          <p:cNvSpPr/>
          <p:nvPr/>
        </p:nvSpPr>
        <p:spPr>
          <a:xfrm>
            <a:off x="6355080" y="1691640"/>
            <a:ext cx="530352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1" name="Icon circle"/>
          <p:cNvSpPr/>
          <p:nvPr/>
        </p:nvSpPr>
        <p:spPr>
          <a:xfrm>
            <a:off x="6537960" y="201168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0606" y="2154326"/>
            <a:ext cx="309067" cy="309067"/>
          </a:xfrm>
          <a:prstGeom prst="rect">
            <a:avLst/>
          </a:prstGeom>
        </p:spPr>
      </p:pic>
      <p:sp>
        <p:nvSpPr>
          <p:cNvPr id="13" name="Bilingual text"/>
          <p:cNvSpPr txBox="1"/>
          <p:nvPr/>
        </p:nvSpPr>
        <p:spPr>
          <a:xfrm>
            <a:off x="7315200" y="1737360"/>
            <a:ext cx="4251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Introduction aux activités informatiques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Introduction to IT activities</a:t>
            </a:r>
            <a:endParaRPr lang="en-US" sz="1800" dirty="0"/>
          </a:p>
        </p:txBody>
      </p:sp>
      <p:sp>
        <p:nvSpPr>
          <p:cNvPr id="14" name="À compléter"/>
          <p:cNvSpPr/>
          <p:nvPr/>
        </p:nvSpPr>
        <p:spPr>
          <a:xfrm>
            <a:off x="6355080" y="3154680"/>
            <a:ext cx="5303520" cy="2926080"/>
          </a:xfrm>
          <a:prstGeom prst="roundRect">
            <a:avLst>
              <a:gd name="adj" fmla="val 3750"/>
            </a:avLst>
          </a:prstGeom>
          <a:solidFill>
            <a:schemeClr val="bg1"/>
          </a:solidFill>
          <a:ln w="31750">
            <a:solidFill>
              <a:schemeClr val="accent2"/>
            </a:solidFill>
            <a:prstDash val="dash"/>
          </a:ln>
        </p:spPr>
      </p:sp>
      <p:sp>
        <p:nvSpPr>
          <p:cNvPr id="15" name="À compléter texte"/>
          <p:cNvSpPr txBox="1"/>
          <p:nvPr/>
        </p:nvSpPr>
        <p:spPr>
          <a:xfrm>
            <a:off x="6583680" y="3154680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À compléter / To be completed</a:t>
            </a:r>
            <a:endParaRPr lang="en-US" sz="15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Activités détaillées par l’expert à ajouter.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Activities to be detailed by the expert.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Club 3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To be specified</a:t>
            </a:r>
            <a:endParaRPr lang="en-US" sz="2000" dirty="0"/>
          </a:p>
        </p:txBody>
      </p:sp>
      <p:sp>
        <p:nvSpPr>
          <p:cNvPr id="5" name="IMAGE À AJOUTER – image du club 3"/>
          <p:cNvSpPr/>
          <p:nvPr/>
        </p:nvSpPr>
        <p:spPr>
          <a:xfrm>
            <a:off x="548640" y="1691640"/>
            <a:ext cx="5486400" cy="308610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6" name="Icon imag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40380" y="2622042"/>
            <a:ext cx="502920" cy="502920"/>
          </a:xfrm>
          <a:prstGeom prst="rect">
            <a:avLst/>
          </a:prstGeom>
        </p:spPr>
      </p:pic>
      <p:sp>
        <p:nvSpPr>
          <p:cNvPr id="7" name="Texte emplacement image"/>
          <p:cNvSpPr txBox="1"/>
          <p:nvPr/>
        </p:nvSpPr>
        <p:spPr>
          <a:xfrm>
            <a:off x="685800" y="3280410"/>
            <a:ext cx="521208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image du club 3</a:t>
            </a:r>
            <a:endParaRPr lang="en-US" sz="1400" dirty="0"/>
          </a:p>
        </p:txBody>
      </p:sp>
      <p:sp>
        <p:nvSpPr>
          <p:cNvPr id="8" name="À compléter"/>
          <p:cNvSpPr/>
          <p:nvPr/>
        </p:nvSpPr>
        <p:spPr>
          <a:xfrm>
            <a:off x="6355080" y="1691640"/>
            <a:ext cx="5303520" cy="4206240"/>
          </a:xfrm>
          <a:prstGeom prst="roundRect">
            <a:avLst>
              <a:gd name="adj" fmla="val 2609"/>
            </a:avLst>
          </a:prstGeom>
          <a:solidFill>
            <a:schemeClr val="bg1"/>
          </a:solidFill>
          <a:ln w="31750">
            <a:solidFill>
              <a:schemeClr val="accent2"/>
            </a:solidFill>
            <a:prstDash val="dash"/>
          </a:ln>
        </p:spPr>
      </p:sp>
      <p:sp>
        <p:nvSpPr>
          <p:cNvPr id="9" name="À compléter texte"/>
          <p:cNvSpPr txBox="1"/>
          <p:nvPr/>
        </p:nvSpPr>
        <p:spPr>
          <a:xfrm>
            <a:off x="6583680" y="1691640"/>
            <a:ext cx="48463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À compléter / To be completed</a:t>
            </a:r>
            <a:endParaRPr lang="en-US" sz="15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Nom du club et activités à ajouter.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Club name and activities to be added.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ogo card"/>
          <p:cNvSpPr/>
          <p:nvPr/>
        </p:nvSpPr>
        <p:spPr>
          <a:xfrm>
            <a:off x="54864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4" name="Logo" descr="Logo Bright Continent Bilingual Schoo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530352"/>
            <a:ext cx="950976" cy="950976"/>
          </a:xfrm>
          <a:prstGeom prst="rect">
            <a:avLst/>
          </a:prstGeom>
        </p:spPr>
      </p:pic>
      <p:sp>
        <p:nvSpPr>
          <p:cNvPr id="5" name="Titre FR"/>
          <p:cNvSpPr txBox="1"/>
          <p:nvPr/>
        </p:nvSpPr>
        <p:spPr>
          <a:xfrm>
            <a:off x="548640" y="21945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Merci de votre présence !</a:t>
            </a:r>
            <a:endParaRPr lang="en-US" sz="4800" dirty="0"/>
          </a:p>
        </p:txBody>
      </p:sp>
      <p:sp>
        <p:nvSpPr>
          <p:cNvPr id="6" name="Titre EN"/>
          <p:cNvSpPr txBox="1"/>
          <p:nvPr/>
        </p:nvSpPr>
        <p:spPr>
          <a:xfrm>
            <a:off x="548640" y="30632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Thank you for coming!</a:t>
            </a:r>
            <a:endParaRPr lang="en-US" sz="3200" dirty="0"/>
          </a:p>
        </p:txBody>
      </p:sp>
      <p:sp>
        <p:nvSpPr>
          <p:cNvPr id="7" name="Questions"/>
          <p:cNvSpPr txBox="1"/>
          <p:nvPr/>
        </p:nvSpPr>
        <p:spPr>
          <a:xfrm>
            <a:off x="548640" y="40233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Questions et échanges / Questions and discussion</a:t>
            </a:r>
            <a:endParaRPr lang="en-US" sz="2200" dirty="0"/>
          </a:p>
        </p:txBody>
      </p:sp>
      <p:sp>
        <p:nvSpPr>
          <p:cNvPr id="8" name="Contact"/>
          <p:cNvSpPr txBox="1"/>
          <p:nvPr/>
        </p:nvSpPr>
        <p:spPr>
          <a:xfrm>
            <a:off x="548640" y="53949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Bright Continent Bilingual School</a:t>
            </a:r>
            <a:endParaRPr lang="en-US" sz="20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Dragage – Yaoundé  ·  +237 678 34 12 13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CBS Clubs">
  <a:themeElements>
    <a:clrScheme name="BCBS Clubs">
      <a:dk1>
        <a:srgbClr val="1B2B22"/>
      </a:dk1>
      <a:lt1>
        <a:srgbClr val="FFFFFF"/>
      </a:lt1>
      <a:dk2>
        <a:srgbClr val="143D2A"/>
      </a:dk2>
      <a:lt2>
        <a:srgbClr val="EAF3EC"/>
      </a:lt2>
      <a:accent1>
        <a:srgbClr val="1F5A3A"/>
      </a:accent1>
      <a:accent2>
        <a:srgbClr val="F2B705"/>
      </a:accent2>
      <a:accent3>
        <a:srgbClr val="BD2124"/>
      </a:accent3>
      <a:accent4>
        <a:srgbClr val="0E7C86"/>
      </a:accent4>
      <a:accent5>
        <a:srgbClr val="6BA539"/>
      </a:accent5>
      <a:accent6>
        <a:srgbClr val="566860"/>
      </a:accent6>
      <a:hlink>
        <a:srgbClr val="0E7C86"/>
      </a:hlink>
      <a:folHlink>
        <a:srgbClr val="566860"/>
      </a:folHlink>
    </a:clrScheme>
    <a:fontScheme name="BCBS Club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Bright Continent Bilingual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First PTA Meeting / Première réunion PTA – BCBS</dc:title>
  <dc:subject>PptxGenJS Presentation</dc:subject>
  <dc:creator>Bright Continent Bilingual School</dc:creator>
  <cp:lastModifiedBy>Bright Continent Bilingual School</cp:lastModifiedBy>
  <cp:revision>1</cp:revision>
  <dcterms:created xsi:type="dcterms:W3CDTF">2026-10-16T11:39:47Z</dcterms:created>
  <dcterms:modified xsi:type="dcterms:W3CDTF">2026-10-16T11:39:47Z</dcterms:modified>
</cp:coreProperties>
</file>