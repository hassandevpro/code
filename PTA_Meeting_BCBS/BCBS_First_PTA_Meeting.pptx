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gramme" id="{7718ce87-e203-0291-b1d1-423667fab502}">
          <p14:sldIdLst>
            <p14:sldId id="256"/>
            <p14:sldId id="257"/>
            <p14:sldId id="258"/>
          </p14:sldIdLst>
        </p14:section>
        <p14:section name="Rapport" id="{3dd91a0b-8f4b-4c1f-11bd-38216936548f}">
          <p14:sldIdLst>
            <p14:sldId id="259"/>
            <p14:sldId id="260"/>
            <p14:sldId id="261"/>
            <p14:sldId id="262"/>
          </p14:sldIdLst>
        </p14:section>
        <p14:section name="Vision et réalisations" id="{80f82e2e-2322-3e2a-5428-e1659a586903}">
          <p14:sldIdLst>
            <p14:sldId id="263"/>
            <p14:sldId id="264"/>
            <p14:sldId id="265"/>
            <p14:sldId id="266"/>
          </p14:sldIdLst>
        </p14:section>
        <p14:section name="Activités et clubs" id="{a116f7af-c8fe-16c9-43ea-ca8b595e939d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Moyenne /20</c:v>
                </c:pt>
              </c:strCache>
            </c:strRef>
          </c:tx>
          <c:spPr>
            <a:solidFill>
              <a:srgbClr val="1F5A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212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Class 1</c:v>
                  </c:pt>
                  <c:pt idx="1">
                    <c:v>Class 2</c:v>
                  </c:pt>
                  <c:pt idx="2">
                    <c:v>Class 3</c:v>
                  </c:pt>
                  <c:pt idx="3">
                    <c:v>Class 4</c:v>
                  </c:pt>
                  <c:pt idx="4">
                    <c:v>Class 5</c:v>
                  </c:pt>
                  <c:pt idx="5">
                    <c:v>Class 6</c:v>
                  </c:pt>
                  <c:pt idx="6">
                    <c:v>CM1</c:v>
                  </c:pt>
                  <c:pt idx="7">
                    <c:v>CM2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14.4</c:v>
                </c:pt>
                <c:pt idx="1">
                  <c:v>15.74</c:v>
                </c:pt>
                <c:pt idx="2">
                  <c:v>9.33</c:v>
                </c:pt>
                <c:pt idx="3">
                  <c:v>16.66</c:v>
                </c:pt>
                <c:pt idx="4">
                  <c:v>16.84</c:v>
                </c:pt>
                <c:pt idx="5">
                  <c:v>16.53</c:v>
                </c:pt>
                <c:pt idx="6">
                  <c:v>10.78</c:v>
                </c:pt>
                <c:pt idx="7">
                  <c:v>12.56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D5E2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668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AJOUTER UNE IMAGE : cliquer sur le cadre en pointillés, puis Format de la forme &gt; Remplissage &gt; Image (ou Insertion &gt; Images, puis glisser l’image à la place du cadre et la mettre à la taille). Le cadre peut ensuite être supprimé.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points : hymne, mot du Directeur de campus, rapport de la direction pédagogique, vision et réalisations, activités extrascolaires, clubs.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clés du Directeur de campus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 sur la rentrée 2026 et programmes d’orientation destinés à tous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Moyenne générale de l’école : 15,11 sur 20. 24 élèves évalués, 22 avec une moyenne supérieure ou égale à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Effectifs, élèves évalués, moyenne de classe sur 20, élèves avec une moyenne supérieure ou égale à 10, taux de réussite et répartition des cotes.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Réserves sur les petits effectifs et sur CM2. La légende des cotes est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vision est mentionnée dans les notes sans détail : énoncé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d’activités d’apprentissage numérisées.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Approche hands-on, minds-on. Projets mensuels présentés par les élèves. Exemples : bouquet de fleurs, radio, cycle de l’eau,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Bouquet de fleurs, radio, cycle de l’eau, jardin de fleurs, arrosage quotidien et travaux manuels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d’une excursion ou d’un pique-nique. Photos des enfants sur le site de pique-nique, Village Madiba.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clubs présentés par les experts : Media, Information Technology et un troisième club à préciser.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Activités : photographie, vidéographie, journalisme (gratuit), journalisme, prise de parole en public, théâtre.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aux activités informatiques.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troisième club est mentionné dans les notes sans nom ni activités.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de la réunion : questions des parents.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3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First PTA Meeting / Première réunion PTA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EN"/>
          <p:cNvSpPr txBox="1"/>
          <p:nvPr/>
        </p:nvSpPr>
        <p:spPr>
          <a:xfrm>
            <a:off x="548640" y="2377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FIRST PTA MEETING</a:t>
            </a:r>
            <a:endParaRPr lang="en-US" sz="4800" dirty="0"/>
          </a:p>
        </p:txBody>
      </p:sp>
      <p:sp>
        <p:nvSpPr>
          <p:cNvPr id="5" name="Titre FR"/>
          <p:cNvSpPr txBox="1"/>
          <p:nvPr/>
        </p:nvSpPr>
        <p:spPr>
          <a:xfrm>
            <a:off x="548640" y="3337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PREMIÈRE RÉUNION PTA</a:t>
            </a:r>
            <a:endParaRPr lang="en-US" sz="3000" dirty="0"/>
          </a:p>
        </p:txBody>
      </p:sp>
      <p:sp>
        <p:nvSpPr>
          <p:cNvPr id="6" name="Sous-titre"/>
          <p:cNvSpPr txBox="1"/>
          <p:nvPr/>
        </p:nvSpPr>
        <p:spPr>
          <a:xfrm>
            <a:off x="54864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Parents – Enseignants / Parents – Teachers</a:t>
            </a:r>
            <a:endParaRPr lang="en-US" sz="1800" dirty="0"/>
          </a:p>
        </p:txBody>
      </p:sp>
      <p:sp>
        <p:nvSpPr>
          <p:cNvPr id="7" name="École"/>
          <p:cNvSpPr txBox="1"/>
          <p:nvPr/>
        </p:nvSpPr>
        <p:spPr>
          <a:xfrm>
            <a:off x="548640" y="5029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sp>
        <p:nvSpPr>
          <p:cNvPr id="9" name="IMAGE À AJOUTER – couverture"/>
          <p:cNvSpPr/>
          <p:nvPr/>
        </p:nvSpPr>
        <p:spPr>
          <a:xfrm>
            <a:off x="6949440" y="594360"/>
            <a:ext cx="4754880" cy="5669280"/>
          </a:xfrm>
          <a:prstGeom prst="roundRect">
            <a:avLst>
              <a:gd name="adj" fmla="val 2308"/>
            </a:avLst>
          </a:prstGeom>
          <a:solidFill>
            <a:schemeClr val="accent1"/>
          </a:solidFill>
          <a:ln w="25400">
            <a:solidFill>
              <a:schemeClr val="accent2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788920"/>
            <a:ext cx="548640" cy="54864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7132320" y="34290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Insérer l’image ici / Insert image here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Photo de couverture : élèves, école, ou parents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Programme de la réunion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Programme / Agenda</a:t>
            </a:r>
            <a:endParaRPr lang="en-US" sz="2000" dirty="0"/>
          </a:p>
        </p:txBody>
      </p:sp>
      <p:sp>
        <p:nvSpPr>
          <p:cNvPr id="5" name="Point 1"/>
          <p:cNvSpPr/>
          <p:nvPr/>
        </p:nvSpPr>
        <p:spPr>
          <a:xfrm>
            <a:off x="548640" y="169164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"/>
          <p:cNvSpPr txBox="1"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Bilingual text"/>
          <p:cNvSpPr txBox="1"/>
          <p:nvPr/>
        </p:nvSpPr>
        <p:spPr>
          <a:xfrm>
            <a:off x="1371600" y="17099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Chant de l’hymne national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of the National Anthem</a:t>
            </a:r>
            <a:endParaRPr lang="en-US" sz="1600" dirty="0"/>
          </a:p>
        </p:txBody>
      </p:sp>
      <p:sp>
        <p:nvSpPr>
          <p:cNvPr id="8" name="Point 2"/>
          <p:cNvSpPr/>
          <p:nvPr/>
        </p:nvSpPr>
        <p:spPr>
          <a:xfrm>
            <a:off x="548640" y="2441448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685800" y="2532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ilingual text"/>
          <p:cNvSpPr txBox="1"/>
          <p:nvPr/>
        </p:nvSpPr>
        <p:spPr>
          <a:xfrm>
            <a:off x="1371600" y="245973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mot du Directeur de campus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word from the Campus Director</a:t>
            </a:r>
            <a:endParaRPr lang="en-US" sz="1600" dirty="0"/>
          </a:p>
        </p:txBody>
      </p:sp>
      <p:sp>
        <p:nvSpPr>
          <p:cNvPr id="11" name="Point 3"/>
          <p:cNvSpPr/>
          <p:nvPr/>
        </p:nvSpPr>
        <p:spPr>
          <a:xfrm>
            <a:off x="548640" y="3191256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685800" y="32826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Bilingual text"/>
          <p:cNvSpPr txBox="1"/>
          <p:nvPr/>
        </p:nvSpPr>
        <p:spPr>
          <a:xfrm>
            <a:off x="1371600" y="320954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bureau de la direction pédagogique (Headteacher)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Headteacher’s Desk</a:t>
            </a:r>
            <a:endParaRPr lang="en-US" sz="1600" dirty="0"/>
          </a:p>
        </p:txBody>
      </p:sp>
      <p:sp>
        <p:nvSpPr>
          <p:cNvPr id="14" name="Point 4"/>
          <p:cNvSpPr/>
          <p:nvPr/>
        </p:nvSpPr>
        <p:spPr>
          <a:xfrm>
            <a:off x="548640" y="3941064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685800" y="403250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Bilingual text"/>
          <p:cNvSpPr txBox="1"/>
          <p:nvPr/>
        </p:nvSpPr>
        <p:spPr>
          <a:xfrm>
            <a:off x="1371600" y="39593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Notre vision et nos réalisations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Our vision and achievements so far</a:t>
            </a:r>
            <a:endParaRPr lang="en-US" sz="1600" dirty="0"/>
          </a:p>
        </p:txBody>
      </p:sp>
      <p:sp>
        <p:nvSpPr>
          <p:cNvPr id="17" name="Point 5"/>
          <p:cNvSpPr/>
          <p:nvPr/>
        </p:nvSpPr>
        <p:spPr>
          <a:xfrm>
            <a:off x="548640" y="4690872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685800" y="47823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Bilingual text"/>
          <p:cNvSpPr txBox="1"/>
          <p:nvPr/>
        </p:nvSpPr>
        <p:spPr>
          <a:xfrm>
            <a:off x="1371600" y="4709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Activités extrascolaires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Extracurricular activities</a:t>
            </a:r>
            <a:endParaRPr lang="en-US" sz="1600" dirty="0"/>
          </a:p>
        </p:txBody>
      </p:sp>
      <p:sp>
        <p:nvSpPr>
          <p:cNvPr id="20" name="Point 6"/>
          <p:cNvSpPr/>
          <p:nvPr/>
        </p:nvSpPr>
        <p:spPr>
          <a:xfrm>
            <a:off x="548640" y="544068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Bilingual text"/>
          <p:cNvSpPr txBox="1"/>
          <p:nvPr/>
        </p:nvSpPr>
        <p:spPr>
          <a:xfrm>
            <a:off x="1371600" y="5458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Clubs et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Clubs and activities</a:t>
            </a:r>
            <a:endParaRPr lang="en-US" sz="1600" dirty="0"/>
          </a:p>
        </p:txBody>
      </p:sp>
      <p:sp>
        <p:nvSpPr>
          <p:cNvPr id="23" name="IMAGE À AJOUTER – photo : parents / école"/>
          <p:cNvSpPr/>
          <p:nvPr/>
        </p:nvSpPr>
        <p:spPr>
          <a:xfrm>
            <a:off x="7863840" y="1691640"/>
            <a:ext cx="3794760" cy="438912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32735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8001000" y="3931920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parents / 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mot du Directeur de campus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A word from the Campus Director</a:t>
            </a:r>
            <a:endParaRPr lang="en-US" sz="2000" dirty="0"/>
          </a:p>
        </p:txBody>
      </p:sp>
      <p:sp>
        <p:nvSpPr>
          <p:cNvPr id="5" name="IMAGE À AJOUTER – portrait ou photo du Directeur de campus"/>
          <p:cNvSpPr/>
          <p:nvPr/>
        </p:nvSpPr>
        <p:spPr>
          <a:xfrm>
            <a:off x="548640" y="1691640"/>
            <a:ext cx="4023360" cy="43891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portrait ou photo du Directeur de campus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4937760" y="1691640"/>
            <a:ext cx="672084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5166360" y="1691640"/>
            <a:ext cx="6263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Messages clés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messages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bureau de la direction pédagogique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The Headteacher’s Desk — Report on the resumption of the 2026 academic year</a:t>
            </a:r>
            <a:endParaRPr lang="en-US" sz="2000" dirty="0"/>
          </a:p>
        </p:txBody>
      </p:sp>
      <p:sp>
        <p:nvSpPr>
          <p:cNvPr id="5" name="Rapport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0004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373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Rapport sur la rentrée scolaire 2026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Report on the resumption of the 2026 academic year</a:t>
            </a:r>
            <a:endParaRPr lang="en-US" sz="1800" dirty="0"/>
          </a:p>
        </p:txBody>
      </p:sp>
      <p:sp>
        <p:nvSpPr>
          <p:cNvPr id="9" name="IMAGE À AJOUTER – photos de la rentrée / de l’orientation des élèves"/>
          <p:cNvSpPr/>
          <p:nvPr/>
        </p:nvSpPr>
        <p:spPr>
          <a:xfrm>
            <a:off x="548640" y="3154680"/>
            <a:ext cx="51206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400507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photos de la rentrée / de l’orientation des élèves</a:t>
            </a:r>
            <a:endParaRPr lang="en-US" sz="1400" dirty="0"/>
          </a:p>
        </p:txBody>
      </p:sp>
      <p:sp>
        <p:nvSpPr>
          <p:cNvPr id="12" name="Titre orientation"/>
          <p:cNvSpPr txBox="1"/>
          <p:nvPr/>
        </p:nvSpPr>
        <p:spPr>
          <a:xfrm>
            <a:off x="6035040" y="1691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Programmes d’orientation pour tous les élèves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Orientation programmes held for all learners</a:t>
            </a:r>
            <a:endParaRPr lang="en-US" sz="1800" dirty="0"/>
          </a:p>
        </p:txBody>
      </p:sp>
      <p:sp>
        <p:nvSpPr>
          <p:cNvPr id="13" name="Orientation 1"/>
          <p:cNvSpPr/>
          <p:nvPr/>
        </p:nvSpPr>
        <p:spPr>
          <a:xfrm>
            <a:off x="6035040" y="2560320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172200" y="2679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874" y="2810866"/>
            <a:ext cx="285293" cy="28529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6858000" y="2578608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des activités d’apprentissage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learning activities</a:t>
            </a:r>
            <a:endParaRPr lang="en-US" sz="1500" dirty="0"/>
          </a:p>
        </p:txBody>
      </p:sp>
      <p:sp>
        <p:nvSpPr>
          <p:cNvPr id="17" name="Orientation 2"/>
          <p:cNvSpPr/>
          <p:nvPr/>
        </p:nvSpPr>
        <p:spPr>
          <a:xfrm>
            <a:off x="6035040" y="3447288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17220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74" y="3697834"/>
            <a:ext cx="285293" cy="28529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6858000" y="3465576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Explication des périodes et méthodes d’évaluation par chaque enseignant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Explanation of evaluation periods and methods by each teacher</a:t>
            </a:r>
            <a:endParaRPr lang="en-US" sz="1500" dirty="0"/>
          </a:p>
        </p:txBody>
      </p:sp>
      <p:sp>
        <p:nvSpPr>
          <p:cNvPr id="21" name="Orientation 3"/>
          <p:cNvSpPr/>
          <p:nvPr/>
        </p:nvSpPr>
        <p:spPr>
          <a:xfrm>
            <a:off x="6035040" y="4334256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6172200" y="44531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874" y="4584802"/>
            <a:ext cx="285293" cy="285293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6858000" y="4352544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du règlement intérieur, par M. Abdel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school rules and regulations, by Mr Abdel</a:t>
            </a:r>
            <a:endParaRPr lang="en-US" sz="1500" dirty="0"/>
          </a:p>
        </p:txBody>
      </p:sp>
      <p:sp>
        <p:nvSpPr>
          <p:cNvPr id="25" name="Orientation 4"/>
          <p:cNvSpPr/>
          <p:nvPr/>
        </p:nvSpPr>
        <p:spPr>
          <a:xfrm>
            <a:off x="6035040" y="5221224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172200" y="53400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874" y="5471770"/>
            <a:ext cx="285293" cy="285293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6858000" y="5239512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Accent sur la ponctualité, le respect et la discipline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Emphasis on punctuality, respect and discipline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de la première séquence (UA 1)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of the first sequence — Class 1 to CM2, report cards of 13 October 2026</a:t>
            </a:r>
            <a:endParaRPr lang="en-US" sz="2000" dirty="0"/>
          </a:p>
        </p:txBody>
      </p:sp>
      <p:sp>
        <p:nvSpPr>
          <p:cNvPr id="5" name="Chiffre clé 1"/>
          <p:cNvSpPr/>
          <p:nvPr/>
        </p:nvSpPr>
        <p:spPr>
          <a:xfrm>
            <a:off x="548640" y="1691640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Valeur"/>
          <p:cNvSpPr txBox="1"/>
          <p:nvPr/>
        </p:nvSpPr>
        <p:spPr>
          <a:xfrm>
            <a:off x="731520" y="17647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24</a:t>
            </a:r>
            <a:endParaRPr lang="en-US" sz="3400" dirty="0"/>
          </a:p>
        </p:txBody>
      </p:sp>
      <p:sp>
        <p:nvSpPr>
          <p:cNvPr id="7" name="Libellé"/>
          <p:cNvSpPr txBox="1"/>
          <p:nvPr/>
        </p:nvSpPr>
        <p:spPr>
          <a:xfrm>
            <a:off x="7315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élèves évalués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assessed</a:t>
            </a:r>
            <a:endParaRPr lang="en-US" sz="1600" dirty="0"/>
          </a:p>
        </p:txBody>
      </p:sp>
      <p:sp>
        <p:nvSpPr>
          <p:cNvPr id="8" name="Chiffre clé 2"/>
          <p:cNvSpPr/>
          <p:nvPr/>
        </p:nvSpPr>
        <p:spPr>
          <a:xfrm>
            <a:off x="548640" y="3172968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Valeur"/>
          <p:cNvSpPr txBox="1"/>
          <p:nvPr/>
        </p:nvSpPr>
        <p:spPr>
          <a:xfrm>
            <a:off x="73152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15.11 / 20</a:t>
            </a:r>
            <a:endParaRPr lang="en-US" sz="3400" dirty="0"/>
          </a:p>
        </p:txBody>
      </p:sp>
      <p:sp>
        <p:nvSpPr>
          <p:cNvPr id="10" name="Libellé"/>
          <p:cNvSpPr txBox="1"/>
          <p:nvPr/>
        </p:nvSpPr>
        <p:spPr>
          <a:xfrm>
            <a:off x="731520" y="39044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moyenne générale de l’école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general average</a:t>
            </a:r>
            <a:endParaRPr lang="en-US" sz="1600" dirty="0"/>
          </a:p>
        </p:txBody>
      </p:sp>
      <p:sp>
        <p:nvSpPr>
          <p:cNvPr id="11" name="Chiffre clé 3"/>
          <p:cNvSpPr/>
          <p:nvPr/>
        </p:nvSpPr>
        <p:spPr>
          <a:xfrm>
            <a:off x="548640" y="4654296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Valeur"/>
          <p:cNvSpPr txBox="1"/>
          <p:nvPr/>
        </p:nvSpPr>
        <p:spPr>
          <a:xfrm>
            <a:off x="731520" y="47274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22 sur 24</a:t>
            </a:r>
            <a:endParaRPr lang="en-US" sz="3400" dirty="0"/>
          </a:p>
        </p:txBody>
      </p:sp>
      <p:sp>
        <p:nvSpPr>
          <p:cNvPr id="13" name="Libellé"/>
          <p:cNvSpPr txBox="1"/>
          <p:nvPr/>
        </p:nvSpPr>
        <p:spPr>
          <a:xfrm>
            <a:off x="731520" y="53858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avec une moyenne ≥ 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with an average ≥ 10</a:t>
            </a:r>
            <a:endParaRPr lang="en-US" sz="1600" dirty="0"/>
          </a:p>
        </p:txBody>
      </p:sp>
      <p:sp>
        <p:nvSpPr>
          <p:cNvPr id="14" name="Titre graphique"/>
          <p:cNvSpPr txBox="1"/>
          <p:nvPr/>
        </p:nvSpPr>
        <p:spPr>
          <a:xfrm>
            <a:off x="4663440" y="1691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Moyenne de classe sur 20 / Class average out of 20</a:t>
            </a:r>
            <a:endParaRPr lang="en-US" sz="18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663440" y="2103120"/>
          <a:ext cx="6995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par classe — UA 1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by class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280160"/>
                <a:gridCol w="1828800"/>
                <a:gridCol w="1280160"/>
                <a:gridCol w="15087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 /20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A+ / A / IP / 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548640" y="5989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Évalués » = élèves ayant au moins une note. / “Assessed” = learners with at least one mark.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Comment lire ces résultats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How to read these results</a:t>
            </a:r>
            <a:endParaRPr lang="en-US" sz="2000" dirty="0"/>
          </a:p>
        </p:txBody>
      </p:sp>
      <p:sp>
        <p:nvSpPr>
          <p:cNvPr id="5" name="Lecture 1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964863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417320" y="170992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Moyennes calculées sur les compétences réellement évaluées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Averages are calculated on the competencies actually assessed — not all on the same total</a:t>
            </a:r>
            <a:endParaRPr lang="en-US" sz="1500" dirty="0"/>
          </a:p>
        </p:txBody>
      </p:sp>
      <p:sp>
        <p:nvSpPr>
          <p:cNvPr id="9" name="Lecture 2"/>
          <p:cNvSpPr/>
          <p:nvPr/>
        </p:nvSpPr>
        <p:spPr>
          <a:xfrm>
            <a:off x="548640" y="265176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85800" y="2788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3" y="2924983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1417320" y="267004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3, Class 6 et CM1 : un seul élève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One learner only: the class average is that learner’s own average and has no statistical value</a:t>
            </a:r>
            <a:endParaRPr lang="en-US" sz="1500" dirty="0"/>
          </a:p>
        </p:txBody>
      </p:sp>
      <p:sp>
        <p:nvSpPr>
          <p:cNvPr id="13" name="Lecture 3"/>
          <p:cNvSpPr/>
          <p:nvPr/>
        </p:nvSpPr>
        <p:spPr>
          <a:xfrm>
            <a:off x="548640" y="36118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85800" y="3749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63" y="3885103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1417320" y="363016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CM2 : 2 élèves, 1 seul a des notes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CM2: 2 learners, only 1 has marks</a:t>
            </a:r>
            <a:endParaRPr lang="en-US" sz="1500" dirty="0"/>
          </a:p>
        </p:txBody>
      </p:sp>
      <p:sp>
        <p:nvSpPr>
          <p:cNvPr id="17" name="Lecture 4"/>
          <p:cNvSpPr/>
          <p:nvPr/>
        </p:nvSpPr>
        <p:spPr>
          <a:xfrm>
            <a:off x="548640" y="457200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85800" y="4709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63" y="4845223"/>
            <a:ext cx="294803" cy="29480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1417320" y="459028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1 et Class 5 : peu d’élèves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Few learners: handle ranks and averages with care</a:t>
            </a:r>
            <a:endParaRPr lang="en-US" sz="1500" dirty="0"/>
          </a:p>
        </p:txBody>
      </p:sp>
      <p:sp>
        <p:nvSpPr>
          <p:cNvPr id="21" name="À compléter"/>
          <p:cNvSpPr/>
          <p:nvPr/>
        </p:nvSpPr>
        <p:spPr>
          <a:xfrm>
            <a:off x="7680960" y="1691640"/>
            <a:ext cx="39776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22" name="À compléter texte"/>
          <p:cNvSpPr txBox="1"/>
          <p:nvPr/>
        </p:nvSpPr>
        <p:spPr>
          <a:xfrm>
            <a:off x="7909560" y="16916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Légende des cotes (A+, A, IP, NA, ECA)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to the grades (A+, A, IP, NA, ECA) to be added.</a:t>
            </a:r>
            <a:endParaRPr lang="en-US" sz="1500" dirty="0"/>
          </a:p>
        </p:txBody>
      </p:sp>
      <p:sp>
        <p:nvSpPr>
          <p:cNvPr id="23" name="IMAGE À AJOUTER – photo ou illustration (optionnel)"/>
          <p:cNvSpPr/>
          <p:nvPr/>
        </p:nvSpPr>
        <p:spPr>
          <a:xfrm>
            <a:off x="7680960" y="3886200"/>
            <a:ext cx="39776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43022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7818120" y="4960620"/>
            <a:ext cx="370332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ou illustration (optionnel)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Notre vision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vision</a:t>
            </a:r>
            <a:endParaRPr lang="en-US" sz="2000" dirty="0"/>
          </a:p>
        </p:txBody>
      </p:sp>
      <p:sp>
        <p:nvSpPr>
          <p:cNvPr id="5" name="À compléter"/>
          <p:cNvSpPr/>
          <p:nvPr/>
        </p:nvSpPr>
        <p:spPr>
          <a:xfrm>
            <a:off x="548640" y="1691640"/>
            <a:ext cx="63093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6" name="À compléter texte"/>
          <p:cNvSpPr txBox="1"/>
          <p:nvPr/>
        </p:nvSpPr>
        <p:spPr>
          <a:xfrm>
            <a:off x="777240" y="16916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Énoncé de la vision de l’école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vision statement to be added.</a:t>
            </a:r>
            <a:endParaRPr lang="en-US" sz="1500" dirty="0"/>
          </a:p>
        </p:txBody>
      </p:sp>
      <p:sp>
        <p:nvSpPr>
          <p:cNvPr id="7" name="IMAGE À AJOUTER – image illustrant la vision de l’école"/>
          <p:cNvSpPr/>
          <p:nvPr/>
        </p:nvSpPr>
        <p:spPr>
          <a:xfrm>
            <a:off x="7223760" y="1691640"/>
            <a:ext cx="443484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27355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7360920" y="3931920"/>
            <a:ext cx="4160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illustrant la vision de l’école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numérique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digitalised learning</a:t>
            </a:r>
            <a:endParaRPr lang="en-US" sz="2000" dirty="0"/>
          </a:p>
        </p:txBody>
      </p:sp>
      <p:sp>
        <p:nvSpPr>
          <p:cNvPr id="5" name="Digitalised learning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Introduction d’activités d’apprentissage numérisées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Introduction of digitalised learning activities</a:t>
            </a:r>
            <a:endParaRPr lang="en-US" sz="1900" dirty="0"/>
          </a:p>
        </p:txBody>
      </p:sp>
      <p:sp>
        <p:nvSpPr>
          <p:cNvPr id="9" name="IMAGE À AJOUTER – élèves en activité numérique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élèves en activité numérique</a:t>
            </a:r>
            <a:endParaRPr lang="en-US" sz="1400" dirty="0"/>
          </a:p>
        </p:txBody>
      </p:sp>
      <p:sp>
        <p:nvSpPr>
          <p:cNvPr id="12" name="IMAGE À AJOUTER – salle ou équipement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salle ou équipement</a:t>
            </a:r>
            <a:endParaRPr lang="en-US" sz="1400" dirty="0"/>
          </a:p>
        </p:txBody>
      </p:sp>
      <p:sp>
        <p:nvSpPr>
          <p:cNvPr id="15" name="IMAGE À AJOUTER – projet numérique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projet numérique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par projets (PBL)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Project-Based Learning</a:t>
            </a:r>
            <a:endParaRPr lang="en-US" sz="2000" dirty="0"/>
          </a:p>
        </p:txBody>
      </p:sp>
      <p:sp>
        <p:nvSpPr>
          <p:cNvPr id="5" name="PBL 1"/>
          <p:cNvSpPr/>
          <p:nvPr/>
        </p:nvSpPr>
        <p:spPr>
          <a:xfrm>
            <a:off x="54864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2047159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Apprendre en faisant et en réfléchissant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Hands-on, minds-on learning approach</a:t>
            </a:r>
            <a:endParaRPr lang="en-US" sz="1600" dirty="0"/>
          </a:p>
        </p:txBody>
      </p:sp>
      <p:sp>
        <p:nvSpPr>
          <p:cNvPr id="9" name="PBL 2"/>
          <p:cNvSpPr/>
          <p:nvPr/>
        </p:nvSpPr>
        <p:spPr>
          <a:xfrm>
            <a:off x="621792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0080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63" y="2047159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17804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Projets mensuels présentés par les élèves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projects presented by learners</a:t>
            </a:r>
            <a:endParaRPr lang="en-US" sz="1600" dirty="0"/>
          </a:p>
        </p:txBody>
      </p:sp>
      <p:sp>
        <p:nvSpPr>
          <p:cNvPr id="13" name="Sous-titre exemples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Exemples de projets et d’activités / Examples of projects and activities</a:t>
            </a:r>
            <a:endParaRPr lang="en-US" sz="1800" dirty="0"/>
          </a:p>
        </p:txBody>
      </p:sp>
      <p:pic>
        <p:nvPicPr>
          <p:cNvPr id="14" name="Photo Bouquet de fleurs" descr="Bouquet de fl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37560"/>
            <a:ext cx="2103120" cy="1691640"/>
          </a:xfrm>
          <a:prstGeom prst="rect">
            <a:avLst/>
          </a:prstGeom>
        </p:spPr>
      </p:pic>
      <p:sp>
        <p:nvSpPr>
          <p:cNvPr id="15" name="Légende"/>
          <p:cNvSpPr txBox="1"/>
          <p:nvPr/>
        </p:nvSpPr>
        <p:spPr>
          <a:xfrm>
            <a:off x="54864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Bouquet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Bouquet of flowers</a:t>
            </a:r>
            <a:endParaRPr lang="en-US" sz="1400" dirty="0"/>
          </a:p>
        </p:txBody>
      </p:sp>
      <p:pic>
        <p:nvPicPr>
          <p:cNvPr id="16" name="Photo Radio" descr="Rad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3337560"/>
            <a:ext cx="2103120" cy="1691640"/>
          </a:xfrm>
          <a:prstGeom prst="rect">
            <a:avLst/>
          </a:prstGeom>
        </p:spPr>
      </p:pic>
      <p:sp>
        <p:nvSpPr>
          <p:cNvPr id="17" name="Légende"/>
          <p:cNvSpPr txBox="1"/>
          <p:nvPr/>
        </p:nvSpPr>
        <p:spPr>
          <a:xfrm>
            <a:off x="278892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Radio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Radio</a:t>
            </a:r>
            <a:endParaRPr lang="en-US" sz="1400" dirty="0"/>
          </a:p>
        </p:txBody>
      </p:sp>
      <p:pic>
        <p:nvPicPr>
          <p:cNvPr id="18" name="Photo Cycle de l’eau" descr="Cycle de l’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337560"/>
            <a:ext cx="2103120" cy="1691640"/>
          </a:xfrm>
          <a:prstGeom prst="rect">
            <a:avLst/>
          </a:prstGeom>
        </p:spPr>
      </p:pic>
      <p:sp>
        <p:nvSpPr>
          <p:cNvPr id="19" name="Légende"/>
          <p:cNvSpPr txBox="1"/>
          <p:nvPr/>
        </p:nvSpPr>
        <p:spPr>
          <a:xfrm>
            <a:off x="502920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Cycle de l’eau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Water cycle</a:t>
            </a:r>
            <a:endParaRPr lang="en-US" sz="1400" dirty="0"/>
          </a:p>
        </p:txBody>
      </p:sp>
      <p:pic>
        <p:nvPicPr>
          <p:cNvPr id="20" name="Photo Jardin de fleurs" descr="Jardin de fleu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337560"/>
            <a:ext cx="2103120" cy="1691640"/>
          </a:xfrm>
          <a:prstGeom prst="rect">
            <a:avLst/>
          </a:prstGeom>
        </p:spPr>
      </p:pic>
      <p:sp>
        <p:nvSpPr>
          <p:cNvPr id="21" name="Légende"/>
          <p:cNvSpPr txBox="1"/>
          <p:nvPr/>
        </p:nvSpPr>
        <p:spPr>
          <a:xfrm>
            <a:off x="726948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Jardin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Flower garden</a:t>
            </a:r>
            <a:endParaRPr lang="en-US" sz="1400" dirty="0"/>
          </a:p>
        </p:txBody>
      </p:sp>
      <p:pic>
        <p:nvPicPr>
          <p:cNvPr id="22" name="Photo Arrosage quotidien des plantes par les enfants" descr="Arrosage quotidien des plantes par les enfa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3337560"/>
            <a:ext cx="2103120" cy="1691640"/>
          </a:xfrm>
          <a:prstGeom prst="rect">
            <a:avLst/>
          </a:prstGeom>
        </p:spPr>
      </p:pic>
      <p:sp>
        <p:nvSpPr>
          <p:cNvPr id="23" name="Légende"/>
          <p:cNvSpPr txBox="1"/>
          <p:nvPr/>
        </p:nvSpPr>
        <p:spPr>
          <a:xfrm>
            <a:off x="950976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Arrosage quotidien des plantes par les enfants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watering of plants by children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Les projets mensuels en images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Monthly projects in pictures</a:t>
            </a:r>
            <a:endParaRPr lang="en-US" sz="2000" dirty="0"/>
          </a:p>
        </p:txBody>
      </p:sp>
      <p:pic>
        <p:nvPicPr>
          <p:cNvPr id="5" name="Photo Bouquet de fleurs — Class 2" descr="Bouquet de fleurs — Class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611880" cy="1783080"/>
          </a:xfrm>
          <a:prstGeom prst="rect">
            <a:avLst/>
          </a:prstGeom>
        </p:spPr>
      </p:pic>
      <p:sp>
        <p:nvSpPr>
          <p:cNvPr id="6" name="Légende"/>
          <p:cNvSpPr txBox="1"/>
          <p:nvPr/>
        </p:nvSpPr>
        <p:spPr>
          <a:xfrm>
            <a:off x="54864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Bouquet de fleurs — Class 2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Bouquet of flowers — Class 2</a:t>
            </a:r>
            <a:endParaRPr lang="en-US" sz="1500" dirty="0"/>
          </a:p>
        </p:txBody>
      </p:sp>
      <p:pic>
        <p:nvPicPr>
          <p:cNvPr id="7" name="Photo Radio" descr="Rad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645920"/>
            <a:ext cx="3611880" cy="1783080"/>
          </a:xfrm>
          <a:prstGeom prst="rect">
            <a:avLst/>
          </a:prstGeom>
        </p:spPr>
      </p:pic>
      <p:sp>
        <p:nvSpPr>
          <p:cNvPr id="8" name="Légende"/>
          <p:cNvSpPr txBox="1"/>
          <p:nvPr/>
        </p:nvSpPr>
        <p:spPr>
          <a:xfrm>
            <a:off x="429768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Radio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Radio</a:t>
            </a:r>
            <a:endParaRPr lang="en-US" sz="1500" dirty="0"/>
          </a:p>
        </p:txBody>
      </p:sp>
      <p:pic>
        <p:nvPicPr>
          <p:cNvPr id="9" name="Photo Cycle de l’eau" descr="Cycle de l’ea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645920"/>
            <a:ext cx="3611880" cy="1783080"/>
          </a:xfrm>
          <a:prstGeom prst="rect">
            <a:avLst/>
          </a:prstGeom>
        </p:spPr>
      </p:pic>
      <p:sp>
        <p:nvSpPr>
          <p:cNvPr id="10" name="Légende"/>
          <p:cNvSpPr txBox="1"/>
          <p:nvPr/>
        </p:nvSpPr>
        <p:spPr>
          <a:xfrm>
            <a:off x="804672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Cycle de l’eau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Water cycle</a:t>
            </a:r>
            <a:endParaRPr lang="en-US" sz="1500" dirty="0"/>
          </a:p>
        </p:txBody>
      </p:sp>
      <p:pic>
        <p:nvPicPr>
          <p:cNvPr id="11" name="Photo Jardin de fleurs" descr="Jardin de fleu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77640"/>
            <a:ext cx="3611880" cy="1783080"/>
          </a:xfrm>
          <a:prstGeom prst="rect">
            <a:avLst/>
          </a:prstGeom>
        </p:spPr>
      </p:pic>
      <p:sp>
        <p:nvSpPr>
          <p:cNvPr id="12" name="Légende"/>
          <p:cNvSpPr txBox="1"/>
          <p:nvPr/>
        </p:nvSpPr>
        <p:spPr>
          <a:xfrm>
            <a:off x="54864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Jardin de fleurs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Flower garden</a:t>
            </a:r>
            <a:endParaRPr lang="en-US" sz="1500" dirty="0"/>
          </a:p>
        </p:txBody>
      </p:sp>
      <p:pic>
        <p:nvPicPr>
          <p:cNvPr id="13" name="Photo Arrosage quotidien des plantes" descr="Arrosage quotidien des plan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977640"/>
            <a:ext cx="3611880" cy="1783080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429768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Arrosage quotidien des plantes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Daily watering of plants</a:t>
            </a:r>
            <a:endParaRPr lang="en-US" sz="1500" dirty="0"/>
          </a:p>
        </p:txBody>
      </p:sp>
      <p:pic>
        <p:nvPicPr>
          <p:cNvPr id="15" name="Photo Travaux manuels en classe" descr="Travaux manuels en clas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977640"/>
            <a:ext cx="3611880" cy="1783080"/>
          </a:xfrm>
          <a:prstGeom prst="rect">
            <a:avLst/>
          </a:prstGeom>
        </p:spPr>
      </p:pic>
      <p:sp>
        <p:nvSpPr>
          <p:cNvPr id="16" name="Légende"/>
          <p:cNvSpPr txBox="1"/>
          <p:nvPr/>
        </p:nvSpPr>
        <p:spPr>
          <a:xfrm>
            <a:off x="804672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Travaux manuels en classe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Hands-on crafts in class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Activités extrascolaires : excursion / pique-nique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Extracurricular activities: excursion / picnic</a:t>
            </a:r>
            <a:endParaRPr lang="en-US" sz="2000" dirty="0"/>
          </a:p>
        </p:txBody>
      </p:sp>
      <p:sp>
        <p:nvSpPr>
          <p:cNvPr id="5" name="Excursion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Organisation d’une excursion / d’un pique-nique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Organisation of an excursion / picnic</a:t>
            </a:r>
            <a:endParaRPr lang="en-US" sz="1900" dirty="0"/>
          </a:p>
        </p:txBody>
      </p:sp>
      <p:pic>
        <p:nvPicPr>
          <p:cNvPr id="9" name="Photo pique-nique 1" descr="Les enfants et les enseignants au pique-nique, Village Madib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2103120" cy="2807208"/>
          </a:xfrm>
          <a:prstGeom prst="rect">
            <a:avLst/>
          </a:prstGeom>
        </p:spPr>
      </p:pic>
      <p:pic>
        <p:nvPicPr>
          <p:cNvPr id="10" name="Photo pique-nique 2" descr="Les enfants et les enseignants au pique-nique, Village Madib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3017520"/>
            <a:ext cx="2103120" cy="2807208"/>
          </a:xfrm>
          <a:prstGeom prst="rect">
            <a:avLst/>
          </a:prstGeom>
        </p:spPr>
      </p:pic>
      <p:pic>
        <p:nvPicPr>
          <p:cNvPr id="11" name="Photo pique-nique 3" descr="Les enfants et les enseignants au pique-nique, Village Madib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017520"/>
            <a:ext cx="2103120" cy="2807208"/>
          </a:xfrm>
          <a:prstGeom prst="rect">
            <a:avLst/>
          </a:prstGeom>
        </p:spPr>
      </p:pic>
      <p:pic>
        <p:nvPicPr>
          <p:cNvPr id="12" name="Photo pique-nique 4" descr="Les enfants et les enseignants au pique-nique, Village Madib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912" y="3017520"/>
            <a:ext cx="2103120" cy="2807208"/>
          </a:xfrm>
          <a:prstGeom prst="rect">
            <a:avLst/>
          </a:prstGeom>
        </p:spPr>
      </p:pic>
      <p:pic>
        <p:nvPicPr>
          <p:cNvPr id="13" name="Photo pique-nique 5" descr="Les enfants et les enseignants au pique-nique, Village Madib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36" y="3017520"/>
            <a:ext cx="2103120" cy="2807208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Site de pique-nique, Village Madiba / Picnic site, Village Madiba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Clubs et activités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Presentation of each club by the experts</a:t>
            </a:r>
            <a:endParaRPr lang="en-US" sz="2000" dirty="0"/>
          </a:p>
        </p:txBody>
      </p:sp>
      <p:sp>
        <p:nvSpPr>
          <p:cNvPr id="5" name="Club 1"/>
          <p:cNvSpPr/>
          <p:nvPr/>
        </p:nvSpPr>
        <p:spPr>
          <a:xfrm>
            <a:off x="54864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 club"/>
          <p:cNvSpPr txBox="1"/>
          <p:nvPr/>
        </p:nvSpPr>
        <p:spPr>
          <a:xfrm>
            <a:off x="7772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1</a:t>
            </a:r>
            <a:endParaRPr lang="en-US" sz="1600" dirty="0"/>
          </a:p>
        </p:txBody>
      </p:sp>
      <p:sp>
        <p:nvSpPr>
          <p:cNvPr id="7" name="IMAGE À AJOUTER – image du club 1"/>
          <p:cNvSpPr/>
          <p:nvPr/>
        </p:nvSpPr>
        <p:spPr>
          <a:xfrm>
            <a:off x="73152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88493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86868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1</a:t>
            </a:r>
            <a:endParaRPr lang="en-US" sz="1400" dirty="0"/>
          </a:p>
        </p:txBody>
      </p:sp>
      <p:sp>
        <p:nvSpPr>
          <p:cNvPr id="10" name="Nom club"/>
          <p:cNvSpPr txBox="1"/>
          <p:nvPr/>
        </p:nvSpPr>
        <p:spPr>
          <a:xfrm>
            <a:off x="77724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Media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900" dirty="0"/>
          </a:p>
        </p:txBody>
      </p:sp>
      <p:sp>
        <p:nvSpPr>
          <p:cNvPr id="11" name="Club 2"/>
          <p:cNvSpPr/>
          <p:nvPr/>
        </p:nvSpPr>
        <p:spPr>
          <a:xfrm>
            <a:off x="429768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 club"/>
          <p:cNvSpPr txBox="1"/>
          <p:nvPr/>
        </p:nvSpPr>
        <p:spPr>
          <a:xfrm>
            <a:off x="452628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2</a:t>
            </a:r>
            <a:endParaRPr lang="en-US" sz="1600" dirty="0"/>
          </a:p>
        </p:txBody>
      </p:sp>
      <p:sp>
        <p:nvSpPr>
          <p:cNvPr id="13" name="IMAGE À AJOUTER – image du club 2"/>
          <p:cNvSpPr/>
          <p:nvPr/>
        </p:nvSpPr>
        <p:spPr>
          <a:xfrm>
            <a:off x="448056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4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84932"/>
            <a:ext cx="502920" cy="502920"/>
          </a:xfrm>
          <a:prstGeom prst="rect">
            <a:avLst/>
          </a:prstGeom>
        </p:spPr>
      </p:pic>
      <p:sp>
        <p:nvSpPr>
          <p:cNvPr id="15" name="Texte emplacement image"/>
          <p:cNvSpPr txBox="1"/>
          <p:nvPr/>
        </p:nvSpPr>
        <p:spPr>
          <a:xfrm>
            <a:off x="461772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2</a:t>
            </a:r>
            <a:endParaRPr lang="en-US" sz="1400" dirty="0"/>
          </a:p>
        </p:txBody>
      </p:sp>
      <p:sp>
        <p:nvSpPr>
          <p:cNvPr id="16" name="Nom club"/>
          <p:cNvSpPr txBox="1"/>
          <p:nvPr/>
        </p:nvSpPr>
        <p:spPr>
          <a:xfrm>
            <a:off x="452628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Information Technology (IT)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900" dirty="0"/>
          </a:p>
        </p:txBody>
      </p:sp>
      <p:sp>
        <p:nvSpPr>
          <p:cNvPr id="17" name="Club 3"/>
          <p:cNvSpPr/>
          <p:nvPr/>
        </p:nvSpPr>
        <p:spPr>
          <a:xfrm>
            <a:off x="804672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 club"/>
          <p:cNvSpPr txBox="1"/>
          <p:nvPr/>
        </p:nvSpPr>
        <p:spPr>
          <a:xfrm>
            <a:off x="827532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3</a:t>
            </a:r>
            <a:endParaRPr lang="en-US" sz="1600" dirty="0"/>
          </a:p>
        </p:txBody>
      </p:sp>
      <p:sp>
        <p:nvSpPr>
          <p:cNvPr id="19" name="IMAGE À AJOUTER – image du club 3"/>
          <p:cNvSpPr/>
          <p:nvPr/>
        </p:nvSpPr>
        <p:spPr>
          <a:xfrm>
            <a:off x="822960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0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884932"/>
            <a:ext cx="502920" cy="502920"/>
          </a:xfrm>
          <a:prstGeom prst="rect">
            <a:avLst/>
          </a:prstGeom>
        </p:spPr>
      </p:pic>
      <p:sp>
        <p:nvSpPr>
          <p:cNvPr id="21" name="Texte emplacement image"/>
          <p:cNvSpPr txBox="1"/>
          <p:nvPr/>
        </p:nvSpPr>
        <p:spPr>
          <a:xfrm>
            <a:off x="836676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22" name="Nom club"/>
          <p:cNvSpPr txBox="1"/>
          <p:nvPr/>
        </p:nvSpPr>
        <p:spPr>
          <a:xfrm>
            <a:off x="827532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À préciser / To be specified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1 : Media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u Media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Media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10" name="Activité 1"/>
          <p:cNvSpPr/>
          <p:nvPr/>
        </p:nvSpPr>
        <p:spPr>
          <a:xfrm>
            <a:off x="6355080" y="16916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473952" y="17556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47" y="1878543"/>
            <a:ext cx="266273" cy="266273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132320" y="17007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Photography</a:t>
            </a:r>
            <a:endParaRPr lang="en-US" sz="1600" dirty="0"/>
          </a:p>
        </p:txBody>
      </p:sp>
      <p:sp>
        <p:nvSpPr>
          <p:cNvPr id="14" name="Activité 2"/>
          <p:cNvSpPr/>
          <p:nvPr/>
        </p:nvSpPr>
        <p:spPr>
          <a:xfrm>
            <a:off x="6355080" y="242316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73952" y="248716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847" y="2610063"/>
            <a:ext cx="266273" cy="266273"/>
          </a:xfrm>
          <a:prstGeom prst="rect">
            <a:avLst/>
          </a:prstGeom>
        </p:spPr>
      </p:pic>
      <p:sp>
        <p:nvSpPr>
          <p:cNvPr id="17" name="Bilingual text"/>
          <p:cNvSpPr txBox="1"/>
          <p:nvPr/>
        </p:nvSpPr>
        <p:spPr>
          <a:xfrm>
            <a:off x="7132320" y="24323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Videography</a:t>
            </a:r>
            <a:endParaRPr lang="en-US" sz="1600" dirty="0"/>
          </a:p>
        </p:txBody>
      </p:sp>
      <p:sp>
        <p:nvSpPr>
          <p:cNvPr id="18" name="Activité 3"/>
          <p:cNvSpPr/>
          <p:nvPr/>
        </p:nvSpPr>
        <p:spPr>
          <a:xfrm>
            <a:off x="6355080" y="315468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73952" y="321868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847" y="3341583"/>
            <a:ext cx="266273" cy="26627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132320" y="31638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2" name="Badge free"/>
          <p:cNvSpPr txBox="1"/>
          <p:nvPr/>
        </p:nvSpPr>
        <p:spPr>
          <a:xfrm>
            <a:off x="10058400" y="3282696"/>
            <a:ext cx="1508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GRATUIT / FREE</a:t>
            </a:r>
            <a:endParaRPr lang="en-US" sz="1200" dirty="0"/>
          </a:p>
        </p:txBody>
      </p:sp>
      <p:sp>
        <p:nvSpPr>
          <p:cNvPr id="23" name="Activité 4"/>
          <p:cNvSpPr/>
          <p:nvPr/>
        </p:nvSpPr>
        <p:spPr>
          <a:xfrm>
            <a:off x="6355080" y="388620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73952" y="39502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4073103"/>
            <a:ext cx="266273" cy="26627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132320" y="389534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7" name="Activité 5"/>
          <p:cNvSpPr/>
          <p:nvPr/>
        </p:nvSpPr>
        <p:spPr>
          <a:xfrm>
            <a:off x="6355080" y="461772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6473952" y="46817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847" y="4804623"/>
            <a:ext cx="266273" cy="266273"/>
          </a:xfrm>
          <a:prstGeom prst="rect">
            <a:avLst/>
          </a:prstGeom>
        </p:spPr>
      </p:pic>
      <p:sp>
        <p:nvSpPr>
          <p:cNvPr id="30" name="Bilingual text"/>
          <p:cNvSpPr txBox="1"/>
          <p:nvPr/>
        </p:nvSpPr>
        <p:spPr>
          <a:xfrm>
            <a:off x="7132320" y="462686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Prise de parole en public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Public speaking</a:t>
            </a:r>
            <a:endParaRPr lang="en-US" sz="1600" dirty="0"/>
          </a:p>
        </p:txBody>
      </p:sp>
      <p:sp>
        <p:nvSpPr>
          <p:cNvPr id="31" name="Activité 6"/>
          <p:cNvSpPr/>
          <p:nvPr/>
        </p:nvSpPr>
        <p:spPr>
          <a:xfrm>
            <a:off x="6355080" y="53492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6473952" y="54132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5536143"/>
            <a:ext cx="266273" cy="266273"/>
          </a:xfrm>
          <a:prstGeom prst="rect">
            <a:avLst/>
          </a:prstGeom>
        </p:spPr>
      </p:pic>
      <p:sp>
        <p:nvSpPr>
          <p:cNvPr id="34" name="Bilingual text"/>
          <p:cNvSpPr txBox="1"/>
          <p:nvPr/>
        </p:nvSpPr>
        <p:spPr>
          <a:xfrm>
            <a:off x="7132320" y="53583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Art dramatique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Theatre acting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2 : Information Technology (IT)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e l’IT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de l’IT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10" name="Introduction IT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37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154326"/>
            <a:ext cx="309067" cy="309067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315200" y="173736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Introduction aux activités informatiques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IT activities</a:t>
            </a:r>
            <a:endParaRPr lang="en-US" sz="1800" dirty="0"/>
          </a:p>
        </p:txBody>
      </p:sp>
      <p:sp>
        <p:nvSpPr>
          <p:cNvPr id="14" name="À compléter"/>
          <p:cNvSpPr/>
          <p:nvPr/>
        </p:nvSpPr>
        <p:spPr>
          <a:xfrm>
            <a:off x="6355080" y="3154680"/>
            <a:ext cx="53035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15" name="À compléter texte"/>
          <p:cNvSpPr txBox="1"/>
          <p:nvPr/>
        </p:nvSpPr>
        <p:spPr>
          <a:xfrm>
            <a:off x="6583680" y="31546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Activités détaillées par l’expert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to be detailed by the expert.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3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 be specified</a:t>
            </a:r>
            <a:endParaRPr lang="en-US" sz="2000" dirty="0"/>
          </a:p>
        </p:txBody>
      </p:sp>
      <p:sp>
        <p:nvSpPr>
          <p:cNvPr id="5" name="IMAGE À AJOUTER – image du club 3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6355080" y="1691640"/>
            <a:ext cx="53035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6583680" y="16916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 du club et activités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name and activities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Merci de votre présence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Thank you for coming!</a:t>
            </a:r>
            <a:endParaRPr lang="en-US" sz="3200" dirty="0"/>
          </a:p>
        </p:txBody>
      </p:sp>
      <p:sp>
        <p:nvSpPr>
          <p:cNvPr id="7" name="Questions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Questions et échanges / Questions and discussion</a:t>
            </a:r>
            <a:endParaRPr lang="en-US" sz="22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PTA Meeting / Première réunion PTA – BCBS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2026-10-16T11:33:28Z</dcterms:created>
  <dcterms:modified xsi:type="dcterms:W3CDTF">2026-10-16T11:33:28Z</dcterms:modified>
</cp:coreProperties>
</file>