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gramme" id="{4FCC9B3C-421B-F4EA-3072-FEA398C3B9CE}">
          <p14:sldIdLst>
            <p14:sldId id="256"/>
            <p14:sldId id="257"/>
            <p14:sldId id="258"/>
          </p14:sldIdLst>
        </p14:section>
        <p14:section name="Rapport" id="{D93A3C38-3DA7-348E-F32F-CC34AEFE1A50}">
          <p14:sldIdLst>
            <p14:sldId id="259"/>
            <p14:sldId id="260"/>
            <p14:sldId id="261"/>
            <p14:sldId id="262"/>
          </p14:sldIdLst>
        </p14:section>
        <p14:section name="Vision et réalisations" id="{5097D7C7-9BDA-BE09-F42A-DEDEFC93871D}">
          <p14:sldIdLst>
            <p14:sldId id="263"/>
            <p14:sldId id="264"/>
            <p14:sldId id="265"/>
            <p14:sldId id="266"/>
          </p14:sldIdLst>
        </p14:section>
        <p14:section name="Activités et clubs" id="{A0561304-DF5C-6519-8A65-5C092E87BD94}">
          <p14:sldIdLst>
            <p14:sldId id="267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Moyenne /20</c:v>
                </c:pt>
              </c:strCache>
            </c:strRef>
          </c:tx>
          <c:spPr>
            <a:solidFill>
              <a:srgbClr val="1F5A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0C-48F7-9A40-B285DDD545F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A0C-48F7-9A40-B285DDD545F1}"/>
              </c:ext>
            </c:extLst>
          </c:dPt>
          <c:dPt>
            <c:idx val="2"/>
            <c:invertIfNegative val="0"/>
            <c:bubble3D val="0"/>
            <c:spPr>
              <a:solidFill>
                <a:srgbClr val="BD21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0C-48F7-9A40-B285DDD545F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A0C-48F7-9A40-B285DDD545F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A0C-48F7-9A40-B285DDD545F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A0C-48F7-9A40-B285DDD545F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A0C-48F7-9A40-B285DDD545F1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A0C-48F7-9A40-B285DDD545F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B2B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Class 1</c:v>
                </c:pt>
                <c:pt idx="1">
                  <c:v>Class 2</c:v>
                </c:pt>
                <c:pt idx="2">
                  <c:v>Class 3</c:v>
                </c:pt>
                <c:pt idx="3">
                  <c:v>Class 4</c:v>
                </c:pt>
                <c:pt idx="4">
                  <c:v>Class 5</c:v>
                </c:pt>
                <c:pt idx="5">
                  <c:v>Class 6</c:v>
                </c:pt>
                <c:pt idx="6">
                  <c:v>CM1</c:v>
                </c:pt>
                <c:pt idx="7">
                  <c:v>CM2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14.4</c:v>
                </c:pt>
                <c:pt idx="1">
                  <c:v>15.74</c:v>
                </c:pt>
                <c:pt idx="2">
                  <c:v>9.33</c:v>
                </c:pt>
                <c:pt idx="3">
                  <c:v>16.66</c:v>
                </c:pt>
                <c:pt idx="4">
                  <c:v>16.84</c:v>
                </c:pt>
                <c:pt idx="5">
                  <c:v>16.53</c:v>
                </c:pt>
                <c:pt idx="6">
                  <c:v>10.78</c:v>
                </c:pt>
                <c:pt idx="7">
                  <c:v>12.56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A0C-48F7-9A40-B285DDD545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B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D5E2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668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884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AJOUTER UNE IMAGE : cliquer sur le cadre en pointillés, puis Format de la forme &gt; Remplissage &gt; Image (ou Insertion &gt; Images, puis glisser l’image à la place du cadre et la mettre à la taille). Le cadre peut ensuite être supprimé.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points : hymne, mot du Directeur de campus, rapport de la direction pédagogique, vision et réalisations, activités extrascolaires, clubs.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Messages clés du Directeur de campus à ajouter.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Rapport sur la rentrée 2026 et programmes d’orientation destinés à tous les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Moyenne générale de l’école : 15,11 sur 20. 24 élèves évalués, 22 avec une moyenne supérieure ou égale à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Effectifs, élèves évalués, moyenne de classe sur 20, élèves avec une moyenne supérieure ou égale à 10, taux de réussite et répartition des cotes.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 lire les résultats de la première séquence (UA 1) : moyenne de classe sur 20, compétences évaluées, taux de réussite, cotes, et conseil aux parents.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de l’école : former des élèves bilingues, curieux, responsables et confiants. Cinq piliers : bilinguisme, apprentissage actif, apprentissage numérique, talents, valeurs. Texte à valider par la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d’activités d’apprentissage numérisées.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Approche hands-on, minds-on. Projets mensuels présentés par les élèves. Exemples : bouquet de fleurs, radio, cycle de l’eau, jardin de fleurs, arrosage quotidien.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Bouquet de fleurs, radio, cycle de l’eau, jardin de fleurs, arrosage quotidien et travaux manuels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Organisation d’une excursion ou d’un pique-nique. Photos des enfants sur le site de pique-nique, Village Madiba.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 de la réunion : questions des parents.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de/4e831f0f-b184-5886-b47e-eb817a26816e/scratchpad/pp3/asset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743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Bright Continent Bilingual School  ·  First PTA Meeting / Première réunion PTA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i="1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pta7_image-1-1.png"/><Relationship Id="rId12" Type="http://schemas.openxmlformats.org/officeDocument/2006/relationships/image" Target="../media/pta7_image-1-2.png"/><Relationship Id="rId13" Type="http://schemas.openxmlformats.org/officeDocument/2006/relationships/image" Target="../media/pta7_image-1-3.png"/><Relationship Id="rId14" Type="http://schemas.openxmlformats.org/officeDocument/2006/relationships/image" Target="../media/pta7_image-1-4.png"/><Relationship Id="rId15" Type="http://schemas.openxmlformats.org/officeDocument/2006/relationships/image" Target="../media/pta7_image-1-5.png"/><Relationship Id="rId16" Type="http://schemas.openxmlformats.org/officeDocument/2006/relationships/image" Target="../media/pta7_image-1-6.png"/><Relationship Id="rId17" Type="http://schemas.openxmlformats.org/officeDocument/2006/relationships/image" Target="../media/pta7_image-1-7.png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pta8_image-1-1.png"/><Relationship Id="rId12" Type="http://schemas.openxmlformats.org/officeDocument/2006/relationships/image" Target="../media/pta8_image-1-2.png"/><Relationship Id="rId13" Type="http://schemas.openxmlformats.org/officeDocument/2006/relationships/image" Target="../media/pta8_image-1-3.png"/><Relationship Id="rId14" Type="http://schemas.openxmlformats.org/officeDocument/2006/relationships/image" Target="../media/pta8_image-1-4.png"/><Relationship Id="rId15" Type="http://schemas.openxmlformats.org/officeDocument/2006/relationships/image" Target="../media/pta8_image-1-5.png"/><Relationship Id="rId16" Type="http://schemas.openxmlformats.org/officeDocument/2006/relationships/image" Target="../media/pta8_image-1-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548640"/>
            <a:ext cx="14630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o" descr="Logo Bright Continent Bilingual Scho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1280160" cy="1280160"/>
          </a:xfrm>
          <a:prstGeom prst="rect">
            <a:avLst/>
          </a:prstGeom>
        </p:spPr>
      </p:pic>
      <p:sp>
        <p:nvSpPr>
          <p:cNvPr id="4" name="Titre EN"/>
          <p:cNvSpPr txBox="1"/>
          <p:nvPr/>
        </p:nvSpPr>
        <p:spPr>
          <a:xfrm>
            <a:off x="548640" y="23774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FIRST PTA MEETING</a:t>
            </a:r>
            <a:endParaRPr lang="en-US" sz="4800" dirty="0"/>
          </a:p>
        </p:txBody>
      </p:sp>
      <p:sp>
        <p:nvSpPr>
          <p:cNvPr id="5" name="Titre FR"/>
          <p:cNvSpPr txBox="1"/>
          <p:nvPr/>
        </p:nvSpPr>
        <p:spPr>
          <a:xfrm>
            <a:off x="548640" y="33375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PREMIÈRE RÉUNION PTA</a:t>
            </a:r>
            <a:endParaRPr lang="en-US" sz="3000" dirty="0"/>
          </a:p>
        </p:txBody>
      </p:sp>
      <p:sp>
        <p:nvSpPr>
          <p:cNvPr id="6" name="Sous-titre"/>
          <p:cNvSpPr txBox="1"/>
          <p:nvPr/>
        </p:nvSpPr>
        <p:spPr>
          <a:xfrm>
            <a:off x="548640" y="40233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Parents – Enseignants / Parents – Teachers</a:t>
            </a:r>
            <a:endParaRPr lang="en-US" sz="1800" dirty="0"/>
          </a:p>
        </p:txBody>
      </p:sp>
      <p:sp>
        <p:nvSpPr>
          <p:cNvPr id="7" name="École"/>
          <p:cNvSpPr txBox="1"/>
          <p:nvPr/>
        </p:nvSpPr>
        <p:spPr>
          <a:xfrm>
            <a:off x="548640" y="5029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Bright Continent Bilingual School</a:t>
            </a:r>
            <a:endParaRPr lang="en-US" sz="2400" dirty="0"/>
          </a:p>
        </p:txBody>
      </p:sp>
      <p:sp>
        <p:nvSpPr>
          <p:cNvPr id="8" name="Contact"/>
          <p:cNvSpPr txBox="1"/>
          <p:nvPr/>
        </p:nvSpPr>
        <p:spPr>
          <a:xfrm>
            <a:off x="548640" y="5532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Dragage – Yaoundé  ·  +237 678 34 12 13</a:t>
            </a:r>
            <a:endParaRPr lang="en-US" sz="1800" dirty="0"/>
          </a:p>
        </p:txBody>
      </p:sp>
      <p:pic>
        <p:nvPicPr>
          <p:cNvPr id="10" name="Icon im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788920"/>
            <a:ext cx="548640" cy="548640"/>
          </a:xfrm>
          <a:prstGeom prst="rect">
            <a:avLst/>
          </a:prstGeom>
        </p:spPr>
      </p:pic>
      <p:sp>
        <p:nvSpPr>
          <p:cNvPr id="11" name="Texte emplacement image"/>
          <p:cNvSpPr txBox="1"/>
          <p:nvPr/>
        </p:nvSpPr>
        <p:spPr>
          <a:xfrm>
            <a:off x="7132320" y="34290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Insérer l’image ici / Insert image here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Photo de couverture : élèves, école, ou parents</a:t>
            </a:r>
            <a:endParaRPr lang="en-US" sz="15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1F31C45-92B4-D61F-DF22-5C1A69687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287" y="877072"/>
            <a:ext cx="5020807" cy="50208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Programme de la réunion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Programme / Agenda</a:t>
            </a:r>
            <a:endParaRPr lang="en-US" sz="2000" dirty="0"/>
          </a:p>
        </p:txBody>
      </p:sp>
      <p:sp>
        <p:nvSpPr>
          <p:cNvPr id="5" name="Point 1"/>
          <p:cNvSpPr/>
          <p:nvPr/>
        </p:nvSpPr>
        <p:spPr>
          <a:xfrm>
            <a:off x="548640" y="1691640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Numéro"/>
          <p:cNvSpPr txBox="1"/>
          <p:nvPr/>
        </p:nvSpPr>
        <p:spPr>
          <a:xfrm>
            <a:off x="685800" y="17830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Bilingual text"/>
          <p:cNvSpPr txBox="1"/>
          <p:nvPr/>
        </p:nvSpPr>
        <p:spPr>
          <a:xfrm>
            <a:off x="1371600" y="17099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Chant de l’hymne national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Singing of the National Anthem</a:t>
            </a:r>
            <a:endParaRPr lang="en-US" sz="1600" dirty="0"/>
          </a:p>
        </p:txBody>
      </p:sp>
      <p:sp>
        <p:nvSpPr>
          <p:cNvPr id="8" name="Point 2"/>
          <p:cNvSpPr/>
          <p:nvPr/>
        </p:nvSpPr>
        <p:spPr>
          <a:xfrm>
            <a:off x="548640" y="2441448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Numéro"/>
          <p:cNvSpPr txBox="1"/>
          <p:nvPr/>
        </p:nvSpPr>
        <p:spPr>
          <a:xfrm>
            <a:off x="685800" y="253288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Bilingual text"/>
          <p:cNvSpPr txBox="1"/>
          <p:nvPr/>
        </p:nvSpPr>
        <p:spPr>
          <a:xfrm>
            <a:off x="1371600" y="245973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mot du Directeur de campus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 word from the Campus Director</a:t>
            </a:r>
            <a:endParaRPr lang="en-US" sz="1600" dirty="0"/>
          </a:p>
        </p:txBody>
      </p:sp>
      <p:sp>
        <p:nvSpPr>
          <p:cNvPr id="11" name="Point 3"/>
          <p:cNvSpPr/>
          <p:nvPr/>
        </p:nvSpPr>
        <p:spPr>
          <a:xfrm>
            <a:off x="548640" y="3191256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Numéro"/>
          <p:cNvSpPr txBox="1"/>
          <p:nvPr/>
        </p:nvSpPr>
        <p:spPr>
          <a:xfrm>
            <a:off x="685800" y="328269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Bilingual text"/>
          <p:cNvSpPr txBox="1"/>
          <p:nvPr/>
        </p:nvSpPr>
        <p:spPr>
          <a:xfrm>
            <a:off x="1371600" y="320954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bureau de la direction pédagogique (Headteacher)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Headteacher’s Desk</a:t>
            </a:r>
            <a:endParaRPr lang="en-US" sz="1600" dirty="0"/>
          </a:p>
        </p:txBody>
      </p:sp>
      <p:sp>
        <p:nvSpPr>
          <p:cNvPr id="14" name="Point 4"/>
          <p:cNvSpPr/>
          <p:nvPr/>
        </p:nvSpPr>
        <p:spPr>
          <a:xfrm>
            <a:off x="548640" y="3941064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Numéro"/>
          <p:cNvSpPr txBox="1"/>
          <p:nvPr/>
        </p:nvSpPr>
        <p:spPr>
          <a:xfrm>
            <a:off x="685800" y="403250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Bilingual text"/>
          <p:cNvSpPr txBox="1"/>
          <p:nvPr/>
        </p:nvSpPr>
        <p:spPr>
          <a:xfrm>
            <a:off x="1371600" y="395935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Notre vision et nos réalisations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Our vision and achievements so far</a:t>
            </a:r>
            <a:endParaRPr lang="en-US" sz="1600" dirty="0"/>
          </a:p>
        </p:txBody>
      </p:sp>
      <p:sp>
        <p:nvSpPr>
          <p:cNvPr id="17" name="Point 5"/>
          <p:cNvSpPr/>
          <p:nvPr/>
        </p:nvSpPr>
        <p:spPr>
          <a:xfrm>
            <a:off x="548640" y="4690872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Numéro"/>
          <p:cNvSpPr txBox="1"/>
          <p:nvPr/>
        </p:nvSpPr>
        <p:spPr>
          <a:xfrm>
            <a:off x="685800" y="478231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Bilingual text"/>
          <p:cNvSpPr txBox="1"/>
          <p:nvPr/>
        </p:nvSpPr>
        <p:spPr>
          <a:xfrm>
            <a:off x="1371600" y="470916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Activités extrascolaires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Extracurricular activities</a:t>
            </a:r>
            <a:endParaRPr lang="en-US" sz="1600" dirty="0"/>
          </a:p>
        </p:txBody>
      </p:sp>
      <p:sp>
        <p:nvSpPr>
          <p:cNvPr id="20" name="Point 6"/>
          <p:cNvSpPr/>
          <p:nvPr/>
        </p:nvSpPr>
        <p:spPr>
          <a:xfrm>
            <a:off x="548640" y="5440680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Numéro"/>
          <p:cNvSpPr txBox="1"/>
          <p:nvPr/>
        </p:nvSpPr>
        <p:spPr>
          <a:xfrm>
            <a:off x="685800" y="55321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2" name="Bilingual text"/>
          <p:cNvSpPr txBox="1"/>
          <p:nvPr/>
        </p:nvSpPr>
        <p:spPr>
          <a:xfrm>
            <a:off x="1371600" y="545896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Clubs et activités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Clubs and activities</a:t>
            </a:r>
            <a:endParaRPr lang="en-US" sz="1600" dirty="0"/>
          </a:p>
        </p:txBody>
      </p:sp>
      <p:pic>
        <p:nvPicPr>
          <p:cNvPr id="24" name="Icon 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3273552"/>
            <a:ext cx="502920" cy="502920"/>
          </a:xfrm>
          <a:prstGeom prst="rect">
            <a:avLst/>
          </a:prstGeom>
        </p:spPr>
      </p:pic>
      <p:sp>
        <p:nvSpPr>
          <p:cNvPr id="25" name="Texte emplacement image"/>
          <p:cNvSpPr txBox="1"/>
          <p:nvPr/>
        </p:nvSpPr>
        <p:spPr>
          <a:xfrm>
            <a:off x="8001000" y="393192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photo : parents / école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77037587-6E05-475B-FDA6-EC6180706F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607" r="30182"/>
          <a:stretch/>
        </p:blipFill>
        <p:spPr>
          <a:xfrm>
            <a:off x="7863840" y="1746398"/>
            <a:ext cx="3988854" cy="40601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Le mot du Directeur 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A word from </a:t>
            </a:r>
            <a:r>
              <a:rPr lang="en-US" sz="2000" i="1">
                <a:solidFill>
                  <a:schemeClr val="accent6"/>
                </a:solidFill>
              </a:rPr>
              <a:t>the Director</a:t>
            </a:r>
            <a:endParaRPr lang="en-US" sz="2000" dirty="0"/>
          </a:p>
        </p:txBody>
      </p:sp>
      <p:sp>
        <p:nvSpPr>
          <p:cNvPr id="5" name="IMAGE À AJOUTER – portrait ou photo du Directeur de campus"/>
          <p:cNvSpPr/>
          <p:nvPr/>
        </p:nvSpPr>
        <p:spPr>
          <a:xfrm>
            <a:off x="548640" y="1691640"/>
            <a:ext cx="4023360" cy="438912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6" name="Icon 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60" y="3273552"/>
            <a:ext cx="502920" cy="502920"/>
          </a:xfrm>
          <a:prstGeom prst="rect">
            <a:avLst/>
          </a:prstGeom>
        </p:spPr>
      </p:pic>
      <p:sp>
        <p:nvSpPr>
          <p:cNvPr id="7" name="Texte emplacement image"/>
          <p:cNvSpPr txBox="1"/>
          <p:nvPr/>
        </p:nvSpPr>
        <p:spPr>
          <a:xfrm>
            <a:off x="685800" y="39319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portrait ou photo du Directeur de campus</a:t>
            </a:r>
            <a:endParaRPr lang="en-US" sz="1400" dirty="0"/>
          </a:p>
        </p:txBody>
      </p:sp>
      <p:sp>
        <p:nvSpPr>
          <p:cNvPr id="8" name="À compléter"/>
          <p:cNvSpPr/>
          <p:nvPr/>
        </p:nvSpPr>
        <p:spPr>
          <a:xfrm>
            <a:off x="4937760" y="1691640"/>
            <a:ext cx="6720840" cy="438912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dash"/>
          </a:ln>
        </p:spPr>
      </p:sp>
      <p:sp>
        <p:nvSpPr>
          <p:cNvPr id="9" name="À compléter texte"/>
          <p:cNvSpPr txBox="1"/>
          <p:nvPr/>
        </p:nvSpPr>
        <p:spPr>
          <a:xfrm>
            <a:off x="5166360" y="1691640"/>
            <a:ext cx="6263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À compléter / To be completed</a:t>
            </a:r>
            <a:endParaRPr lang="en-US" sz="15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Messages clés à ajouter.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Key messages to be added.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Le bureau de la direction pédagogique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The Headteacher’s Desk — Report on the resumption of the 2026 academic year</a:t>
            </a:r>
            <a:endParaRPr lang="en-US" sz="2000" dirty="0"/>
          </a:p>
        </p:txBody>
      </p:sp>
      <p:sp>
        <p:nvSpPr>
          <p:cNvPr id="5" name="Rapport"/>
          <p:cNvSpPr/>
          <p:nvPr/>
        </p:nvSpPr>
        <p:spPr>
          <a:xfrm>
            <a:off x="548640" y="169164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31520" y="2057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200046"/>
            <a:ext cx="309067" cy="309067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508760" y="173736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Rapport sur la rentrée scolaire 2026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Report on the resumption of the 2026 academic year</a:t>
            </a:r>
            <a:endParaRPr lang="en-US" sz="1800" dirty="0"/>
          </a:p>
        </p:txBody>
      </p:sp>
      <p:sp>
        <p:nvSpPr>
          <p:cNvPr id="9" name="IMAGE À AJOUTER – photos de la rentrée / de l’orientation des élèves"/>
          <p:cNvSpPr/>
          <p:nvPr/>
        </p:nvSpPr>
        <p:spPr>
          <a:xfrm>
            <a:off x="548640" y="3154680"/>
            <a:ext cx="51206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0" name="Icon im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4005072"/>
            <a:ext cx="502920" cy="502920"/>
          </a:xfrm>
          <a:prstGeom prst="rect">
            <a:avLst/>
          </a:prstGeom>
        </p:spPr>
      </p:pic>
      <p:sp>
        <p:nvSpPr>
          <p:cNvPr id="11" name="Texte emplacement image"/>
          <p:cNvSpPr txBox="1"/>
          <p:nvPr/>
        </p:nvSpPr>
        <p:spPr>
          <a:xfrm>
            <a:off x="685800" y="4663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photos de la rentrée / de l’orientation des élèves</a:t>
            </a:r>
            <a:endParaRPr lang="en-US" sz="1400" dirty="0"/>
          </a:p>
        </p:txBody>
      </p:sp>
      <p:sp>
        <p:nvSpPr>
          <p:cNvPr id="12" name="Titre orientation"/>
          <p:cNvSpPr txBox="1"/>
          <p:nvPr/>
        </p:nvSpPr>
        <p:spPr>
          <a:xfrm>
            <a:off x="6035040" y="169164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Programmes d’orientation pour tous les élèves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Orientation programmes held for all learners</a:t>
            </a:r>
            <a:endParaRPr lang="en-US" sz="1800" dirty="0"/>
          </a:p>
        </p:txBody>
      </p:sp>
      <p:sp>
        <p:nvSpPr>
          <p:cNvPr id="13" name="Orientation 1"/>
          <p:cNvSpPr/>
          <p:nvPr/>
        </p:nvSpPr>
        <p:spPr>
          <a:xfrm>
            <a:off x="6035040" y="2560320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172200" y="267919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874" y="2810866"/>
            <a:ext cx="285293" cy="285293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6858000" y="2578608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Présentation des activités d’apprentissage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Presentation of learning activities</a:t>
            </a:r>
            <a:endParaRPr lang="en-US" sz="1500" dirty="0"/>
          </a:p>
        </p:txBody>
      </p:sp>
      <p:sp>
        <p:nvSpPr>
          <p:cNvPr id="17" name="Orientation 2"/>
          <p:cNvSpPr/>
          <p:nvPr/>
        </p:nvSpPr>
        <p:spPr>
          <a:xfrm>
            <a:off x="6035040" y="3447288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874" y="3697834"/>
            <a:ext cx="285293" cy="285293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6858000" y="3465576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Explication des périodes et méthodes d’évaluation par chaque enseignant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Explanation of evaluation periods and methods by each teacher</a:t>
            </a:r>
            <a:endParaRPr lang="en-US" sz="1500" dirty="0"/>
          </a:p>
        </p:txBody>
      </p:sp>
      <p:sp>
        <p:nvSpPr>
          <p:cNvPr id="21" name="Orientation 3"/>
          <p:cNvSpPr/>
          <p:nvPr/>
        </p:nvSpPr>
        <p:spPr>
          <a:xfrm>
            <a:off x="6035040" y="4334256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874" y="4584802"/>
            <a:ext cx="285293" cy="285293"/>
          </a:xfrm>
          <a:prstGeom prst="rect">
            <a:avLst/>
          </a:prstGeom>
        </p:spPr>
      </p:pic>
      <p:sp>
        <p:nvSpPr>
          <p:cNvPr id="24" name="Bilingual text"/>
          <p:cNvSpPr txBox="1"/>
          <p:nvPr/>
        </p:nvSpPr>
        <p:spPr>
          <a:xfrm>
            <a:off x="6858000" y="4352544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Présentation du règlement intérieur, par M. Abdel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Presentation of school rules and regulations, by Mr Abdel</a:t>
            </a:r>
            <a:endParaRPr lang="en-US" sz="1500" dirty="0"/>
          </a:p>
        </p:txBody>
      </p:sp>
      <p:sp>
        <p:nvSpPr>
          <p:cNvPr id="25" name="Orientation 4"/>
          <p:cNvSpPr/>
          <p:nvPr/>
        </p:nvSpPr>
        <p:spPr>
          <a:xfrm>
            <a:off x="6035040" y="5221224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6172200" y="534009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3874" y="5471770"/>
            <a:ext cx="285293" cy="285293"/>
          </a:xfrm>
          <a:prstGeom prst="rect">
            <a:avLst/>
          </a:prstGeom>
        </p:spPr>
      </p:pic>
      <p:sp>
        <p:nvSpPr>
          <p:cNvPr id="28" name="Bilingual text"/>
          <p:cNvSpPr txBox="1"/>
          <p:nvPr/>
        </p:nvSpPr>
        <p:spPr>
          <a:xfrm>
            <a:off x="6858000" y="5239512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Accent sur la ponctualité, le respect et la discipline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Emphasis on punctuality, respect and discipline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Résultats de la première séquence (UA 1)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Results of the first sequence — Class 1 to CM2, report cards of 13 October 2026</a:t>
            </a:r>
            <a:endParaRPr lang="en-US" sz="2000" dirty="0"/>
          </a:p>
        </p:txBody>
      </p:sp>
      <p:sp>
        <p:nvSpPr>
          <p:cNvPr id="5" name="Chiffre clé 1"/>
          <p:cNvSpPr/>
          <p:nvPr/>
        </p:nvSpPr>
        <p:spPr>
          <a:xfrm>
            <a:off x="548640" y="1691640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Valeur"/>
          <p:cNvSpPr txBox="1"/>
          <p:nvPr/>
        </p:nvSpPr>
        <p:spPr>
          <a:xfrm>
            <a:off x="731520" y="176479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24</a:t>
            </a:r>
            <a:endParaRPr lang="en-US" sz="3400" dirty="0"/>
          </a:p>
        </p:txBody>
      </p:sp>
      <p:sp>
        <p:nvSpPr>
          <p:cNvPr id="7" name="Libellé"/>
          <p:cNvSpPr txBox="1"/>
          <p:nvPr/>
        </p:nvSpPr>
        <p:spPr>
          <a:xfrm>
            <a:off x="73152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élèves évalués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learners assessed</a:t>
            </a:r>
            <a:endParaRPr lang="en-US" sz="1600" dirty="0"/>
          </a:p>
        </p:txBody>
      </p:sp>
      <p:sp>
        <p:nvSpPr>
          <p:cNvPr id="8" name="Chiffre clé 2"/>
          <p:cNvSpPr/>
          <p:nvPr/>
        </p:nvSpPr>
        <p:spPr>
          <a:xfrm>
            <a:off x="548640" y="3172968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Valeur"/>
          <p:cNvSpPr txBox="1"/>
          <p:nvPr/>
        </p:nvSpPr>
        <p:spPr>
          <a:xfrm>
            <a:off x="731520" y="32461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15.11 / 20</a:t>
            </a:r>
            <a:endParaRPr lang="en-US" sz="3400" dirty="0"/>
          </a:p>
        </p:txBody>
      </p:sp>
      <p:sp>
        <p:nvSpPr>
          <p:cNvPr id="10" name="Libellé"/>
          <p:cNvSpPr txBox="1"/>
          <p:nvPr/>
        </p:nvSpPr>
        <p:spPr>
          <a:xfrm>
            <a:off x="731520" y="3904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moyenne générale de l’école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school general average</a:t>
            </a:r>
            <a:endParaRPr lang="en-US" sz="1600" dirty="0"/>
          </a:p>
        </p:txBody>
      </p:sp>
      <p:sp>
        <p:nvSpPr>
          <p:cNvPr id="11" name="Chiffre clé 3"/>
          <p:cNvSpPr/>
          <p:nvPr/>
        </p:nvSpPr>
        <p:spPr>
          <a:xfrm>
            <a:off x="548640" y="4654296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Valeur"/>
          <p:cNvSpPr txBox="1"/>
          <p:nvPr/>
        </p:nvSpPr>
        <p:spPr>
          <a:xfrm>
            <a:off x="731520" y="47274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22 sur 24</a:t>
            </a:r>
            <a:endParaRPr lang="en-US" sz="3400" dirty="0"/>
          </a:p>
        </p:txBody>
      </p:sp>
      <p:sp>
        <p:nvSpPr>
          <p:cNvPr id="13" name="Libellé"/>
          <p:cNvSpPr txBox="1"/>
          <p:nvPr/>
        </p:nvSpPr>
        <p:spPr>
          <a:xfrm>
            <a:off x="731520" y="53858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avec une moyenne ≥ 10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learners with an average ≥ 10</a:t>
            </a:r>
            <a:endParaRPr lang="en-US" sz="1600" dirty="0"/>
          </a:p>
        </p:txBody>
      </p:sp>
      <p:sp>
        <p:nvSpPr>
          <p:cNvPr id="14" name="Titre graphique"/>
          <p:cNvSpPr txBox="1"/>
          <p:nvPr/>
        </p:nvSpPr>
        <p:spPr>
          <a:xfrm>
            <a:off x="4663440" y="1691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Moyenne de classe sur 20 / Class average out of 20</a:t>
            </a:r>
            <a:endParaRPr lang="en-US" sz="18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663440" y="2103120"/>
          <a:ext cx="69951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Résultats par classe — UA 1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Results by class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4114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Évalués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 /20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Réussite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 / A / IP / 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4 / 2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5 / 2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0 /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 / 0 /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 / 0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 / 0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1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1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« Évalués » = élèves ayant au moins une note. / “Assessed” = learners with at least one mark.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Comment lire ces résultats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How to read these results</a:t>
            </a:r>
            <a:endParaRPr lang="en-US" sz="2000" dirty="0"/>
          </a:p>
        </p:txBody>
      </p:sp>
      <p:sp>
        <p:nvSpPr>
          <p:cNvPr id="5" name="Lecture 1"/>
          <p:cNvSpPr/>
          <p:nvPr/>
        </p:nvSpPr>
        <p:spPr>
          <a:xfrm>
            <a:off x="548640" y="1691640"/>
            <a:ext cx="685800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685800" y="18105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63" y="1946575"/>
            <a:ext cx="294803" cy="294803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417320" y="1709928"/>
            <a:ext cx="5897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 moyenne de classe est notée sur 20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class average is marked out of 20 — the higher it is, the stronger the results</a:t>
            </a:r>
            <a:endParaRPr lang="en-US" sz="1500" dirty="0"/>
          </a:p>
        </p:txBody>
      </p:sp>
      <p:sp>
        <p:nvSpPr>
          <p:cNvPr id="9" name="Lecture 2"/>
          <p:cNvSpPr/>
          <p:nvPr/>
        </p:nvSpPr>
        <p:spPr>
          <a:xfrm>
            <a:off x="548640" y="2578608"/>
            <a:ext cx="685800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685800" y="2697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863" y="2833543"/>
            <a:ext cx="294803" cy="294803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1417320" y="2596896"/>
            <a:ext cx="5897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Chaque moyenne est calculée sur les compétences réellement évaluées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Each average is calculated on the competencies actually assessed — not always on the same total</a:t>
            </a:r>
            <a:endParaRPr lang="en-US" sz="1500" dirty="0"/>
          </a:p>
        </p:txBody>
      </p:sp>
      <p:sp>
        <p:nvSpPr>
          <p:cNvPr id="13" name="Lecture 3"/>
          <p:cNvSpPr/>
          <p:nvPr/>
        </p:nvSpPr>
        <p:spPr>
          <a:xfrm>
            <a:off x="548640" y="3465576"/>
            <a:ext cx="685800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85800" y="35844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863" y="3720511"/>
            <a:ext cx="294803" cy="294803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1417320" y="3483864"/>
            <a:ext cx="5897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Réussite : la moyenne de l’élève est supérieure ou égale à 10 sur 20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Success: the learner’s average is 10 out of 20 or above. The success rate is the share who reach it</a:t>
            </a:r>
            <a:endParaRPr lang="en-US" sz="1500" dirty="0"/>
          </a:p>
        </p:txBody>
      </p:sp>
      <p:sp>
        <p:nvSpPr>
          <p:cNvPr id="17" name="Lecture 4"/>
          <p:cNvSpPr/>
          <p:nvPr/>
        </p:nvSpPr>
        <p:spPr>
          <a:xfrm>
            <a:off x="548640" y="4352544"/>
            <a:ext cx="685800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685800" y="447141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863" y="4607479"/>
            <a:ext cx="294803" cy="294803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1417320" y="4370832"/>
            <a:ext cx="5897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Les cotes expriment le niveau : A+ (le plus haut), A, IP, NA (le plus bas)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Grades show the level: A+ (highest), A, IP, NA (lowest)</a:t>
            </a:r>
            <a:endParaRPr lang="en-US" sz="1500" dirty="0"/>
          </a:p>
        </p:txBody>
      </p:sp>
      <p:sp>
        <p:nvSpPr>
          <p:cNvPr id="21" name="Lecture 5"/>
          <p:cNvSpPr/>
          <p:nvPr/>
        </p:nvSpPr>
        <p:spPr>
          <a:xfrm>
            <a:off x="548640" y="5239512"/>
            <a:ext cx="685800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685800" y="535838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863" y="5494447"/>
            <a:ext cx="294803" cy="294803"/>
          </a:xfrm>
          <a:prstGeom prst="rect">
            <a:avLst/>
          </a:prstGeom>
        </p:spPr>
      </p:pic>
      <p:sp>
        <p:nvSpPr>
          <p:cNvPr id="24" name="Bilingual text"/>
          <p:cNvSpPr txBox="1"/>
          <p:nvPr/>
        </p:nvSpPr>
        <p:spPr>
          <a:xfrm>
            <a:off x="1417320" y="5257800"/>
            <a:ext cx="5897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 UA 1 est un point de départ pour accompagner chaque enfant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UA 1 is a starting point to support each child</a:t>
            </a:r>
            <a:endParaRPr lang="en-US" sz="1500" dirty="0"/>
          </a:p>
        </p:txBody>
      </p:sp>
      <p:sp>
        <p:nvSpPr>
          <p:cNvPr id="25" name="Conseil aux parents"/>
          <p:cNvSpPr/>
          <p:nvPr/>
        </p:nvSpPr>
        <p:spPr>
          <a:xfrm>
            <a:off x="7726680" y="1691640"/>
            <a:ext cx="39319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786384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84541" y="1949501"/>
            <a:ext cx="261518" cy="261518"/>
          </a:xfrm>
          <a:prstGeom prst="rect">
            <a:avLst/>
          </a:prstGeom>
        </p:spPr>
      </p:pic>
      <p:sp>
        <p:nvSpPr>
          <p:cNvPr id="28" name="Conseil texte"/>
          <p:cNvSpPr txBox="1"/>
          <p:nvPr/>
        </p:nvSpPr>
        <p:spPr>
          <a:xfrm>
            <a:off x="8458200" y="173736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Conseil aux parents / Tip for parents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Parlez des résultats avec votre enfant et avec l’enseignant ; encouragez les progrès, pas seulement les notes.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Talk about the results with your child and the teacher; encourage progress, not only marks.</a:t>
            </a:r>
            <a:endParaRPr lang="en-US" sz="1500" dirty="0"/>
          </a:p>
        </p:txBody>
      </p:sp>
      <p:sp>
        <p:nvSpPr>
          <p:cNvPr id="29" name="IMAGE À AJOUTER – parent et enseignante"/>
          <p:cNvSpPr/>
          <p:nvPr/>
        </p:nvSpPr>
        <p:spPr>
          <a:xfrm>
            <a:off x="7726680" y="3657600"/>
            <a:ext cx="39319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30" name="Icon image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63840" y="3749040"/>
            <a:ext cx="329184" cy="329184"/>
          </a:xfrm>
          <a:prstGeom prst="rect">
            <a:avLst/>
          </a:prstGeom>
        </p:spPr>
      </p:pic>
      <p:sp>
        <p:nvSpPr>
          <p:cNvPr id="31" name="Prompt ChatGPT"/>
          <p:cNvSpPr txBox="1"/>
          <p:nvPr/>
        </p:nvSpPr>
        <p:spPr>
          <a:xfrm>
            <a:off x="8275320" y="3749040"/>
            <a:ext cx="3246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 à ajouter / Image to add — prompt ChatGPT :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« Image réaliste et chaleureuse, format 16:9. Dans une salle de classe lumineuse d’une école de Yaoundé, une enseignante africaine montre un bulletin scolaire à une maman et à son fils de 8 ans en tee-shirt bleu et noir. Ambiance bienveillante, sourires. Aucun texte lisible, ni logo, ni filigrane. 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Notre vision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Our vision</a:t>
            </a:r>
            <a:endParaRPr lang="en-US" sz="2000" dirty="0"/>
          </a:p>
        </p:txBody>
      </p:sp>
      <p:sp>
        <p:nvSpPr>
          <p:cNvPr id="5" name="Vision card"/>
          <p:cNvSpPr/>
          <p:nvPr/>
        </p:nvSpPr>
        <p:spPr>
          <a:xfrm>
            <a:off x="548640" y="1691640"/>
            <a:ext cx="6858000" cy="2286000"/>
          </a:xfrm>
          <a:prstGeom prst="roundRect">
            <a:avLst>
              <a:gd name="adj" fmla="val 48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Vision texte"/>
          <p:cNvSpPr txBox="1"/>
          <p:nvPr/>
        </p:nvSpPr>
        <p:spPr>
          <a:xfrm>
            <a:off x="777240" y="178308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Former des élèves bilingues, curieux, responsables et confiants, capables de découvrir et de développer leurs talents, de réussir dans un monde numérique et de contribuer positivement à leur pays et à leur communauté.</a:t>
            </a:r>
            <a:endParaRPr lang="en-US" sz="18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To nurture bilingual, curious, responsible and confident learners who discover and develop their talents, thrive in a digital world, and contribute positively to their country and community.</a:t>
            </a:r>
            <a:endParaRPr lang="en-US" sz="1800" dirty="0"/>
          </a:p>
        </p:txBody>
      </p:sp>
      <p:sp>
        <p:nvSpPr>
          <p:cNvPr id="7" name="Pilier Bilinguisme"/>
          <p:cNvSpPr/>
          <p:nvPr/>
        </p:nvSpPr>
        <p:spPr>
          <a:xfrm>
            <a:off x="548640" y="4160520"/>
            <a:ext cx="1280160" cy="19202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Icon circle"/>
          <p:cNvSpPr/>
          <p:nvPr/>
        </p:nvSpPr>
        <p:spPr>
          <a:xfrm>
            <a:off x="96012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9848" y="4361688"/>
            <a:ext cx="237744" cy="237744"/>
          </a:xfrm>
          <a:prstGeom prst="rect">
            <a:avLst/>
          </a:prstGeom>
        </p:spPr>
      </p:pic>
      <p:sp>
        <p:nvSpPr>
          <p:cNvPr id="10" name="Pilier texte"/>
          <p:cNvSpPr txBox="1"/>
          <p:nvPr/>
        </p:nvSpPr>
        <p:spPr>
          <a:xfrm>
            <a:off x="612648" y="4754880"/>
            <a:ext cx="1152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Bilinguisme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Bilingualism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Maîtriser le français et l’anglais</a:t>
            </a:r>
            <a:endParaRPr lang="en-US" sz="1200" dirty="0"/>
          </a:p>
        </p:txBody>
      </p:sp>
      <p:sp>
        <p:nvSpPr>
          <p:cNvPr id="11" name="Pilier Apprentissage actif"/>
          <p:cNvSpPr/>
          <p:nvPr/>
        </p:nvSpPr>
        <p:spPr>
          <a:xfrm>
            <a:off x="1920240" y="4160520"/>
            <a:ext cx="1280160" cy="19202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233172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41448" y="4361688"/>
            <a:ext cx="237744" cy="237744"/>
          </a:xfrm>
          <a:prstGeom prst="rect">
            <a:avLst/>
          </a:prstGeom>
        </p:spPr>
      </p:pic>
      <p:sp>
        <p:nvSpPr>
          <p:cNvPr id="14" name="Pilier texte"/>
          <p:cNvSpPr txBox="1"/>
          <p:nvPr/>
        </p:nvSpPr>
        <p:spPr>
          <a:xfrm>
            <a:off x="1984248" y="4754880"/>
            <a:ext cx="1152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Apprentissage actif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Active learning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Projets mensuels, hands-on, minds-on</a:t>
            </a:r>
            <a:endParaRPr lang="en-US" sz="1200" dirty="0"/>
          </a:p>
        </p:txBody>
      </p:sp>
      <p:sp>
        <p:nvSpPr>
          <p:cNvPr id="15" name="Pilier Numérique"/>
          <p:cNvSpPr/>
          <p:nvPr/>
        </p:nvSpPr>
        <p:spPr>
          <a:xfrm>
            <a:off x="3291840" y="4160520"/>
            <a:ext cx="1280160" cy="19202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370332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3048" y="4361688"/>
            <a:ext cx="237744" cy="237744"/>
          </a:xfrm>
          <a:prstGeom prst="rect">
            <a:avLst/>
          </a:prstGeom>
        </p:spPr>
      </p:pic>
      <p:sp>
        <p:nvSpPr>
          <p:cNvPr id="18" name="Pilier texte"/>
          <p:cNvSpPr txBox="1"/>
          <p:nvPr/>
        </p:nvSpPr>
        <p:spPr>
          <a:xfrm>
            <a:off x="3355848" y="4754880"/>
            <a:ext cx="1152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Numérique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Digital learning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 technologie au service des élèves</a:t>
            </a:r>
            <a:endParaRPr lang="en-US" sz="1200" dirty="0"/>
          </a:p>
        </p:txBody>
      </p:sp>
      <p:sp>
        <p:nvSpPr>
          <p:cNvPr id="19" name="Pilier Talents"/>
          <p:cNvSpPr/>
          <p:nvPr/>
        </p:nvSpPr>
        <p:spPr>
          <a:xfrm>
            <a:off x="4663440" y="4160520"/>
            <a:ext cx="1280160" cy="19202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Icon circle"/>
          <p:cNvSpPr/>
          <p:nvPr/>
        </p:nvSpPr>
        <p:spPr>
          <a:xfrm>
            <a:off x="507492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4648" y="4361688"/>
            <a:ext cx="237744" cy="237744"/>
          </a:xfrm>
          <a:prstGeom prst="rect">
            <a:avLst/>
          </a:prstGeom>
        </p:spPr>
      </p:pic>
      <p:sp>
        <p:nvSpPr>
          <p:cNvPr id="22" name="Pilier texte"/>
          <p:cNvSpPr txBox="1"/>
          <p:nvPr/>
        </p:nvSpPr>
        <p:spPr>
          <a:xfrm>
            <a:off x="4727448" y="4754880"/>
            <a:ext cx="1152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Talents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Talents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Clubs et activités pour s’épanouir</a:t>
            </a:r>
            <a:endParaRPr lang="en-US" sz="1200" dirty="0"/>
          </a:p>
        </p:txBody>
      </p:sp>
      <p:sp>
        <p:nvSpPr>
          <p:cNvPr id="23" name="Pilier Valeurs"/>
          <p:cNvSpPr/>
          <p:nvPr/>
        </p:nvSpPr>
        <p:spPr>
          <a:xfrm>
            <a:off x="6035040" y="4160520"/>
            <a:ext cx="1280160" cy="19202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644652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6248" y="4361688"/>
            <a:ext cx="237744" cy="237744"/>
          </a:xfrm>
          <a:prstGeom prst="rect">
            <a:avLst/>
          </a:prstGeom>
        </p:spPr>
      </p:pic>
      <p:sp>
        <p:nvSpPr>
          <p:cNvPr id="26" name="Pilier texte"/>
          <p:cNvSpPr txBox="1"/>
          <p:nvPr/>
        </p:nvSpPr>
        <p:spPr>
          <a:xfrm>
            <a:off x="6099048" y="4754880"/>
            <a:ext cx="1152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Valeurs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Values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Ponctualité, respect et discipline</a:t>
            </a:r>
            <a:endParaRPr lang="en-US" sz="1200" dirty="0"/>
          </a:p>
        </p:txBody>
      </p:sp>
      <p:sp>
        <p:nvSpPr>
          <p:cNvPr id="27" name="IMAGE À AJOUTER – vision"/>
          <p:cNvSpPr/>
          <p:nvPr/>
        </p:nvSpPr>
        <p:spPr>
          <a:xfrm>
            <a:off x="7726680" y="1691640"/>
            <a:ext cx="3931920" cy="43891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28" name="Icon image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63840" y="1828800"/>
            <a:ext cx="365760" cy="365760"/>
          </a:xfrm>
          <a:prstGeom prst="rect">
            <a:avLst/>
          </a:prstGeom>
        </p:spPr>
      </p:pic>
      <p:sp>
        <p:nvSpPr>
          <p:cNvPr id="29" name="Prompt ChatGPT"/>
          <p:cNvSpPr txBox="1"/>
          <p:nvPr/>
        </p:nvSpPr>
        <p:spPr>
          <a:xfrm>
            <a:off x="7909560" y="228600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 à ajouter / Image to add — prompt ChatGPT :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« Image réaliste et lumineuse, format portrait 4:5. Un groupe d’élèves africains de 8 à 12 ans, en tee-shirts bleu et noir, souriants et tournés vers l’avenir, dans la cour d’une école de Yaoundé : l’un tient un livre, une fille une tablette, un garçon une plante en pot, un autre un ballon. Lumière dorée du matin. Aucun texte lisible, ni logo, ni filigrane. 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Nos réalisations : l’apprentissage numérique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Our achievements: digitalised learning</a:t>
            </a:r>
            <a:endParaRPr lang="en-US" sz="2000" dirty="0"/>
          </a:p>
        </p:txBody>
      </p:sp>
      <p:sp>
        <p:nvSpPr>
          <p:cNvPr id="5" name="Digitalised learning"/>
          <p:cNvSpPr/>
          <p:nvPr/>
        </p:nvSpPr>
        <p:spPr>
          <a:xfrm>
            <a:off x="548640" y="1691640"/>
            <a:ext cx="11109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062886"/>
            <a:ext cx="309067" cy="309067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600200" y="1737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Introduction d’activités d’apprentissage numérisées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Introduction of digitalised learning activities</a:t>
            </a:r>
            <a:endParaRPr lang="en-US" sz="1900" dirty="0"/>
          </a:p>
        </p:txBody>
      </p:sp>
      <p:sp>
        <p:nvSpPr>
          <p:cNvPr id="9" name="IMAGE À AJOUTER – élèves en activité numérique"/>
          <p:cNvSpPr/>
          <p:nvPr/>
        </p:nvSpPr>
        <p:spPr>
          <a:xfrm>
            <a:off x="54864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0" name="Icon im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3936492"/>
            <a:ext cx="502920" cy="502920"/>
          </a:xfrm>
          <a:prstGeom prst="rect">
            <a:avLst/>
          </a:prstGeom>
        </p:spPr>
      </p:pic>
      <p:sp>
        <p:nvSpPr>
          <p:cNvPr id="11" name="Texte emplacement image"/>
          <p:cNvSpPr txBox="1"/>
          <p:nvPr/>
        </p:nvSpPr>
        <p:spPr>
          <a:xfrm>
            <a:off x="68580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élèves en activité numérique</a:t>
            </a:r>
            <a:endParaRPr lang="en-US" sz="1400" dirty="0"/>
          </a:p>
        </p:txBody>
      </p:sp>
      <p:sp>
        <p:nvSpPr>
          <p:cNvPr id="12" name="IMAGE À AJOUTER – salle ou équipement"/>
          <p:cNvSpPr/>
          <p:nvPr/>
        </p:nvSpPr>
        <p:spPr>
          <a:xfrm>
            <a:off x="429768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3" name="Icon im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936492"/>
            <a:ext cx="502920" cy="502920"/>
          </a:xfrm>
          <a:prstGeom prst="rect">
            <a:avLst/>
          </a:prstGeom>
        </p:spPr>
      </p:pic>
      <p:sp>
        <p:nvSpPr>
          <p:cNvPr id="14" name="Texte emplacement image"/>
          <p:cNvSpPr txBox="1"/>
          <p:nvPr/>
        </p:nvSpPr>
        <p:spPr>
          <a:xfrm>
            <a:off x="443484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salle ou équipement</a:t>
            </a:r>
            <a:endParaRPr lang="en-US" sz="1400" dirty="0"/>
          </a:p>
        </p:txBody>
      </p:sp>
      <p:sp>
        <p:nvSpPr>
          <p:cNvPr id="15" name="IMAGE À AJOUTER – projet numérique"/>
          <p:cNvSpPr/>
          <p:nvPr/>
        </p:nvSpPr>
        <p:spPr>
          <a:xfrm>
            <a:off x="804672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6" name="Icon im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936492"/>
            <a:ext cx="502920" cy="502920"/>
          </a:xfrm>
          <a:prstGeom prst="rect">
            <a:avLst/>
          </a:prstGeom>
        </p:spPr>
      </p:pic>
      <p:sp>
        <p:nvSpPr>
          <p:cNvPr id="17" name="Texte emplacement image"/>
          <p:cNvSpPr txBox="1"/>
          <p:nvPr/>
        </p:nvSpPr>
        <p:spPr>
          <a:xfrm>
            <a:off x="818388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projet numérique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Nos réalisations : l’apprentissage par projets (PBL)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Our achievements: Project-Based Learning</a:t>
            </a:r>
            <a:endParaRPr lang="en-US" sz="2000" dirty="0"/>
          </a:p>
        </p:txBody>
      </p:sp>
      <p:sp>
        <p:nvSpPr>
          <p:cNvPr id="5" name="PBL 1"/>
          <p:cNvSpPr/>
          <p:nvPr/>
        </p:nvSpPr>
        <p:spPr>
          <a:xfrm>
            <a:off x="548640" y="169164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31520" y="19110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83" y="2047159"/>
            <a:ext cx="294803" cy="294803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508760" y="1719072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Apprendre en faisant et en réfléchissant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Hands-on, minds-on learning approach</a:t>
            </a:r>
            <a:endParaRPr lang="en-US" sz="1600" dirty="0"/>
          </a:p>
        </p:txBody>
      </p:sp>
      <p:sp>
        <p:nvSpPr>
          <p:cNvPr id="9" name="PBL 2"/>
          <p:cNvSpPr/>
          <p:nvPr/>
        </p:nvSpPr>
        <p:spPr>
          <a:xfrm>
            <a:off x="6217920" y="169164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6400800" y="19110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63" y="2047159"/>
            <a:ext cx="294803" cy="294803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7178040" y="1719072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Projets mensuels présentés par les élèves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Monthly projects presented by learners</a:t>
            </a:r>
            <a:endParaRPr lang="en-US" sz="1600" dirty="0"/>
          </a:p>
        </p:txBody>
      </p:sp>
      <p:sp>
        <p:nvSpPr>
          <p:cNvPr id="13" name="Sous-titre exemples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Exemples de projets et d’activités / Examples of projects and activities</a:t>
            </a:r>
            <a:endParaRPr lang="en-US" sz="1800" dirty="0"/>
          </a:p>
        </p:txBody>
      </p:sp>
      <p:pic>
        <p:nvPicPr>
          <p:cNvPr id="14" name="Photo Bouquet de fleurs" descr="Bouquet de fleu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37560"/>
            <a:ext cx="2103120" cy="1691640"/>
          </a:xfrm>
          <a:prstGeom prst="rect">
            <a:avLst/>
          </a:prstGeom>
        </p:spPr>
      </p:pic>
      <p:sp>
        <p:nvSpPr>
          <p:cNvPr id="15" name="Légende"/>
          <p:cNvSpPr txBox="1"/>
          <p:nvPr/>
        </p:nvSpPr>
        <p:spPr>
          <a:xfrm>
            <a:off x="54864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Bouquet de fleurs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Bouquet of flowers</a:t>
            </a:r>
            <a:endParaRPr lang="en-US" sz="1400" dirty="0"/>
          </a:p>
        </p:txBody>
      </p:sp>
      <p:pic>
        <p:nvPicPr>
          <p:cNvPr id="16" name="Photo Radio" descr="Rad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3337560"/>
            <a:ext cx="2103120" cy="1691640"/>
          </a:xfrm>
          <a:prstGeom prst="rect">
            <a:avLst/>
          </a:prstGeom>
        </p:spPr>
      </p:pic>
      <p:sp>
        <p:nvSpPr>
          <p:cNvPr id="17" name="Légende"/>
          <p:cNvSpPr txBox="1"/>
          <p:nvPr/>
        </p:nvSpPr>
        <p:spPr>
          <a:xfrm>
            <a:off x="278892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Radio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Radio</a:t>
            </a:r>
            <a:endParaRPr lang="en-US" sz="1400" dirty="0"/>
          </a:p>
        </p:txBody>
      </p:sp>
      <p:pic>
        <p:nvPicPr>
          <p:cNvPr id="18" name="Photo Cycle de l’eau" descr="Cycle de l’eau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337560"/>
            <a:ext cx="2103120" cy="1691640"/>
          </a:xfrm>
          <a:prstGeom prst="rect">
            <a:avLst/>
          </a:prstGeom>
        </p:spPr>
      </p:pic>
      <p:sp>
        <p:nvSpPr>
          <p:cNvPr id="19" name="Légende"/>
          <p:cNvSpPr txBox="1"/>
          <p:nvPr/>
        </p:nvSpPr>
        <p:spPr>
          <a:xfrm>
            <a:off x="502920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Cycle de l’eau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Water cycle</a:t>
            </a:r>
            <a:endParaRPr lang="en-US" sz="1400" dirty="0"/>
          </a:p>
        </p:txBody>
      </p:sp>
      <p:pic>
        <p:nvPicPr>
          <p:cNvPr id="20" name="Photo Jardin de fleurs" descr="Jardin de fleu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3337560"/>
            <a:ext cx="2103120" cy="1691640"/>
          </a:xfrm>
          <a:prstGeom prst="rect">
            <a:avLst/>
          </a:prstGeom>
        </p:spPr>
      </p:pic>
      <p:sp>
        <p:nvSpPr>
          <p:cNvPr id="21" name="Légende"/>
          <p:cNvSpPr txBox="1"/>
          <p:nvPr/>
        </p:nvSpPr>
        <p:spPr>
          <a:xfrm>
            <a:off x="726948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Jardin de fleurs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Flower garden</a:t>
            </a:r>
            <a:endParaRPr lang="en-US" sz="1400" dirty="0"/>
          </a:p>
        </p:txBody>
      </p:sp>
      <p:pic>
        <p:nvPicPr>
          <p:cNvPr id="22" name="Photo Arrosage quotidien des plantes par les enfants" descr="Arrosage quotidien des plantes par les enfant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3337560"/>
            <a:ext cx="2103120" cy="1691640"/>
          </a:xfrm>
          <a:prstGeom prst="rect">
            <a:avLst/>
          </a:prstGeom>
        </p:spPr>
      </p:pic>
      <p:sp>
        <p:nvSpPr>
          <p:cNvPr id="23" name="Légende"/>
          <p:cNvSpPr txBox="1"/>
          <p:nvPr/>
        </p:nvSpPr>
        <p:spPr>
          <a:xfrm>
            <a:off x="950976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Arrosage quotidien des plantes par les enfants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Daily watering of plants by children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Les projets mensuels en images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Monthly projects in pictures</a:t>
            </a:r>
            <a:endParaRPr lang="en-US" sz="2000" dirty="0"/>
          </a:p>
        </p:txBody>
      </p:sp>
      <p:pic>
        <p:nvPicPr>
          <p:cNvPr id="5" name="Photo Bouquet de fleurs — Class 2" descr="Bouquet de fleurs — Class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611880" cy="1783080"/>
          </a:xfrm>
          <a:prstGeom prst="rect">
            <a:avLst/>
          </a:prstGeom>
        </p:spPr>
      </p:pic>
      <p:sp>
        <p:nvSpPr>
          <p:cNvPr id="6" name="Légende"/>
          <p:cNvSpPr txBox="1"/>
          <p:nvPr/>
        </p:nvSpPr>
        <p:spPr>
          <a:xfrm>
            <a:off x="548640" y="345643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Bouquet de fleurs — Class 2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Bouquet of flowers — Class 2</a:t>
            </a:r>
            <a:endParaRPr lang="en-US" sz="1500" dirty="0"/>
          </a:p>
        </p:txBody>
      </p:sp>
      <p:pic>
        <p:nvPicPr>
          <p:cNvPr id="7" name="Photo Radio" descr="Rad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45920"/>
            <a:ext cx="3611880" cy="1783080"/>
          </a:xfrm>
          <a:prstGeom prst="rect">
            <a:avLst/>
          </a:prstGeom>
        </p:spPr>
      </p:pic>
      <p:sp>
        <p:nvSpPr>
          <p:cNvPr id="8" name="Légende"/>
          <p:cNvSpPr txBox="1"/>
          <p:nvPr/>
        </p:nvSpPr>
        <p:spPr>
          <a:xfrm>
            <a:off x="4297680" y="345643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Radio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Radio</a:t>
            </a:r>
            <a:endParaRPr lang="en-US" sz="1500" dirty="0"/>
          </a:p>
        </p:txBody>
      </p:sp>
      <p:pic>
        <p:nvPicPr>
          <p:cNvPr id="9" name="Photo Cycle de l’eau" descr="Cycle de l’ea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645920"/>
            <a:ext cx="3611880" cy="1783080"/>
          </a:xfrm>
          <a:prstGeom prst="rect">
            <a:avLst/>
          </a:prstGeom>
        </p:spPr>
      </p:pic>
      <p:sp>
        <p:nvSpPr>
          <p:cNvPr id="10" name="Légende"/>
          <p:cNvSpPr txBox="1"/>
          <p:nvPr/>
        </p:nvSpPr>
        <p:spPr>
          <a:xfrm>
            <a:off x="8046720" y="345643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Cycle de l’eau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Water cycle</a:t>
            </a:r>
            <a:endParaRPr lang="en-US" sz="1500" dirty="0"/>
          </a:p>
        </p:txBody>
      </p:sp>
      <p:pic>
        <p:nvPicPr>
          <p:cNvPr id="11" name="Photo Jardin de fleurs" descr="Jardin de fleu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3611880" cy="1783080"/>
          </a:xfrm>
          <a:prstGeom prst="rect">
            <a:avLst/>
          </a:prstGeom>
        </p:spPr>
      </p:pic>
      <p:sp>
        <p:nvSpPr>
          <p:cNvPr id="12" name="Légende"/>
          <p:cNvSpPr txBox="1"/>
          <p:nvPr/>
        </p:nvSpPr>
        <p:spPr>
          <a:xfrm>
            <a:off x="548640" y="57881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Jardin de fleurs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Flower garden</a:t>
            </a:r>
            <a:endParaRPr lang="en-US" sz="1500" dirty="0"/>
          </a:p>
        </p:txBody>
      </p:sp>
      <p:pic>
        <p:nvPicPr>
          <p:cNvPr id="13" name="Photo Arrosage quotidien des plantes" descr="Arrosage quotidien des plant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977640"/>
            <a:ext cx="3611880" cy="1783080"/>
          </a:xfrm>
          <a:prstGeom prst="rect">
            <a:avLst/>
          </a:prstGeom>
        </p:spPr>
      </p:pic>
      <p:sp>
        <p:nvSpPr>
          <p:cNvPr id="14" name="Légende"/>
          <p:cNvSpPr txBox="1"/>
          <p:nvPr/>
        </p:nvSpPr>
        <p:spPr>
          <a:xfrm>
            <a:off x="4297680" y="57881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Arrosage quotidien des plantes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Daily watering of plants</a:t>
            </a:r>
            <a:endParaRPr lang="en-US" sz="1500" dirty="0"/>
          </a:p>
        </p:txBody>
      </p:sp>
      <p:pic>
        <p:nvPicPr>
          <p:cNvPr id="15" name="Photo Travaux manuels en classe" descr="Travaux manuels en clas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977640"/>
            <a:ext cx="3611880" cy="1783080"/>
          </a:xfrm>
          <a:prstGeom prst="rect">
            <a:avLst/>
          </a:prstGeom>
        </p:spPr>
      </p:pic>
      <p:sp>
        <p:nvSpPr>
          <p:cNvPr id="16" name="Légende"/>
          <p:cNvSpPr txBox="1"/>
          <p:nvPr/>
        </p:nvSpPr>
        <p:spPr>
          <a:xfrm>
            <a:off x="8046720" y="57881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Travaux manuels en classe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Hands-on crafts in class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Activités extrascolaires : excursion / pique-nique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Extracurricular activities: excursion / picnic</a:t>
            </a:r>
            <a:endParaRPr lang="en-US" sz="2000" dirty="0"/>
          </a:p>
        </p:txBody>
      </p:sp>
      <p:sp>
        <p:nvSpPr>
          <p:cNvPr id="5" name="Excursion"/>
          <p:cNvSpPr/>
          <p:nvPr/>
        </p:nvSpPr>
        <p:spPr>
          <a:xfrm>
            <a:off x="548640" y="1691640"/>
            <a:ext cx="11109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062886"/>
            <a:ext cx="309067" cy="309067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600200" y="1737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Organisation d’une excursion / d’un pique-nique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Organisation of an excursion / picnic</a:t>
            </a:r>
            <a:endParaRPr lang="en-US" sz="1900" dirty="0"/>
          </a:p>
        </p:txBody>
      </p:sp>
      <p:pic>
        <p:nvPicPr>
          <p:cNvPr id="9" name="Photo pique-nique 1" descr="Les enfants et les enseignants au pique-nique, Village Madib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17520"/>
            <a:ext cx="2103120" cy="2807208"/>
          </a:xfrm>
          <a:prstGeom prst="rect">
            <a:avLst/>
          </a:prstGeom>
        </p:spPr>
      </p:pic>
      <p:pic>
        <p:nvPicPr>
          <p:cNvPr id="10" name="Photo pique-nique 2" descr="Les enfants et les enseignants au pique-nique, Village Madib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064" y="3017520"/>
            <a:ext cx="2103120" cy="2807208"/>
          </a:xfrm>
          <a:prstGeom prst="rect">
            <a:avLst/>
          </a:prstGeom>
        </p:spPr>
      </p:pic>
      <p:pic>
        <p:nvPicPr>
          <p:cNvPr id="11" name="Photo pique-nique 3" descr="Les enfants et les enseignants au pique-nique, Village Madib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017520"/>
            <a:ext cx="2103120" cy="2807208"/>
          </a:xfrm>
          <a:prstGeom prst="rect">
            <a:avLst/>
          </a:prstGeom>
        </p:spPr>
      </p:pic>
      <p:pic>
        <p:nvPicPr>
          <p:cNvPr id="12" name="Photo pique-nique 4" descr="Les enfants et les enseignants au pique-nique, Village Madib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3017520"/>
            <a:ext cx="2103120" cy="2807208"/>
          </a:xfrm>
          <a:prstGeom prst="rect">
            <a:avLst/>
          </a:prstGeom>
        </p:spPr>
      </p:pic>
      <p:pic>
        <p:nvPicPr>
          <p:cNvPr id="13" name="Photo pique-nique 5" descr="Les enfants et les enseignants au pique-nique, Village Madib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6336" y="3017520"/>
            <a:ext cx="2103120" cy="2807208"/>
          </a:xfrm>
          <a:prstGeom prst="rect">
            <a:avLst/>
          </a:prstGeom>
        </p:spPr>
      </p:pic>
      <p:sp>
        <p:nvSpPr>
          <p:cNvPr id="14" name="Légende"/>
          <p:cNvSpPr txBox="1"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Site de pique-nique, Village Madiba / Picnic site, Village Madiba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card"/>
          <p:cNvSpPr/>
          <p:nvPr/>
        </p:nvSpPr>
        <p:spPr>
          <a:xfrm>
            <a:off x="54864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" name="Logo" descr="Logo Bright Continent Bilingual Scho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30352"/>
            <a:ext cx="950976" cy="950976"/>
          </a:xfrm>
          <a:prstGeom prst="rect">
            <a:avLst/>
          </a:prstGeom>
        </p:spPr>
      </p:pic>
      <p:sp>
        <p:nvSpPr>
          <p:cNvPr id="5" name="Titre FR"/>
          <p:cNvSpPr txBox="1"/>
          <p:nvPr/>
        </p:nvSpPr>
        <p:spPr>
          <a:xfrm>
            <a:off x="548640" y="2194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de votre présence !</a:t>
            </a:r>
            <a:endParaRPr lang="en-US" sz="4800" dirty="0"/>
          </a:p>
        </p:txBody>
      </p:sp>
      <p:sp>
        <p:nvSpPr>
          <p:cNvPr id="6" name="Titre EN"/>
          <p:cNvSpPr txBox="1"/>
          <p:nvPr/>
        </p:nvSpPr>
        <p:spPr>
          <a:xfrm>
            <a:off x="548640" y="3063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Thank you for coming!</a:t>
            </a:r>
            <a:endParaRPr lang="en-US" sz="3200" dirty="0"/>
          </a:p>
        </p:txBody>
      </p:sp>
      <p:sp>
        <p:nvSpPr>
          <p:cNvPr id="7" name="Questions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Questions et échanges / Questions and discussion</a:t>
            </a:r>
            <a:endParaRPr lang="en-US" sz="2200" dirty="0"/>
          </a:p>
        </p:txBody>
      </p:sp>
      <p:sp>
        <p:nvSpPr>
          <p:cNvPr id="8" name="Contact"/>
          <p:cNvSpPr txBox="1"/>
          <p:nvPr/>
        </p:nvSpPr>
        <p:spPr>
          <a:xfrm>
            <a:off x="548640" y="5394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Bright Continent Bilingual School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Dragage – Yaoundé  ·  +237 678 34 12 13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CBS Clubs">
  <a:themeElements>
    <a:clrScheme name="BCBS Clubs">
      <a:dk1>
        <a:srgbClr val="1B2B22"/>
      </a:dk1>
      <a:lt1>
        <a:srgbClr val="FFFFFF"/>
      </a:lt1>
      <a:dk2>
        <a:srgbClr val="143D2A"/>
      </a:dk2>
      <a:lt2>
        <a:srgbClr val="EAF3EC"/>
      </a:lt2>
      <a:accent1>
        <a:srgbClr val="1F5A3A"/>
      </a:accent1>
      <a:accent2>
        <a:srgbClr val="F2B705"/>
      </a:accent2>
      <a:accent3>
        <a:srgbClr val="BD2124"/>
      </a:accent3>
      <a:accent4>
        <a:srgbClr val="0E7C86"/>
      </a:accent4>
      <a:accent5>
        <a:srgbClr val="6BA539"/>
      </a:accent5>
      <a:accent6>
        <a:srgbClr val="566860"/>
      </a:accent6>
      <a:hlink>
        <a:srgbClr val="0E7C86"/>
      </a:hlink>
      <a:folHlink>
        <a:srgbClr val="566860"/>
      </a:folHlink>
    </a:clrScheme>
    <a:fontScheme name="BCBS Club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1243</Words>
  <Application>Microsoft Office PowerPoint</Application>
  <PresentationFormat>Grand écran</PresentationFormat>
  <Paragraphs>240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BCBS Clubs</vt:lpstr>
      <vt:lpstr>Présentation PowerPoint</vt:lpstr>
      <vt:lpstr>Programme de la réunion</vt:lpstr>
      <vt:lpstr>Le mot du Directeur </vt:lpstr>
      <vt:lpstr>Le bureau de la direction pédagogique</vt:lpstr>
      <vt:lpstr>Résultats de la première séquence (UA 1)</vt:lpstr>
      <vt:lpstr>Résultats par classe — UA 1</vt:lpstr>
      <vt:lpstr>Comment lire ces résultats</vt:lpstr>
      <vt:lpstr>Notre vision</vt:lpstr>
      <vt:lpstr>Nos réalisations : l’apprentissage numérique</vt:lpstr>
      <vt:lpstr>Nos réalisations : l’apprentissage par projets (PBL)</vt:lpstr>
      <vt:lpstr>Les projets mensuels en images</vt:lpstr>
      <vt:lpstr>Activités extrascolaires : excursion / pique-nique</vt:lpstr>
      <vt:lpstr>Présentation PowerPoint</vt:lpstr>
    </vt:vector>
  </TitlesOfParts>
  <Company>Bright Continent Bilingual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PTA Meeting / Première réunion PTA – BCBS</dc:title>
  <dc:subject>PptxGenJS Presentation</dc:subject>
  <dc:creator>Bright Continent Bilingual School</dc:creator>
  <cp:lastModifiedBy>DELL</cp:lastModifiedBy>
  <cp:revision>5</cp:revision>
  <dcterms:created xsi:type="dcterms:W3CDTF">2026-10-16T11:39:47Z</dcterms:created>
  <dcterms:modified xsi:type="dcterms:W3CDTF">2026-10-17T07:49:12Z</dcterms:modified>
</cp:coreProperties>
</file>