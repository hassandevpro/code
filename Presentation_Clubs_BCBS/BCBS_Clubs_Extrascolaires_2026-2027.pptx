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30a302e-e7dc-13bd-48cf-c3289a2cb42b}">
          <p14:sldIdLst>
            <p14:sldId id="256"/>
            <p14:sldId id="257"/>
            <p14:sldId id="258"/>
          </p14:sldIdLst>
        </p14:section>
        <p14:section name="Les clubs" id="{3f4ec756-930a-dce1-6996-798fd6ba73c5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Tarifs et inscription" id="{b959a32c-5f14-d19c-a762-5a51c8e2a87c}">
          <p14:sldIdLst>
            <p14:sldId id="271"/>
            <p14:sldId id="272"/>
            <p14:sldId id="273"/>
            <p14:sldId id="274"/>
          </p14:sldIdLst>
        </p14:section>
        <p14:section name="Conclusion" id="{7647029b-4854-3790-4870-29ce4e296099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Bienvenue aux parents. Présentation des clubs extrascolaires 2026–2027 de Bright Continent Bilingual School.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objectifs : talents, créativité, confiance, équipe, compétences pratiques, avenir.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Sept clubs : santé, environnement, arts plastiques, médias, musique, sports, informatique.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Ces deux clubs sont gratuits, conformément au document de l’école.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Tarif : 25 000 FCFA par mois, selon le document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L’activité Journalism est gratuite.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Tarif : 30 000 FCFA par mois, selon le document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Tarif à confirmer par la direction : le document source contient deux montants différents.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 axes : production, montage, création de contenu, reportages, publication responsable.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Exemples de projets et chaîne de production complète, du scénario au respect des droits d’auteur.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Distinguer les activités gratuites (chant et rythme, flûte) des payantes (piano, guitare).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Football gratuit. Les trois formules payantes sont à 35 000 FCFA par mois.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Tarif : 50 000 FCFA par mois, selon la fiche d’inscription.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Tarif : 50 000 FCFA par mois, selon la fiche d’inscription.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Tarif : 50 000 FCFA par mois, selon la fiche d’inscription.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Montants repris à l’identique du document source. Les tarifs de Photography et Videography sont à confirmer par la direction.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Football gratuit ; formules sport payantes à 35 000 FCFA ; ICT à 50 000 FCFA par mois, selon la fiche d’inscription.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nombres laissés en blanc dans le document restent non renseignés jusqu’à confirmation de la direction.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Sept étapes simples. La fiche d’inscription est illustrée sans aucune donnée personnelle.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 : chaque enfant possède un talent. Invitation à remettre la fiche d’inscription à l’école.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ode/4e831f0f-b184-5886-b47e-eb817a26816e/scratchpad/pp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743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Bright Continent Bilingual School  ·  Clubs extrascolaires 2026–2027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i="1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card"/>
          <p:cNvSpPr/>
          <p:nvPr/>
        </p:nvSpPr>
        <p:spPr>
          <a:xfrm>
            <a:off x="548640" y="548640"/>
            <a:ext cx="1463040" cy="1463040"/>
          </a:xfrm>
          <a:prstGeom prst="roundRect">
            <a:avLst>
              <a:gd name="adj" fmla="val 937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3" name="Logo" descr="Logo Bright Continent Bilingual Scho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1280160" cy="1280160"/>
          </a:xfrm>
          <a:prstGeom prst="rect">
            <a:avLst/>
          </a:prstGeom>
        </p:spPr>
      </p:pic>
      <p:sp>
        <p:nvSpPr>
          <p:cNvPr id="4" name="Titre FR"/>
          <p:cNvSpPr txBox="1"/>
          <p:nvPr/>
        </p:nvSpPr>
        <p:spPr>
          <a:xfrm>
            <a:off x="548640" y="228600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CLUBS EXTRASCOLAIRES 2026–2027</a:t>
            </a:r>
            <a:endParaRPr lang="en-US" sz="4400" dirty="0"/>
          </a:p>
        </p:txBody>
      </p:sp>
      <p:sp>
        <p:nvSpPr>
          <p:cNvPr id="5" name="Titre EN"/>
          <p:cNvSpPr txBox="1"/>
          <p:nvPr/>
        </p:nvSpPr>
        <p:spPr>
          <a:xfrm>
            <a:off x="548640" y="37033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EXTRACURRICULAR CLUBS 2026–2027</a:t>
            </a:r>
            <a:endParaRPr lang="en-US" sz="2800" dirty="0"/>
          </a:p>
        </p:txBody>
      </p:sp>
      <p:sp>
        <p:nvSpPr>
          <p:cNvPr id="6" name="École"/>
          <p:cNvSpPr txBox="1"/>
          <p:nvPr/>
        </p:nvSpPr>
        <p:spPr>
          <a:xfrm>
            <a:off x="548640" y="48920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Bright Continent Bilingual School</a:t>
            </a:r>
            <a:endParaRPr lang="en-US" sz="2400" dirty="0"/>
          </a:p>
        </p:txBody>
      </p:sp>
      <p:sp>
        <p:nvSpPr>
          <p:cNvPr id="7" name="Contact"/>
          <p:cNvSpPr txBox="1"/>
          <p:nvPr/>
        </p:nvSpPr>
        <p:spPr>
          <a:xfrm>
            <a:off x="548640" y="53949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Dragage – Yaoundé  ·  +237 678 34 12 13</a:t>
            </a:r>
            <a:endParaRPr lang="en-US" sz="1800" dirty="0"/>
          </a:p>
        </p:txBody>
      </p:sp>
      <p:pic>
        <p:nvPicPr>
          <p:cNvPr id="8" name="Collage" descr="Élèves en activités : vidéo, journalisme, informatique, musique, photographie, sant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594360"/>
            <a:ext cx="502920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Pourquoi des clubs extrascolaires ?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Why extracurricular clubs?</a:t>
            </a:r>
            <a:endParaRPr lang="en-US" sz="2000" dirty="0"/>
          </a:p>
        </p:txBody>
      </p:sp>
      <p:sp>
        <p:nvSpPr>
          <p:cNvPr id="5" name="Objectif 1"/>
          <p:cNvSpPr/>
          <p:nvPr/>
        </p:nvSpPr>
        <p:spPr>
          <a:xfrm>
            <a:off x="548640" y="1691640"/>
            <a:ext cx="36118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822960" y="196596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48840"/>
            <a:ext cx="411480" cy="411480"/>
          </a:xfrm>
          <a:prstGeom prst="rect">
            <a:avLst/>
          </a:prstGeom>
        </p:spPr>
      </p:pic>
      <p:sp>
        <p:nvSpPr>
          <p:cNvPr id="8" name="Bilingual text"/>
          <p:cNvSpPr txBox="1"/>
          <p:nvPr/>
        </p:nvSpPr>
        <p:spPr>
          <a:xfrm>
            <a:off x="822960" y="28346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Découvrir et développer ses talents</a:t>
            </a:r>
            <a:endParaRPr lang="en-US" sz="19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Discover and develop talents</a:t>
            </a:r>
            <a:endParaRPr lang="en-US" sz="1900" dirty="0"/>
          </a:p>
        </p:txBody>
      </p:sp>
      <p:sp>
        <p:nvSpPr>
          <p:cNvPr id="9" name="Objectif 2"/>
          <p:cNvSpPr/>
          <p:nvPr/>
        </p:nvSpPr>
        <p:spPr>
          <a:xfrm>
            <a:off x="4389120" y="1691640"/>
            <a:ext cx="36118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Icon circle"/>
          <p:cNvSpPr/>
          <p:nvPr/>
        </p:nvSpPr>
        <p:spPr>
          <a:xfrm>
            <a:off x="4663440" y="196596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148840"/>
            <a:ext cx="411480" cy="411480"/>
          </a:xfrm>
          <a:prstGeom prst="rect">
            <a:avLst/>
          </a:prstGeom>
        </p:spPr>
      </p:pic>
      <p:sp>
        <p:nvSpPr>
          <p:cNvPr id="12" name="Bilingual text"/>
          <p:cNvSpPr txBox="1"/>
          <p:nvPr/>
        </p:nvSpPr>
        <p:spPr>
          <a:xfrm>
            <a:off x="4663440" y="28346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Développer la créativité et l’autonomie</a:t>
            </a:r>
            <a:endParaRPr lang="en-US" sz="19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Build creativity and independence</a:t>
            </a:r>
            <a:endParaRPr lang="en-US" sz="1900" dirty="0"/>
          </a:p>
        </p:txBody>
      </p:sp>
      <p:sp>
        <p:nvSpPr>
          <p:cNvPr id="13" name="Objectif 3"/>
          <p:cNvSpPr/>
          <p:nvPr/>
        </p:nvSpPr>
        <p:spPr>
          <a:xfrm>
            <a:off x="8229600" y="1691640"/>
            <a:ext cx="36118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Icon circle"/>
          <p:cNvSpPr/>
          <p:nvPr/>
        </p:nvSpPr>
        <p:spPr>
          <a:xfrm>
            <a:off x="8503920" y="196596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2148840"/>
            <a:ext cx="411480" cy="411480"/>
          </a:xfrm>
          <a:prstGeom prst="rect">
            <a:avLst/>
          </a:prstGeom>
        </p:spPr>
      </p:pic>
      <p:sp>
        <p:nvSpPr>
          <p:cNvPr id="16" name="Bilingual text"/>
          <p:cNvSpPr txBox="1"/>
          <p:nvPr/>
        </p:nvSpPr>
        <p:spPr>
          <a:xfrm>
            <a:off x="8503920" y="28346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Renforcer la confiance en soi</a:t>
            </a:r>
            <a:endParaRPr lang="en-US" sz="19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Strengthen self-confidence</a:t>
            </a:r>
            <a:endParaRPr lang="en-US" sz="1900" dirty="0"/>
          </a:p>
        </p:txBody>
      </p:sp>
      <p:sp>
        <p:nvSpPr>
          <p:cNvPr id="17" name="Objectif 4"/>
          <p:cNvSpPr/>
          <p:nvPr/>
        </p:nvSpPr>
        <p:spPr>
          <a:xfrm>
            <a:off x="548640" y="4023360"/>
            <a:ext cx="36118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8" name="Icon circle"/>
          <p:cNvSpPr/>
          <p:nvPr/>
        </p:nvSpPr>
        <p:spPr>
          <a:xfrm>
            <a:off x="822960" y="429768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480560"/>
            <a:ext cx="411480" cy="411480"/>
          </a:xfrm>
          <a:prstGeom prst="rect">
            <a:avLst/>
          </a:prstGeom>
        </p:spPr>
      </p:pic>
      <p:sp>
        <p:nvSpPr>
          <p:cNvPr id="20" name="Bilingual text"/>
          <p:cNvSpPr txBox="1"/>
          <p:nvPr/>
        </p:nvSpPr>
        <p:spPr>
          <a:xfrm>
            <a:off x="822960" y="51663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Apprendre à travailler en équipe</a:t>
            </a:r>
            <a:endParaRPr lang="en-US" sz="19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Learn to work as a team</a:t>
            </a:r>
            <a:endParaRPr lang="en-US" sz="1900" dirty="0"/>
          </a:p>
        </p:txBody>
      </p:sp>
      <p:sp>
        <p:nvSpPr>
          <p:cNvPr id="21" name="Objectif 5"/>
          <p:cNvSpPr/>
          <p:nvPr/>
        </p:nvSpPr>
        <p:spPr>
          <a:xfrm>
            <a:off x="4389120" y="4023360"/>
            <a:ext cx="36118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2" name="Icon circle"/>
          <p:cNvSpPr/>
          <p:nvPr/>
        </p:nvSpPr>
        <p:spPr>
          <a:xfrm>
            <a:off x="4663440" y="429768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4480560"/>
            <a:ext cx="411480" cy="411480"/>
          </a:xfrm>
          <a:prstGeom prst="rect">
            <a:avLst/>
          </a:prstGeom>
        </p:spPr>
      </p:pic>
      <p:sp>
        <p:nvSpPr>
          <p:cNvPr id="24" name="Bilingual text"/>
          <p:cNvSpPr txBox="1"/>
          <p:nvPr/>
        </p:nvSpPr>
        <p:spPr>
          <a:xfrm>
            <a:off x="4663440" y="51663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Acquérir des compétences pratiques</a:t>
            </a:r>
            <a:endParaRPr lang="en-US" sz="19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Develop practical skills</a:t>
            </a:r>
            <a:endParaRPr lang="en-US" sz="1900" dirty="0"/>
          </a:p>
        </p:txBody>
      </p:sp>
      <p:sp>
        <p:nvSpPr>
          <p:cNvPr id="25" name="Objectif 6"/>
          <p:cNvSpPr/>
          <p:nvPr/>
        </p:nvSpPr>
        <p:spPr>
          <a:xfrm>
            <a:off x="8229600" y="4023360"/>
            <a:ext cx="36118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6" name="Icon circle"/>
          <p:cNvSpPr/>
          <p:nvPr/>
        </p:nvSpPr>
        <p:spPr>
          <a:xfrm>
            <a:off x="8503920" y="429768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0" y="4480560"/>
            <a:ext cx="411480" cy="411480"/>
          </a:xfrm>
          <a:prstGeom prst="rect">
            <a:avLst/>
          </a:prstGeom>
        </p:spPr>
      </p:pic>
      <p:sp>
        <p:nvSpPr>
          <p:cNvPr id="28" name="Bilingual text"/>
          <p:cNvSpPr txBox="1"/>
          <p:nvPr/>
        </p:nvSpPr>
        <p:spPr>
          <a:xfrm>
            <a:off x="8503920" y="51663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Préparer l’avenir des élèves</a:t>
            </a:r>
            <a:endParaRPr lang="en-US" sz="19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Prepare students for the future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Nos clubs en un coup d’œil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Our clubs at a glance</a:t>
            </a:r>
            <a:endParaRPr lang="en-US" sz="2000" dirty="0"/>
          </a:p>
        </p:txBody>
      </p:sp>
      <p:sp>
        <p:nvSpPr>
          <p:cNvPr id="5" name="Club Health Club"/>
          <p:cNvSpPr/>
          <p:nvPr/>
        </p:nvSpPr>
        <p:spPr>
          <a:xfrm>
            <a:off x="548640" y="1645920"/>
            <a:ext cx="26060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6" name="Photo Health Club" descr="Health Clu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755648"/>
            <a:ext cx="2286000" cy="1524305"/>
          </a:xfrm>
          <a:prstGeom prst="rect">
            <a:avLst/>
          </a:prstGeom>
        </p:spPr>
      </p:pic>
      <p:sp>
        <p:nvSpPr>
          <p:cNvPr id="7" name="Bilingual text"/>
          <p:cNvSpPr txBox="1"/>
          <p:nvPr/>
        </p:nvSpPr>
        <p:spPr>
          <a:xfrm>
            <a:off x="708660" y="3291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Health Club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Club Santé</a:t>
            </a:r>
            <a:endParaRPr lang="en-US" sz="1600" dirty="0"/>
          </a:p>
        </p:txBody>
      </p:sp>
      <p:sp>
        <p:nvSpPr>
          <p:cNvPr id="8" name="Club Environment Club"/>
          <p:cNvSpPr/>
          <p:nvPr/>
        </p:nvSpPr>
        <p:spPr>
          <a:xfrm>
            <a:off x="3355848" y="1645920"/>
            <a:ext cx="26060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9" name="Photo Environment Club" descr="Environment Clu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5868" y="1755648"/>
            <a:ext cx="2286000" cy="1524305"/>
          </a:xfrm>
          <a:prstGeom prst="rect">
            <a:avLst/>
          </a:prstGeom>
        </p:spPr>
      </p:pic>
      <p:sp>
        <p:nvSpPr>
          <p:cNvPr id="10" name="Bilingual text"/>
          <p:cNvSpPr txBox="1"/>
          <p:nvPr/>
        </p:nvSpPr>
        <p:spPr>
          <a:xfrm>
            <a:off x="3515868" y="3291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Environment Club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Club Environnement</a:t>
            </a:r>
            <a:endParaRPr lang="en-US" sz="1600" dirty="0"/>
          </a:p>
        </p:txBody>
      </p:sp>
      <p:sp>
        <p:nvSpPr>
          <p:cNvPr id="11" name="Club Arts &amp; Plastic Club"/>
          <p:cNvSpPr/>
          <p:nvPr/>
        </p:nvSpPr>
        <p:spPr>
          <a:xfrm>
            <a:off x="6163056" y="1645920"/>
            <a:ext cx="26060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2" name="Photo Arts &amp; Plastic Club" descr="Arts &amp; Plastic Club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076" y="1755648"/>
            <a:ext cx="2286000" cy="1524305"/>
          </a:xfrm>
          <a:prstGeom prst="rect">
            <a:avLst/>
          </a:prstGeom>
        </p:spPr>
      </p:pic>
      <p:sp>
        <p:nvSpPr>
          <p:cNvPr id="13" name="Bilingual text"/>
          <p:cNvSpPr txBox="1"/>
          <p:nvPr/>
        </p:nvSpPr>
        <p:spPr>
          <a:xfrm>
            <a:off x="6323076" y="3291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Arts &amp; Plastic Club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Club Arts plastiques</a:t>
            </a:r>
            <a:endParaRPr lang="en-US" sz="1600" dirty="0"/>
          </a:p>
        </p:txBody>
      </p:sp>
      <p:sp>
        <p:nvSpPr>
          <p:cNvPr id="14" name="Club Media Club"/>
          <p:cNvSpPr/>
          <p:nvPr/>
        </p:nvSpPr>
        <p:spPr>
          <a:xfrm>
            <a:off x="8970264" y="1645920"/>
            <a:ext cx="26060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5" name="Photo Media Club" descr="Media Club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0284" y="1755648"/>
            <a:ext cx="2286000" cy="1524305"/>
          </a:xfrm>
          <a:prstGeom prst="rect">
            <a:avLst/>
          </a:prstGeom>
        </p:spPr>
      </p:pic>
      <p:sp>
        <p:nvSpPr>
          <p:cNvPr id="16" name="Bilingual text"/>
          <p:cNvSpPr txBox="1"/>
          <p:nvPr/>
        </p:nvSpPr>
        <p:spPr>
          <a:xfrm>
            <a:off x="9130284" y="3291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Media Club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Club Médias</a:t>
            </a:r>
            <a:endParaRPr lang="en-US" sz="1600" dirty="0"/>
          </a:p>
        </p:txBody>
      </p:sp>
      <p:sp>
        <p:nvSpPr>
          <p:cNvPr id="17" name="Club Music Club"/>
          <p:cNvSpPr/>
          <p:nvPr/>
        </p:nvSpPr>
        <p:spPr>
          <a:xfrm>
            <a:off x="548640" y="4041648"/>
            <a:ext cx="26060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8" name="Photo Music Club" descr="Music Club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" y="4151376"/>
            <a:ext cx="2286000" cy="1524305"/>
          </a:xfrm>
          <a:prstGeom prst="rect">
            <a:avLst/>
          </a:prstGeom>
        </p:spPr>
      </p:pic>
      <p:sp>
        <p:nvSpPr>
          <p:cNvPr id="19" name="Bilingual text"/>
          <p:cNvSpPr txBox="1"/>
          <p:nvPr/>
        </p:nvSpPr>
        <p:spPr>
          <a:xfrm>
            <a:off x="708660" y="568756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Music Club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Club Musique</a:t>
            </a:r>
            <a:endParaRPr lang="en-US" sz="1600" dirty="0"/>
          </a:p>
        </p:txBody>
      </p:sp>
      <p:sp>
        <p:nvSpPr>
          <p:cNvPr id="20" name="Club Sports Club"/>
          <p:cNvSpPr/>
          <p:nvPr/>
        </p:nvSpPr>
        <p:spPr>
          <a:xfrm>
            <a:off x="3355848" y="4041648"/>
            <a:ext cx="26060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1" name="Photo Sports Club" descr="Sports Club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5868" y="4151376"/>
            <a:ext cx="2286000" cy="1524305"/>
          </a:xfrm>
          <a:prstGeom prst="rect">
            <a:avLst/>
          </a:prstGeom>
        </p:spPr>
      </p:pic>
      <p:sp>
        <p:nvSpPr>
          <p:cNvPr id="22" name="Bilingual text"/>
          <p:cNvSpPr txBox="1"/>
          <p:nvPr/>
        </p:nvSpPr>
        <p:spPr>
          <a:xfrm>
            <a:off x="3515868" y="568756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Sports Club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Club Sports</a:t>
            </a:r>
            <a:endParaRPr lang="en-US" sz="1600" dirty="0"/>
          </a:p>
        </p:txBody>
      </p:sp>
      <p:sp>
        <p:nvSpPr>
          <p:cNvPr id="23" name="Club ICT Club"/>
          <p:cNvSpPr/>
          <p:nvPr/>
        </p:nvSpPr>
        <p:spPr>
          <a:xfrm>
            <a:off x="6163056" y="4041648"/>
            <a:ext cx="26060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4" name="Photo ICT Club" descr="ICT Club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3076" y="4151376"/>
            <a:ext cx="2286000" cy="1524305"/>
          </a:xfrm>
          <a:prstGeom prst="rect">
            <a:avLst/>
          </a:prstGeom>
        </p:spPr>
      </p:pic>
      <p:sp>
        <p:nvSpPr>
          <p:cNvPr id="25" name="Bilingual text"/>
          <p:cNvSpPr txBox="1"/>
          <p:nvPr/>
        </p:nvSpPr>
        <p:spPr>
          <a:xfrm>
            <a:off x="6323076" y="568756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ICT Club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Club Informatique</a:t>
            </a:r>
            <a:endParaRPr lang="en-US" sz="1600" dirty="0"/>
          </a:p>
        </p:txBody>
      </p:sp>
      <p:sp>
        <p:nvSpPr>
          <p:cNvPr id="26" name="Inscription card"/>
          <p:cNvSpPr/>
          <p:nvPr/>
        </p:nvSpPr>
        <p:spPr>
          <a:xfrm>
            <a:off x="8970264" y="4041648"/>
            <a:ext cx="2606040" cy="2286000"/>
          </a:xfrm>
          <a:prstGeom prst="roundRect">
            <a:avLst>
              <a:gd name="adj" fmla="val 48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53144" y="4270248"/>
            <a:ext cx="457200" cy="457200"/>
          </a:xfrm>
          <a:prstGeom prst="rect">
            <a:avLst/>
          </a:prstGeom>
        </p:spPr>
      </p:pic>
      <p:sp>
        <p:nvSpPr>
          <p:cNvPr id="28" name="Inscription text"/>
          <p:cNvSpPr txBox="1"/>
          <p:nvPr/>
        </p:nvSpPr>
        <p:spPr>
          <a:xfrm>
            <a:off x="9153144" y="4818888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Inscription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Fiche à remettre à l’école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Registration form to be returned to the school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Health Club et Environment Club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Club Santé et Club Environnement — deux clubs gratuits / two free clubs</a:t>
            </a:r>
            <a:endParaRPr lang="en-US" sz="2000" dirty="0"/>
          </a:p>
        </p:txBody>
      </p:sp>
      <p:pic>
        <p:nvPicPr>
          <p:cNvPr id="5" name="Photo Health Club" descr="Health Clu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2743200" cy="1828800"/>
          </a:xfrm>
          <a:prstGeom prst="rect">
            <a:avLst/>
          </a:prstGeom>
        </p:spPr>
      </p:pic>
      <p:sp>
        <p:nvSpPr>
          <p:cNvPr id="6" name="Club name"/>
          <p:cNvSpPr txBox="1"/>
          <p:nvPr/>
        </p:nvSpPr>
        <p:spPr>
          <a:xfrm>
            <a:off x="3429000" y="16002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Health Club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Club Santé</a:t>
            </a:r>
            <a:endParaRPr lang="en-US" sz="2200" dirty="0"/>
          </a:p>
        </p:txBody>
      </p:sp>
      <p:sp>
        <p:nvSpPr>
          <p:cNvPr id="7" name="Badge free"/>
          <p:cNvSpPr txBox="1"/>
          <p:nvPr/>
        </p:nvSpPr>
        <p:spPr>
          <a:xfrm>
            <a:off x="3429000" y="2514600"/>
            <a:ext cx="2468880" cy="411480"/>
          </a:xfrm>
          <a:prstGeom prst="roundRect">
            <a:avLst>
              <a:gd name="adj" fmla="val 44444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GRATUIT / FREE</a:t>
            </a:r>
            <a:endParaRPr lang="en-US" sz="1600" dirty="0"/>
          </a:p>
        </p:txBody>
      </p:sp>
      <p:sp>
        <p:nvSpPr>
          <p:cNvPr id="8" name="Marker"/>
          <p:cNvSpPr/>
          <p:nvPr/>
        </p:nvSpPr>
        <p:spPr>
          <a:xfrm>
            <a:off x="548640" y="376732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Bilingual text"/>
          <p:cNvSpPr txBox="1"/>
          <p:nvPr/>
        </p:nvSpPr>
        <p:spPr>
          <a:xfrm>
            <a:off x="914400" y="3611880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Santé et hygiène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Health and hygiene</a:t>
            </a:r>
            <a:endParaRPr lang="en-US" sz="1600" dirty="0"/>
          </a:p>
        </p:txBody>
      </p:sp>
      <p:sp>
        <p:nvSpPr>
          <p:cNvPr id="10" name="Marker"/>
          <p:cNvSpPr/>
          <p:nvPr/>
        </p:nvSpPr>
        <p:spPr>
          <a:xfrm>
            <a:off x="548640" y="431596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Bilingual text"/>
          <p:cNvSpPr txBox="1"/>
          <p:nvPr/>
        </p:nvSpPr>
        <p:spPr>
          <a:xfrm>
            <a:off x="914400" y="4160520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Premiers secours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First aid</a:t>
            </a:r>
            <a:endParaRPr lang="en-US" sz="1600" dirty="0"/>
          </a:p>
        </p:txBody>
      </p:sp>
      <p:sp>
        <p:nvSpPr>
          <p:cNvPr id="12" name="Marker"/>
          <p:cNvSpPr/>
          <p:nvPr/>
        </p:nvSpPr>
        <p:spPr>
          <a:xfrm>
            <a:off x="548640" y="486460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Bilingual text"/>
          <p:cNvSpPr txBox="1"/>
          <p:nvPr/>
        </p:nvSpPr>
        <p:spPr>
          <a:xfrm>
            <a:off x="914400" y="4709160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Prévention des maladies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Disease prevention</a:t>
            </a:r>
            <a:endParaRPr lang="en-US" sz="1600" dirty="0"/>
          </a:p>
        </p:txBody>
      </p:sp>
      <p:sp>
        <p:nvSpPr>
          <p:cNvPr id="14" name="Marker"/>
          <p:cNvSpPr/>
          <p:nvPr/>
        </p:nvSpPr>
        <p:spPr>
          <a:xfrm>
            <a:off x="548640" y="541324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Bilingual text"/>
          <p:cNvSpPr txBox="1"/>
          <p:nvPr/>
        </p:nvSpPr>
        <p:spPr>
          <a:xfrm>
            <a:off x="914400" y="5257800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Sécurité à l’école et à la maison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Safety at school and at home</a:t>
            </a:r>
            <a:endParaRPr lang="en-US" sz="1600" dirty="0"/>
          </a:p>
        </p:txBody>
      </p:sp>
      <p:sp>
        <p:nvSpPr>
          <p:cNvPr id="16" name="Marker"/>
          <p:cNvSpPr/>
          <p:nvPr/>
        </p:nvSpPr>
        <p:spPr>
          <a:xfrm>
            <a:off x="548640" y="596188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Bilingual text"/>
          <p:cNvSpPr txBox="1"/>
          <p:nvPr/>
        </p:nvSpPr>
        <p:spPr>
          <a:xfrm>
            <a:off x="914400" y="5806440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Projets de sensibilisation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Awareness projects</a:t>
            </a:r>
            <a:endParaRPr lang="en-US" sz="1600" dirty="0"/>
          </a:p>
        </p:txBody>
      </p:sp>
      <p:pic>
        <p:nvPicPr>
          <p:cNvPr id="18" name="Photo Environment Club" descr="Environment Clu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00200"/>
            <a:ext cx="2743200" cy="1828800"/>
          </a:xfrm>
          <a:prstGeom prst="rect">
            <a:avLst/>
          </a:prstGeom>
        </p:spPr>
      </p:pic>
      <p:sp>
        <p:nvSpPr>
          <p:cNvPr id="19" name="Club name"/>
          <p:cNvSpPr txBox="1"/>
          <p:nvPr/>
        </p:nvSpPr>
        <p:spPr>
          <a:xfrm>
            <a:off x="9144000" y="16002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Environment Club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Club Environnement</a:t>
            </a:r>
            <a:endParaRPr lang="en-US" sz="2200" dirty="0"/>
          </a:p>
        </p:txBody>
      </p:sp>
      <p:sp>
        <p:nvSpPr>
          <p:cNvPr id="20" name="Badge free"/>
          <p:cNvSpPr txBox="1"/>
          <p:nvPr/>
        </p:nvSpPr>
        <p:spPr>
          <a:xfrm>
            <a:off x="9144000" y="2514600"/>
            <a:ext cx="2468880" cy="411480"/>
          </a:xfrm>
          <a:prstGeom prst="roundRect">
            <a:avLst>
              <a:gd name="adj" fmla="val 44444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GRATUIT / FREE</a:t>
            </a:r>
            <a:endParaRPr lang="en-US" sz="1600" dirty="0"/>
          </a:p>
        </p:txBody>
      </p:sp>
      <p:sp>
        <p:nvSpPr>
          <p:cNvPr id="21" name="Marker"/>
          <p:cNvSpPr/>
          <p:nvPr/>
        </p:nvSpPr>
        <p:spPr>
          <a:xfrm>
            <a:off x="6263640" y="376732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Bilingual text"/>
          <p:cNvSpPr txBox="1"/>
          <p:nvPr/>
        </p:nvSpPr>
        <p:spPr>
          <a:xfrm>
            <a:off x="6629400" y="3611880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Propreté de l’école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School cleanliness</a:t>
            </a:r>
            <a:endParaRPr lang="en-US" sz="1600" dirty="0"/>
          </a:p>
        </p:txBody>
      </p:sp>
      <p:sp>
        <p:nvSpPr>
          <p:cNvPr id="23" name="Marker"/>
          <p:cNvSpPr/>
          <p:nvPr/>
        </p:nvSpPr>
        <p:spPr>
          <a:xfrm>
            <a:off x="6263640" y="431596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Bilingual text"/>
          <p:cNvSpPr txBox="1"/>
          <p:nvPr/>
        </p:nvSpPr>
        <p:spPr>
          <a:xfrm>
            <a:off x="6629400" y="4160520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Collecte et tri des déchets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Waste collection and sorting</a:t>
            </a:r>
            <a:endParaRPr lang="en-US" sz="1600" dirty="0"/>
          </a:p>
        </p:txBody>
      </p:sp>
      <p:sp>
        <p:nvSpPr>
          <p:cNvPr id="25" name="Marker"/>
          <p:cNvSpPr/>
          <p:nvPr/>
        </p:nvSpPr>
        <p:spPr>
          <a:xfrm>
            <a:off x="6263640" y="486460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Bilingual text"/>
          <p:cNvSpPr txBox="1"/>
          <p:nvPr/>
        </p:nvSpPr>
        <p:spPr>
          <a:xfrm>
            <a:off x="6629400" y="4709160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Jardinage et plantation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Gardening and planting</a:t>
            </a:r>
            <a:endParaRPr lang="en-US" sz="1600" dirty="0"/>
          </a:p>
        </p:txBody>
      </p:sp>
      <p:sp>
        <p:nvSpPr>
          <p:cNvPr id="27" name="Marker"/>
          <p:cNvSpPr/>
          <p:nvPr/>
        </p:nvSpPr>
        <p:spPr>
          <a:xfrm>
            <a:off x="6263640" y="541324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Bilingual text"/>
          <p:cNvSpPr txBox="1"/>
          <p:nvPr/>
        </p:nvSpPr>
        <p:spPr>
          <a:xfrm>
            <a:off x="6629400" y="5257800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Compostage et recyclage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Composting and recycling</a:t>
            </a:r>
            <a:endParaRPr lang="en-US" sz="1600" dirty="0"/>
          </a:p>
        </p:txBody>
      </p:sp>
      <p:sp>
        <p:nvSpPr>
          <p:cNvPr id="29" name="Marker"/>
          <p:cNvSpPr/>
          <p:nvPr/>
        </p:nvSpPr>
        <p:spPr>
          <a:xfrm>
            <a:off x="6263640" y="596188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Bilingual text"/>
          <p:cNvSpPr txBox="1"/>
          <p:nvPr/>
        </p:nvSpPr>
        <p:spPr>
          <a:xfrm>
            <a:off x="6629400" y="5806440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Économies d’eau et d’énergie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Saving water and energy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Arts &amp; Plastic Club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Club Arts plastiques</a:t>
            </a:r>
            <a:endParaRPr lang="en-US" sz="2000" dirty="0"/>
          </a:p>
        </p:txBody>
      </p:sp>
      <p:pic>
        <p:nvPicPr>
          <p:cNvPr id="5" name="Photo" descr="Élèves en dessin, peinture et création d’articles traditionne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212080" cy="3474720"/>
          </a:xfrm>
          <a:prstGeom prst="rect">
            <a:avLst/>
          </a:prstGeom>
        </p:spPr>
      </p:pic>
      <p:sp>
        <p:nvSpPr>
          <p:cNvPr id="6" name="Callout"/>
          <p:cNvSpPr/>
          <p:nvPr/>
        </p:nvSpPr>
        <p:spPr>
          <a:xfrm>
            <a:off x="548640" y="5303520"/>
            <a:ext cx="5212080" cy="868680"/>
          </a:xfrm>
          <a:prstGeom prst="roundRect">
            <a:avLst>
              <a:gd name="adj" fmla="val 1263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Callout text"/>
          <p:cNvSpPr txBox="1"/>
          <p:nvPr/>
        </p:nvSpPr>
        <p:spPr>
          <a:xfrm>
            <a:off x="777240" y="53035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Créativité · Savoir-faire manuel · Culture locale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Creativity · Craft skills · Local culture</a:t>
            </a:r>
            <a:endParaRPr lang="en-US" sz="1700" dirty="0"/>
          </a:p>
        </p:txBody>
      </p:sp>
      <p:sp>
        <p:nvSpPr>
          <p:cNvPr id="8" name="Badge paid"/>
          <p:cNvSpPr txBox="1"/>
          <p:nvPr/>
        </p:nvSpPr>
        <p:spPr>
          <a:xfrm>
            <a:off x="6126480" y="1691640"/>
            <a:ext cx="3749040" cy="384048"/>
          </a:xfrm>
          <a:prstGeom prst="roundRect">
            <a:avLst>
              <a:gd name="adj" fmla="val 47619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25 000 FCFA / mois</a:t>
            </a:r>
            <a:endParaRPr lang="en-US" sz="1500" dirty="0"/>
          </a:p>
        </p:txBody>
      </p:sp>
      <p:sp>
        <p:nvSpPr>
          <p:cNvPr id="9" name="Marker"/>
          <p:cNvSpPr/>
          <p:nvPr/>
        </p:nvSpPr>
        <p:spPr>
          <a:xfrm>
            <a:off x="6126480" y="2459736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Bilingual text"/>
          <p:cNvSpPr txBox="1"/>
          <p:nvPr/>
        </p:nvSpPr>
        <p:spPr>
          <a:xfrm>
            <a:off x="6510528" y="2286000"/>
            <a:ext cx="51023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Dessin et peinture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Drawing and painting</a:t>
            </a:r>
            <a:endParaRPr lang="en-US" sz="1800" dirty="0"/>
          </a:p>
        </p:txBody>
      </p:sp>
      <p:sp>
        <p:nvSpPr>
          <p:cNvPr id="11" name="Marker"/>
          <p:cNvSpPr/>
          <p:nvPr/>
        </p:nvSpPr>
        <p:spPr>
          <a:xfrm>
            <a:off x="6126480" y="3136392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Bilingual text"/>
          <p:cNvSpPr txBox="1"/>
          <p:nvPr/>
        </p:nvSpPr>
        <p:spPr>
          <a:xfrm>
            <a:off x="6510528" y="2962656"/>
            <a:ext cx="51023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Arts plastiques et travaux manuels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Plastic arts and crafts</a:t>
            </a:r>
            <a:endParaRPr lang="en-US" sz="1800" dirty="0"/>
          </a:p>
        </p:txBody>
      </p:sp>
      <p:sp>
        <p:nvSpPr>
          <p:cNvPr id="13" name="Marker"/>
          <p:cNvSpPr/>
          <p:nvPr/>
        </p:nvSpPr>
        <p:spPr>
          <a:xfrm>
            <a:off x="6126480" y="381304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Bilingual text"/>
          <p:cNvSpPr txBox="1"/>
          <p:nvPr/>
        </p:nvSpPr>
        <p:spPr>
          <a:xfrm>
            <a:off x="6510528" y="3639312"/>
            <a:ext cx="51023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Modelage, collage, matériaux recyclés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Modelling, collage, recycled materials</a:t>
            </a:r>
            <a:endParaRPr lang="en-US" sz="1800" dirty="0"/>
          </a:p>
        </p:txBody>
      </p:sp>
      <p:sp>
        <p:nvSpPr>
          <p:cNvPr id="15" name="Marker"/>
          <p:cNvSpPr/>
          <p:nvPr/>
        </p:nvSpPr>
        <p:spPr>
          <a:xfrm>
            <a:off x="6126480" y="4489704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Bilingual text"/>
          <p:cNvSpPr txBox="1"/>
          <p:nvPr/>
        </p:nvSpPr>
        <p:spPr>
          <a:xfrm>
            <a:off x="6510528" y="4315968"/>
            <a:ext cx="51023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Sacs à main, babouches, bracelets, bijoux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Handbags, slippers, bracelets, jewellery</a:t>
            </a:r>
            <a:endParaRPr lang="en-US" sz="1800" dirty="0"/>
          </a:p>
        </p:txBody>
      </p:sp>
      <p:sp>
        <p:nvSpPr>
          <p:cNvPr id="17" name="Marker"/>
          <p:cNvSpPr/>
          <p:nvPr/>
        </p:nvSpPr>
        <p:spPr>
          <a:xfrm>
            <a:off x="6126480" y="5166360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Bilingual text"/>
          <p:cNvSpPr txBox="1"/>
          <p:nvPr/>
        </p:nvSpPr>
        <p:spPr>
          <a:xfrm>
            <a:off x="6510528" y="4992624"/>
            <a:ext cx="51023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Motifs et symboles africains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African patterns and symbols</a:t>
            </a:r>
            <a:endParaRPr lang="en-US" sz="1800" dirty="0"/>
          </a:p>
        </p:txBody>
      </p:sp>
      <p:sp>
        <p:nvSpPr>
          <p:cNvPr id="19" name="Marker"/>
          <p:cNvSpPr/>
          <p:nvPr/>
        </p:nvSpPr>
        <p:spPr>
          <a:xfrm>
            <a:off x="6126480" y="5843016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Bilingual text"/>
          <p:cNvSpPr txBox="1"/>
          <p:nvPr/>
        </p:nvSpPr>
        <p:spPr>
          <a:xfrm>
            <a:off x="6510528" y="5669280"/>
            <a:ext cx="51023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Expositions scolaires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School exhibitions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Media Club : Journalism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Club Médias — Journalisme</a:t>
            </a:r>
            <a:endParaRPr lang="en-US" sz="2000" dirty="0"/>
          </a:p>
        </p:txBody>
      </p:sp>
      <p:pic>
        <p:nvPicPr>
          <p:cNvPr id="5" name="Photo" descr="Élèves reporters avec micro et camé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212080" cy="3474720"/>
          </a:xfrm>
          <a:prstGeom prst="rect">
            <a:avLst/>
          </a:prstGeom>
        </p:spPr>
      </p:pic>
      <p:sp>
        <p:nvSpPr>
          <p:cNvPr id="6" name="Callout"/>
          <p:cNvSpPr/>
          <p:nvPr/>
        </p:nvSpPr>
        <p:spPr>
          <a:xfrm>
            <a:off x="548640" y="5303520"/>
            <a:ext cx="5212080" cy="868680"/>
          </a:xfrm>
          <a:prstGeom prst="roundRect">
            <a:avLst>
              <a:gd name="adj" fmla="val 1263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Callout text"/>
          <p:cNvSpPr txBox="1"/>
          <p:nvPr/>
        </p:nvSpPr>
        <p:spPr>
          <a:xfrm>
            <a:off x="777240" y="53035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Former de jeunes reporters rigoureux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Training accurate young reporters</a:t>
            </a:r>
            <a:endParaRPr lang="en-US" sz="1700" dirty="0"/>
          </a:p>
        </p:txBody>
      </p:sp>
      <p:sp>
        <p:nvSpPr>
          <p:cNvPr id="8" name="Badge free"/>
          <p:cNvSpPr txBox="1"/>
          <p:nvPr/>
        </p:nvSpPr>
        <p:spPr>
          <a:xfrm>
            <a:off x="6126480" y="1691640"/>
            <a:ext cx="3749040" cy="384048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GRATUIT / FREE</a:t>
            </a:r>
            <a:endParaRPr lang="en-US" sz="1500" dirty="0"/>
          </a:p>
        </p:txBody>
      </p:sp>
      <p:sp>
        <p:nvSpPr>
          <p:cNvPr id="9" name="Marker"/>
          <p:cNvSpPr/>
          <p:nvPr/>
        </p:nvSpPr>
        <p:spPr>
          <a:xfrm>
            <a:off x="6126480" y="2459736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Bilingual text"/>
          <p:cNvSpPr txBox="1"/>
          <p:nvPr/>
        </p:nvSpPr>
        <p:spPr>
          <a:xfrm>
            <a:off x="6510528" y="2286000"/>
            <a:ext cx="51023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Écriture journalistique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Journalistic writing</a:t>
            </a:r>
            <a:endParaRPr lang="en-US" sz="1800" dirty="0"/>
          </a:p>
        </p:txBody>
      </p:sp>
      <p:sp>
        <p:nvSpPr>
          <p:cNvPr id="11" name="Marker"/>
          <p:cNvSpPr/>
          <p:nvPr/>
        </p:nvSpPr>
        <p:spPr>
          <a:xfrm>
            <a:off x="6126480" y="3136392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Bilingual text"/>
          <p:cNvSpPr txBox="1"/>
          <p:nvPr/>
        </p:nvSpPr>
        <p:spPr>
          <a:xfrm>
            <a:off x="6510528" y="2962656"/>
            <a:ext cx="51023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Articles et titres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Articles and headlines</a:t>
            </a:r>
            <a:endParaRPr lang="en-US" sz="1800" dirty="0"/>
          </a:p>
        </p:txBody>
      </p:sp>
      <p:sp>
        <p:nvSpPr>
          <p:cNvPr id="13" name="Marker"/>
          <p:cNvSpPr/>
          <p:nvPr/>
        </p:nvSpPr>
        <p:spPr>
          <a:xfrm>
            <a:off x="6126480" y="381304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Bilingual text"/>
          <p:cNvSpPr txBox="1"/>
          <p:nvPr/>
        </p:nvSpPr>
        <p:spPr>
          <a:xfrm>
            <a:off x="6510528" y="3639312"/>
            <a:ext cx="51023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Vérification des informations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Fact-checking</a:t>
            </a:r>
            <a:endParaRPr lang="en-US" sz="1800" dirty="0"/>
          </a:p>
        </p:txBody>
      </p:sp>
      <p:sp>
        <p:nvSpPr>
          <p:cNvPr id="15" name="Marker"/>
          <p:cNvSpPr/>
          <p:nvPr/>
        </p:nvSpPr>
        <p:spPr>
          <a:xfrm>
            <a:off x="6126480" y="4489704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Bilingual text"/>
          <p:cNvSpPr txBox="1"/>
          <p:nvPr/>
        </p:nvSpPr>
        <p:spPr>
          <a:xfrm>
            <a:off x="6510528" y="4315968"/>
            <a:ext cx="51023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Interviews et reportages scolaires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Interviews and school reports</a:t>
            </a:r>
            <a:endParaRPr lang="en-US" sz="1800" dirty="0"/>
          </a:p>
        </p:txBody>
      </p:sp>
      <p:sp>
        <p:nvSpPr>
          <p:cNvPr id="17" name="Marker"/>
          <p:cNvSpPr/>
          <p:nvPr/>
        </p:nvSpPr>
        <p:spPr>
          <a:xfrm>
            <a:off x="6126480" y="5166360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Bilingual text"/>
          <p:cNvSpPr txBox="1"/>
          <p:nvPr/>
        </p:nvSpPr>
        <p:spPr>
          <a:xfrm>
            <a:off x="6510528" y="4992624"/>
            <a:ext cx="51023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Journal et radio scolaires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School newspaper and radio</a:t>
            </a:r>
            <a:endParaRPr lang="en-US" sz="1800" dirty="0"/>
          </a:p>
        </p:txBody>
      </p:sp>
      <p:sp>
        <p:nvSpPr>
          <p:cNvPr id="19" name="Marker"/>
          <p:cNvSpPr/>
          <p:nvPr/>
        </p:nvSpPr>
        <p:spPr>
          <a:xfrm>
            <a:off x="6126480" y="5843016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Bilingual text"/>
          <p:cNvSpPr txBox="1"/>
          <p:nvPr/>
        </p:nvSpPr>
        <p:spPr>
          <a:xfrm>
            <a:off x="6510528" y="5669280"/>
            <a:ext cx="51023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Rédaction en français et en anglais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Writing in French and English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Media Club : Journalism+, Public Speaking, Theatre Arts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Prise de parole en public et art dramatique</a:t>
            </a:r>
            <a:endParaRPr lang="en-US" sz="2000" dirty="0"/>
          </a:p>
        </p:txBody>
      </p:sp>
      <p:pic>
        <p:nvPicPr>
          <p:cNvPr id="5" name="Photo" descr="Élèves à la tribune et sur scè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0975" y="1691640"/>
            <a:ext cx="5212080" cy="3474720"/>
          </a:xfrm>
          <a:prstGeom prst="rect">
            <a:avLst/>
          </a:prstGeom>
        </p:spPr>
      </p:pic>
      <p:sp>
        <p:nvSpPr>
          <p:cNvPr id="6" name="Callout"/>
          <p:cNvSpPr/>
          <p:nvPr/>
        </p:nvSpPr>
        <p:spPr>
          <a:xfrm>
            <a:off x="6430975" y="5303520"/>
            <a:ext cx="5212080" cy="868680"/>
          </a:xfrm>
          <a:prstGeom prst="roundRect">
            <a:avLst>
              <a:gd name="adj" fmla="val 1263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Callout text"/>
          <p:cNvSpPr txBox="1"/>
          <p:nvPr/>
        </p:nvSpPr>
        <p:spPr>
          <a:xfrm>
            <a:off x="6659575" y="53035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Éloquence · Confiance en soi · Français et anglais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Eloquence · Self-confidence · French and English</a:t>
            </a:r>
            <a:endParaRPr lang="en-US" sz="1700" dirty="0"/>
          </a:p>
        </p:txBody>
      </p:sp>
      <p:sp>
        <p:nvSpPr>
          <p:cNvPr id="8" name="Badge paid"/>
          <p:cNvSpPr txBox="1"/>
          <p:nvPr/>
        </p:nvSpPr>
        <p:spPr>
          <a:xfrm>
            <a:off x="548640" y="1691640"/>
            <a:ext cx="3749040" cy="384048"/>
          </a:xfrm>
          <a:prstGeom prst="roundRect">
            <a:avLst>
              <a:gd name="adj" fmla="val 47619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30 000 FCFA / mois</a:t>
            </a:r>
            <a:endParaRPr lang="en-US" sz="1500" dirty="0"/>
          </a:p>
        </p:txBody>
      </p:sp>
      <p:sp>
        <p:nvSpPr>
          <p:cNvPr id="9" name="Marker"/>
          <p:cNvSpPr/>
          <p:nvPr/>
        </p:nvSpPr>
        <p:spPr>
          <a:xfrm>
            <a:off x="548640" y="2459736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Bilingual text"/>
          <p:cNvSpPr txBox="1"/>
          <p:nvPr/>
        </p:nvSpPr>
        <p:spPr>
          <a:xfrm>
            <a:off x="932688" y="2286000"/>
            <a:ext cx="51023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Prise de parole en public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Public speaking</a:t>
            </a:r>
            <a:endParaRPr lang="en-US" sz="1800" dirty="0"/>
          </a:p>
        </p:txBody>
      </p:sp>
      <p:sp>
        <p:nvSpPr>
          <p:cNvPr id="11" name="Marker"/>
          <p:cNvSpPr/>
          <p:nvPr/>
        </p:nvSpPr>
        <p:spPr>
          <a:xfrm>
            <a:off x="548640" y="3136392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Bilingual text"/>
          <p:cNvSpPr txBox="1"/>
          <p:nvPr/>
        </p:nvSpPr>
        <p:spPr>
          <a:xfrm>
            <a:off x="932688" y="2962656"/>
            <a:ext cx="51023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Discours et débats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Speeches and debates</a:t>
            </a:r>
            <a:endParaRPr lang="en-US" sz="1800" dirty="0"/>
          </a:p>
        </p:txBody>
      </p:sp>
      <p:sp>
        <p:nvSpPr>
          <p:cNvPr id="13" name="Marker"/>
          <p:cNvSpPr/>
          <p:nvPr/>
        </p:nvSpPr>
        <p:spPr>
          <a:xfrm>
            <a:off x="548640" y="381304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Bilingual text"/>
          <p:cNvSpPr txBox="1"/>
          <p:nvPr/>
        </p:nvSpPr>
        <p:spPr>
          <a:xfrm>
            <a:off x="932688" y="3639312"/>
            <a:ext cx="51023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Présentations orales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Oral presentations</a:t>
            </a:r>
            <a:endParaRPr lang="en-US" sz="1800" dirty="0"/>
          </a:p>
        </p:txBody>
      </p:sp>
      <p:sp>
        <p:nvSpPr>
          <p:cNvPr id="15" name="Marker"/>
          <p:cNvSpPr/>
          <p:nvPr/>
        </p:nvSpPr>
        <p:spPr>
          <a:xfrm>
            <a:off x="548640" y="4489704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Bilingual text"/>
          <p:cNvSpPr txBox="1"/>
          <p:nvPr/>
        </p:nvSpPr>
        <p:spPr>
          <a:xfrm>
            <a:off x="932688" y="4315968"/>
            <a:ext cx="51023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Gestion du trac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Managing stage fright</a:t>
            </a:r>
            <a:endParaRPr lang="en-US" sz="1800" dirty="0"/>
          </a:p>
        </p:txBody>
      </p:sp>
      <p:sp>
        <p:nvSpPr>
          <p:cNvPr id="17" name="Marker"/>
          <p:cNvSpPr/>
          <p:nvPr/>
        </p:nvSpPr>
        <p:spPr>
          <a:xfrm>
            <a:off x="548640" y="5166360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Bilingual text"/>
          <p:cNvSpPr txBox="1"/>
          <p:nvPr/>
        </p:nvSpPr>
        <p:spPr>
          <a:xfrm>
            <a:off x="932688" y="4992624"/>
            <a:ext cx="51023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Jeu d’acteur et improvisation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Acting and improvisation</a:t>
            </a:r>
            <a:endParaRPr lang="en-US" sz="1800" dirty="0"/>
          </a:p>
        </p:txBody>
      </p:sp>
      <p:sp>
        <p:nvSpPr>
          <p:cNvPr id="19" name="Marker"/>
          <p:cNvSpPr/>
          <p:nvPr/>
        </p:nvSpPr>
        <p:spPr>
          <a:xfrm>
            <a:off x="548640" y="5843016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Bilingual text"/>
          <p:cNvSpPr txBox="1"/>
          <p:nvPr/>
        </p:nvSpPr>
        <p:spPr>
          <a:xfrm>
            <a:off x="932688" y="5669280"/>
            <a:ext cx="51023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Courtes pièces de théâtre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Short plays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Media Club : Photography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Photographie</a:t>
            </a:r>
            <a:endParaRPr lang="en-US" sz="2000" dirty="0"/>
          </a:p>
        </p:txBody>
      </p:sp>
      <p:pic>
        <p:nvPicPr>
          <p:cNvPr id="5" name="Photo" descr="Élève photographe avec appareil et trépi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212080" cy="3474720"/>
          </a:xfrm>
          <a:prstGeom prst="rect">
            <a:avLst/>
          </a:prstGeom>
        </p:spPr>
      </p:pic>
      <p:sp>
        <p:nvSpPr>
          <p:cNvPr id="6" name="Callout"/>
          <p:cNvSpPr/>
          <p:nvPr/>
        </p:nvSpPr>
        <p:spPr>
          <a:xfrm>
            <a:off x="548640" y="5303520"/>
            <a:ext cx="5212080" cy="868680"/>
          </a:xfrm>
          <a:prstGeom prst="roundRect">
            <a:avLst>
              <a:gd name="adj" fmla="val 1263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Callout text"/>
          <p:cNvSpPr txBox="1"/>
          <p:nvPr/>
        </p:nvSpPr>
        <p:spPr>
          <a:xfrm>
            <a:off x="777240" y="53035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Observer, composer, raconter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Observe, compose, tell a story</a:t>
            </a:r>
            <a:endParaRPr lang="en-US" sz="1700" dirty="0"/>
          </a:p>
        </p:txBody>
      </p:sp>
      <p:sp>
        <p:nvSpPr>
          <p:cNvPr id="8" name="Badge tbc"/>
          <p:cNvSpPr txBox="1"/>
          <p:nvPr/>
        </p:nvSpPr>
        <p:spPr>
          <a:xfrm>
            <a:off x="6126480" y="1691640"/>
            <a:ext cx="3749040" cy="384048"/>
          </a:xfrm>
          <a:prstGeom prst="roundRect">
            <a:avLst>
              <a:gd name="adj" fmla="val 4761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Tarif à confirmer / Fee to be confirmed</a:t>
            </a:r>
            <a:endParaRPr lang="en-US" sz="1500" dirty="0"/>
          </a:p>
        </p:txBody>
      </p:sp>
      <p:sp>
        <p:nvSpPr>
          <p:cNvPr id="9" name="Marker"/>
          <p:cNvSpPr/>
          <p:nvPr/>
        </p:nvSpPr>
        <p:spPr>
          <a:xfrm>
            <a:off x="6126480" y="2459736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Bilingual text"/>
          <p:cNvSpPr txBox="1"/>
          <p:nvPr/>
        </p:nvSpPr>
        <p:spPr>
          <a:xfrm>
            <a:off x="6510528" y="2286000"/>
            <a:ext cx="51023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Manipulation de l’appareil photo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Handling the camera</a:t>
            </a:r>
            <a:endParaRPr lang="en-US" sz="1800" dirty="0"/>
          </a:p>
        </p:txBody>
      </p:sp>
      <p:sp>
        <p:nvSpPr>
          <p:cNvPr id="11" name="Marker"/>
          <p:cNvSpPr/>
          <p:nvPr/>
        </p:nvSpPr>
        <p:spPr>
          <a:xfrm>
            <a:off x="6126480" y="3136392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Bilingual text"/>
          <p:cNvSpPr txBox="1"/>
          <p:nvPr/>
        </p:nvSpPr>
        <p:spPr>
          <a:xfrm>
            <a:off x="6510528" y="2962656"/>
            <a:ext cx="51023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Lumière, mise au point, exposition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Light, focus and exposure</a:t>
            </a:r>
            <a:endParaRPr lang="en-US" sz="1800" dirty="0"/>
          </a:p>
        </p:txBody>
      </p:sp>
      <p:sp>
        <p:nvSpPr>
          <p:cNvPr id="13" name="Marker"/>
          <p:cNvSpPr/>
          <p:nvPr/>
        </p:nvSpPr>
        <p:spPr>
          <a:xfrm>
            <a:off x="6126480" y="381304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Bilingual text"/>
          <p:cNvSpPr txBox="1"/>
          <p:nvPr/>
        </p:nvSpPr>
        <p:spPr>
          <a:xfrm>
            <a:off x="6510528" y="3639312"/>
            <a:ext cx="51023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Cadrage et composition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Framing and composition</a:t>
            </a:r>
            <a:endParaRPr lang="en-US" sz="1800" dirty="0"/>
          </a:p>
        </p:txBody>
      </p:sp>
      <p:sp>
        <p:nvSpPr>
          <p:cNvPr id="15" name="Marker"/>
          <p:cNvSpPr/>
          <p:nvPr/>
        </p:nvSpPr>
        <p:spPr>
          <a:xfrm>
            <a:off x="6126480" y="4489704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Bilingual text"/>
          <p:cNvSpPr txBox="1"/>
          <p:nvPr/>
        </p:nvSpPr>
        <p:spPr>
          <a:xfrm>
            <a:off x="6510528" y="4315968"/>
            <a:ext cx="51023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Portraits, paysages, photos d’action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Portraits, landscapes, action shots</a:t>
            </a:r>
            <a:endParaRPr lang="en-US" sz="1800" dirty="0"/>
          </a:p>
        </p:txBody>
      </p:sp>
      <p:sp>
        <p:nvSpPr>
          <p:cNvPr id="17" name="Marker"/>
          <p:cNvSpPr/>
          <p:nvPr/>
        </p:nvSpPr>
        <p:spPr>
          <a:xfrm>
            <a:off x="6126480" y="5166360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Bilingual text"/>
          <p:cNvSpPr txBox="1"/>
          <p:nvPr/>
        </p:nvSpPr>
        <p:spPr>
          <a:xfrm>
            <a:off x="6510528" y="4992624"/>
            <a:ext cx="51023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Retouche et narration visuelle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Editing and visual storytelling</a:t>
            </a:r>
            <a:endParaRPr lang="en-US" sz="1800" dirty="0"/>
          </a:p>
        </p:txBody>
      </p:sp>
      <p:sp>
        <p:nvSpPr>
          <p:cNvPr id="19" name="Marker"/>
          <p:cNvSpPr/>
          <p:nvPr/>
        </p:nvSpPr>
        <p:spPr>
          <a:xfrm>
            <a:off x="6126480" y="5843016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Bilingual text"/>
          <p:cNvSpPr txBox="1"/>
          <p:nvPr/>
        </p:nvSpPr>
        <p:spPr>
          <a:xfrm>
            <a:off x="6510528" y="5669280"/>
            <a:ext cx="51023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Droit à l’image et vie privée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Image rights and privacy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Media Club : Videography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Video Production &amp; Content Creation — programme bilingue en 5 axes</a:t>
            </a:r>
            <a:endParaRPr lang="en-US" sz="2000" dirty="0"/>
          </a:p>
        </p:txBody>
      </p:sp>
      <p:pic>
        <p:nvPicPr>
          <p:cNvPr id="5" name="Photo" descr="Élève filmant avec une camé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3840480" cy="2560320"/>
          </a:xfrm>
          <a:prstGeom prst="rect">
            <a:avLst/>
          </a:prstGeom>
        </p:spPr>
      </p:pic>
      <p:sp>
        <p:nvSpPr>
          <p:cNvPr id="6" name="Badge tbc"/>
          <p:cNvSpPr txBox="1"/>
          <p:nvPr/>
        </p:nvSpPr>
        <p:spPr>
          <a:xfrm>
            <a:off x="548640" y="4389120"/>
            <a:ext cx="3840480" cy="384048"/>
          </a:xfrm>
          <a:prstGeom prst="roundRect">
            <a:avLst>
              <a:gd name="adj" fmla="val 4761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Tarif à confirmer / Fee to be confirmed</a:t>
            </a:r>
            <a:endParaRPr lang="en-US" sz="1400" dirty="0"/>
          </a:p>
        </p:txBody>
      </p:sp>
      <p:sp>
        <p:nvSpPr>
          <p:cNvPr id="7" name="Objectif"/>
          <p:cNvSpPr txBox="1"/>
          <p:nvPr/>
        </p:nvSpPr>
        <p:spPr>
          <a:xfrm>
            <a:off x="548640" y="489204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Objectif final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Planifier, filmer, monter et publier des vidéos de qualité.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Plan, film, edit and publish quality videos.</a:t>
            </a:r>
            <a:endParaRPr lang="en-US" sz="1600" dirty="0"/>
          </a:p>
        </p:txBody>
      </p:sp>
      <p:sp>
        <p:nvSpPr>
          <p:cNvPr id="8" name="Axe 1"/>
          <p:cNvSpPr/>
          <p:nvPr/>
        </p:nvSpPr>
        <p:spPr>
          <a:xfrm>
            <a:off x="4754880" y="1691640"/>
            <a:ext cx="690372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Numéro"/>
          <p:cNvSpPr txBox="1"/>
          <p:nvPr/>
        </p:nvSpPr>
        <p:spPr>
          <a:xfrm>
            <a:off x="4892040" y="1847088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Axe texte"/>
          <p:cNvSpPr txBox="1"/>
          <p:nvPr/>
        </p:nvSpPr>
        <p:spPr>
          <a:xfrm>
            <a:off x="5577840" y="1691640"/>
            <a:ext cx="5989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Production vidéo / Video production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Caméra · cadrage · éclairage · son / Camera · framing · lighting · sound</a:t>
            </a:r>
            <a:endParaRPr lang="en-US" sz="1600" dirty="0"/>
          </a:p>
        </p:txBody>
      </p:sp>
      <p:sp>
        <p:nvSpPr>
          <p:cNvPr id="11" name="Axe 2"/>
          <p:cNvSpPr/>
          <p:nvPr/>
        </p:nvSpPr>
        <p:spPr>
          <a:xfrm>
            <a:off x="4754880" y="2587752"/>
            <a:ext cx="690372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2" name="Numéro"/>
          <p:cNvSpPr txBox="1"/>
          <p:nvPr/>
        </p:nvSpPr>
        <p:spPr>
          <a:xfrm>
            <a:off x="4892040" y="2743200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Axe texte"/>
          <p:cNvSpPr txBox="1"/>
          <p:nvPr/>
        </p:nvSpPr>
        <p:spPr>
          <a:xfrm>
            <a:off x="5577840" y="2587752"/>
            <a:ext cx="5989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Montage vidéo / Video editing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Séquences · musique · sous-titres · couleurs / Sequences · music · subtitles · colour</a:t>
            </a:r>
            <a:endParaRPr lang="en-US" sz="1600" dirty="0"/>
          </a:p>
        </p:txBody>
      </p:sp>
      <p:sp>
        <p:nvSpPr>
          <p:cNvPr id="14" name="Axe 3"/>
          <p:cNvSpPr/>
          <p:nvPr/>
        </p:nvSpPr>
        <p:spPr>
          <a:xfrm>
            <a:off x="4754880" y="3483864"/>
            <a:ext cx="690372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5" name="Numéro"/>
          <p:cNvSpPr txBox="1"/>
          <p:nvPr/>
        </p:nvSpPr>
        <p:spPr>
          <a:xfrm>
            <a:off x="4892040" y="3639312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Axe texte"/>
          <p:cNvSpPr txBox="1"/>
          <p:nvPr/>
        </p:nvSpPr>
        <p:spPr>
          <a:xfrm>
            <a:off x="5577840" y="3483864"/>
            <a:ext cx="5989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Création de contenu / Content creation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Tutoriels · interviews · documentaires / Tutorials · interviews · documentaries</a:t>
            </a:r>
            <a:endParaRPr lang="en-US" sz="1600" dirty="0"/>
          </a:p>
        </p:txBody>
      </p:sp>
      <p:sp>
        <p:nvSpPr>
          <p:cNvPr id="17" name="Axe 4"/>
          <p:cNvSpPr/>
          <p:nvPr/>
        </p:nvSpPr>
        <p:spPr>
          <a:xfrm>
            <a:off x="4754880" y="4379976"/>
            <a:ext cx="690372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8" name="Numéro"/>
          <p:cNvSpPr txBox="1"/>
          <p:nvPr/>
        </p:nvSpPr>
        <p:spPr>
          <a:xfrm>
            <a:off x="4892040" y="4535424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9" name="Axe texte"/>
          <p:cNvSpPr txBox="1"/>
          <p:nvPr/>
        </p:nvSpPr>
        <p:spPr>
          <a:xfrm>
            <a:off x="5577840" y="4379976"/>
            <a:ext cx="5989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Reportages et interviews / Reporting and interviews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Présentation caméra · événements · voix off / On-camera · school events · voice-over</a:t>
            </a:r>
            <a:endParaRPr lang="en-US" sz="1600" dirty="0"/>
          </a:p>
        </p:txBody>
      </p:sp>
      <p:sp>
        <p:nvSpPr>
          <p:cNvPr id="20" name="Axe 5"/>
          <p:cNvSpPr/>
          <p:nvPr/>
        </p:nvSpPr>
        <p:spPr>
          <a:xfrm>
            <a:off x="4754880" y="5276088"/>
            <a:ext cx="690372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1" name="Numéro"/>
          <p:cNvSpPr txBox="1"/>
          <p:nvPr/>
        </p:nvSpPr>
        <p:spPr>
          <a:xfrm>
            <a:off x="4892040" y="5431536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2" name="Axe texte"/>
          <p:cNvSpPr txBox="1"/>
          <p:nvPr/>
        </p:nvSpPr>
        <p:spPr>
          <a:xfrm>
            <a:off x="5577840" y="5276088"/>
            <a:ext cx="5989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Publication et responsabilité numérique / Publishing and digital responsibility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Miniatures · export · droits d’auteur / Thumbnails · export · copyright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Videography : projets concrets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Concrete projects and the production chain</a:t>
            </a:r>
            <a:endParaRPr lang="en-US" sz="2000" dirty="0"/>
          </a:p>
        </p:txBody>
      </p:sp>
      <p:sp>
        <p:nvSpPr>
          <p:cNvPr id="5" name="Projet 1"/>
          <p:cNvSpPr/>
          <p:nvPr/>
        </p:nvSpPr>
        <p:spPr>
          <a:xfrm>
            <a:off x="548640" y="1645920"/>
            <a:ext cx="361188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731520" y="18745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020824"/>
            <a:ext cx="301752" cy="301752"/>
          </a:xfrm>
          <a:prstGeom prst="rect">
            <a:avLst/>
          </a:prstGeom>
        </p:spPr>
      </p:pic>
      <p:sp>
        <p:nvSpPr>
          <p:cNvPr id="8" name="Bilingual text"/>
          <p:cNvSpPr txBox="1"/>
          <p:nvPr/>
        </p:nvSpPr>
        <p:spPr>
          <a:xfrm>
            <a:off x="1508760" y="169164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Vidéos éducatives et tutoriels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Educational videos and tutorials</a:t>
            </a:r>
            <a:endParaRPr lang="en-US" sz="1600" dirty="0"/>
          </a:p>
        </p:txBody>
      </p:sp>
      <p:sp>
        <p:nvSpPr>
          <p:cNvPr id="9" name="Projet 2"/>
          <p:cNvSpPr/>
          <p:nvPr/>
        </p:nvSpPr>
        <p:spPr>
          <a:xfrm>
            <a:off x="4389120" y="1645920"/>
            <a:ext cx="361188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Icon circle"/>
          <p:cNvSpPr/>
          <p:nvPr/>
        </p:nvSpPr>
        <p:spPr>
          <a:xfrm>
            <a:off x="4572000" y="18745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2020824"/>
            <a:ext cx="301752" cy="301752"/>
          </a:xfrm>
          <a:prstGeom prst="rect">
            <a:avLst/>
          </a:prstGeom>
        </p:spPr>
      </p:pic>
      <p:sp>
        <p:nvSpPr>
          <p:cNvPr id="12" name="Bilingual text"/>
          <p:cNvSpPr txBox="1"/>
          <p:nvPr/>
        </p:nvSpPr>
        <p:spPr>
          <a:xfrm>
            <a:off x="5349240" y="169164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Interviews d’enseignants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Teacher interviews</a:t>
            </a:r>
            <a:endParaRPr lang="en-US" sz="1600" dirty="0"/>
          </a:p>
        </p:txBody>
      </p:sp>
      <p:sp>
        <p:nvSpPr>
          <p:cNvPr id="13" name="Projet 3"/>
          <p:cNvSpPr/>
          <p:nvPr/>
        </p:nvSpPr>
        <p:spPr>
          <a:xfrm>
            <a:off x="8229600" y="1645920"/>
            <a:ext cx="361188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Icon circle"/>
          <p:cNvSpPr/>
          <p:nvPr/>
        </p:nvSpPr>
        <p:spPr>
          <a:xfrm>
            <a:off x="8412480" y="18745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784" y="2020824"/>
            <a:ext cx="301752" cy="301752"/>
          </a:xfrm>
          <a:prstGeom prst="rect">
            <a:avLst/>
          </a:prstGeom>
        </p:spPr>
      </p:pic>
      <p:sp>
        <p:nvSpPr>
          <p:cNvPr id="16" name="Bilingual text"/>
          <p:cNvSpPr txBox="1"/>
          <p:nvPr/>
        </p:nvSpPr>
        <p:spPr>
          <a:xfrm>
            <a:off x="9189720" y="169164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Reportages scolaires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School reports</a:t>
            </a:r>
            <a:endParaRPr lang="en-US" sz="1600" dirty="0"/>
          </a:p>
        </p:txBody>
      </p:sp>
      <p:sp>
        <p:nvSpPr>
          <p:cNvPr id="17" name="Projet 4"/>
          <p:cNvSpPr/>
          <p:nvPr/>
        </p:nvSpPr>
        <p:spPr>
          <a:xfrm>
            <a:off x="548640" y="2834640"/>
            <a:ext cx="361188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8" name="Icon circle"/>
          <p:cNvSpPr/>
          <p:nvPr/>
        </p:nvSpPr>
        <p:spPr>
          <a:xfrm>
            <a:off x="731520" y="30632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3209544"/>
            <a:ext cx="301752" cy="301752"/>
          </a:xfrm>
          <a:prstGeom prst="rect">
            <a:avLst/>
          </a:prstGeom>
        </p:spPr>
      </p:pic>
      <p:sp>
        <p:nvSpPr>
          <p:cNvPr id="20" name="Bilingual text"/>
          <p:cNvSpPr txBox="1"/>
          <p:nvPr/>
        </p:nvSpPr>
        <p:spPr>
          <a:xfrm>
            <a:off x="1508760" y="288036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Documentaires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Documentaries</a:t>
            </a:r>
            <a:endParaRPr lang="en-US" sz="1600" dirty="0"/>
          </a:p>
        </p:txBody>
      </p:sp>
      <p:sp>
        <p:nvSpPr>
          <p:cNvPr id="21" name="Projet 5"/>
          <p:cNvSpPr/>
          <p:nvPr/>
        </p:nvSpPr>
        <p:spPr>
          <a:xfrm>
            <a:off x="4389120" y="2834640"/>
            <a:ext cx="361188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2" name="Icon circle"/>
          <p:cNvSpPr/>
          <p:nvPr/>
        </p:nvSpPr>
        <p:spPr>
          <a:xfrm>
            <a:off x="4572000" y="30632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8304" y="3209544"/>
            <a:ext cx="301752" cy="301752"/>
          </a:xfrm>
          <a:prstGeom prst="rect">
            <a:avLst/>
          </a:prstGeom>
        </p:spPr>
      </p:pic>
      <p:sp>
        <p:nvSpPr>
          <p:cNvPr id="24" name="Bilingual text"/>
          <p:cNvSpPr txBox="1"/>
          <p:nvPr/>
        </p:nvSpPr>
        <p:spPr>
          <a:xfrm>
            <a:off x="5349240" y="288036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Couverture d’événements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Event coverage</a:t>
            </a:r>
            <a:endParaRPr lang="en-US" sz="1600" dirty="0"/>
          </a:p>
        </p:txBody>
      </p:sp>
      <p:sp>
        <p:nvSpPr>
          <p:cNvPr id="25" name="Projet 6"/>
          <p:cNvSpPr/>
          <p:nvPr/>
        </p:nvSpPr>
        <p:spPr>
          <a:xfrm>
            <a:off x="8229600" y="2834640"/>
            <a:ext cx="361188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6" name="Icon circle"/>
          <p:cNvSpPr/>
          <p:nvPr/>
        </p:nvSpPr>
        <p:spPr>
          <a:xfrm>
            <a:off x="8412480" y="30632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8784" y="3209544"/>
            <a:ext cx="301752" cy="301752"/>
          </a:xfrm>
          <a:prstGeom prst="rect">
            <a:avLst/>
          </a:prstGeom>
        </p:spPr>
      </p:pic>
      <p:sp>
        <p:nvSpPr>
          <p:cNvPr id="28" name="Bilingual text"/>
          <p:cNvSpPr txBox="1"/>
          <p:nvPr/>
        </p:nvSpPr>
        <p:spPr>
          <a:xfrm>
            <a:off x="9189720" y="288036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YouTube, TikTok, Facebook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Content for social media</a:t>
            </a:r>
            <a:endParaRPr lang="en-US" sz="1600" dirty="0"/>
          </a:p>
        </p:txBody>
      </p:sp>
      <p:sp>
        <p:nvSpPr>
          <p:cNvPr id="29" name="Sous-titre chaîne"/>
          <p:cNvSpPr txBox="1"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De l’idée à la publication / From idea to publication</a:t>
            </a:r>
            <a:endParaRPr lang="en-US" sz="1800" dirty="0"/>
          </a:p>
        </p:txBody>
      </p:sp>
      <p:sp>
        <p:nvSpPr>
          <p:cNvPr id="30" name="Étape 1"/>
          <p:cNvSpPr/>
          <p:nvPr/>
        </p:nvSpPr>
        <p:spPr>
          <a:xfrm>
            <a:off x="548640" y="4617720"/>
            <a:ext cx="1508760" cy="1417320"/>
          </a:xfrm>
          <a:prstGeom prst="roundRect">
            <a:avLst>
              <a:gd name="adj" fmla="val 774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31" name="Étape texte"/>
          <p:cNvSpPr txBox="1"/>
          <p:nvPr/>
        </p:nvSpPr>
        <p:spPr>
          <a:xfrm>
            <a:off x="548640" y="4617720"/>
            <a:ext cx="1508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1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Scénario</a:t>
            </a:r>
            <a:endParaRPr lang="en-US" sz="22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Script</a:t>
            </a:r>
            <a:endParaRPr lang="en-US" sz="2200" dirty="0"/>
          </a:p>
        </p:txBody>
      </p:sp>
      <p:sp>
        <p:nvSpPr>
          <p:cNvPr id="32" name="Étape 2"/>
          <p:cNvSpPr/>
          <p:nvPr/>
        </p:nvSpPr>
        <p:spPr>
          <a:xfrm>
            <a:off x="2148840" y="4617720"/>
            <a:ext cx="1508760" cy="1417320"/>
          </a:xfrm>
          <a:prstGeom prst="roundRect">
            <a:avLst>
              <a:gd name="adj" fmla="val 774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33" name="Étape texte"/>
          <p:cNvSpPr txBox="1"/>
          <p:nvPr/>
        </p:nvSpPr>
        <p:spPr>
          <a:xfrm>
            <a:off x="2148840" y="4617720"/>
            <a:ext cx="1508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2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Prise de vue</a:t>
            </a:r>
            <a:endParaRPr lang="en-US" sz="22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Shooting</a:t>
            </a:r>
            <a:endParaRPr lang="en-US" sz="2200" dirty="0"/>
          </a:p>
        </p:txBody>
      </p:sp>
      <p:sp>
        <p:nvSpPr>
          <p:cNvPr id="34" name="Étape 3"/>
          <p:cNvSpPr/>
          <p:nvPr/>
        </p:nvSpPr>
        <p:spPr>
          <a:xfrm>
            <a:off x="3749040" y="4617720"/>
            <a:ext cx="1508760" cy="1417320"/>
          </a:xfrm>
          <a:prstGeom prst="roundRect">
            <a:avLst>
              <a:gd name="adj" fmla="val 774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35" name="Étape texte"/>
          <p:cNvSpPr txBox="1"/>
          <p:nvPr/>
        </p:nvSpPr>
        <p:spPr>
          <a:xfrm>
            <a:off x="3749040" y="4617720"/>
            <a:ext cx="1508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3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Son</a:t>
            </a:r>
            <a:endParaRPr lang="en-US" sz="22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Sound</a:t>
            </a:r>
            <a:endParaRPr lang="en-US" sz="2200" dirty="0"/>
          </a:p>
        </p:txBody>
      </p:sp>
      <p:sp>
        <p:nvSpPr>
          <p:cNvPr id="36" name="Étape 4"/>
          <p:cNvSpPr/>
          <p:nvPr/>
        </p:nvSpPr>
        <p:spPr>
          <a:xfrm>
            <a:off x="5349240" y="4617720"/>
            <a:ext cx="1508760" cy="1417320"/>
          </a:xfrm>
          <a:prstGeom prst="roundRect">
            <a:avLst>
              <a:gd name="adj" fmla="val 774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37" name="Étape texte"/>
          <p:cNvSpPr txBox="1"/>
          <p:nvPr/>
        </p:nvSpPr>
        <p:spPr>
          <a:xfrm>
            <a:off x="5349240" y="4617720"/>
            <a:ext cx="1508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4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Sous-titres</a:t>
            </a:r>
            <a:endParaRPr lang="en-US" sz="22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Subtitles</a:t>
            </a:r>
            <a:endParaRPr lang="en-US" sz="2200" dirty="0"/>
          </a:p>
        </p:txBody>
      </p:sp>
      <p:sp>
        <p:nvSpPr>
          <p:cNvPr id="38" name="Étape 5"/>
          <p:cNvSpPr/>
          <p:nvPr/>
        </p:nvSpPr>
        <p:spPr>
          <a:xfrm>
            <a:off x="6949440" y="4617720"/>
            <a:ext cx="1508760" cy="1417320"/>
          </a:xfrm>
          <a:prstGeom prst="roundRect">
            <a:avLst>
              <a:gd name="adj" fmla="val 774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39" name="Étape texte"/>
          <p:cNvSpPr txBox="1"/>
          <p:nvPr/>
        </p:nvSpPr>
        <p:spPr>
          <a:xfrm>
            <a:off x="6949440" y="4617720"/>
            <a:ext cx="1508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5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Montage</a:t>
            </a:r>
            <a:endParaRPr lang="en-US" sz="22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Editing</a:t>
            </a:r>
            <a:endParaRPr lang="en-US" sz="2200" dirty="0"/>
          </a:p>
        </p:txBody>
      </p:sp>
      <p:sp>
        <p:nvSpPr>
          <p:cNvPr id="40" name="Étape 6"/>
          <p:cNvSpPr/>
          <p:nvPr/>
        </p:nvSpPr>
        <p:spPr>
          <a:xfrm>
            <a:off x="8549640" y="4617720"/>
            <a:ext cx="1508760" cy="1417320"/>
          </a:xfrm>
          <a:prstGeom prst="roundRect">
            <a:avLst>
              <a:gd name="adj" fmla="val 774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41" name="Étape texte"/>
          <p:cNvSpPr txBox="1"/>
          <p:nvPr/>
        </p:nvSpPr>
        <p:spPr>
          <a:xfrm>
            <a:off x="8549640" y="4617720"/>
            <a:ext cx="1508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6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Publication</a:t>
            </a:r>
            <a:endParaRPr lang="en-US" sz="22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Publishing</a:t>
            </a:r>
            <a:endParaRPr lang="en-US" sz="2200" dirty="0"/>
          </a:p>
        </p:txBody>
      </p:sp>
      <p:sp>
        <p:nvSpPr>
          <p:cNvPr id="42" name="Étape 7"/>
          <p:cNvSpPr/>
          <p:nvPr/>
        </p:nvSpPr>
        <p:spPr>
          <a:xfrm>
            <a:off x="10149840" y="4617720"/>
            <a:ext cx="1508760" cy="1417320"/>
          </a:xfrm>
          <a:prstGeom prst="roundRect">
            <a:avLst>
              <a:gd name="adj" fmla="val 774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43" name="Étape texte"/>
          <p:cNvSpPr txBox="1"/>
          <p:nvPr/>
        </p:nvSpPr>
        <p:spPr>
          <a:xfrm>
            <a:off x="10149840" y="4617720"/>
            <a:ext cx="1508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7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Droits d’auteur</a:t>
            </a:r>
            <a:endParaRPr lang="en-US" sz="22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Copyright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Music Club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Club Musique — quatre activités / four activities</a:t>
            </a:r>
            <a:endParaRPr lang="en-US" sz="2000" dirty="0"/>
          </a:p>
        </p:txBody>
      </p:sp>
      <p:sp>
        <p:nvSpPr>
          <p:cNvPr id="5" name="Carte Chant et rythme"/>
          <p:cNvSpPr/>
          <p:nvPr/>
        </p:nvSpPr>
        <p:spPr>
          <a:xfrm>
            <a:off x="548640" y="1600200"/>
            <a:ext cx="2606040" cy="37033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6" name="Photo Singing and rhythm" descr="Singing and rhyth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" y="1664208"/>
            <a:ext cx="2468880" cy="1645920"/>
          </a:xfrm>
          <a:prstGeom prst="rect">
            <a:avLst/>
          </a:prstGeom>
        </p:spPr>
      </p:pic>
      <p:sp>
        <p:nvSpPr>
          <p:cNvPr id="7" name="Nom"/>
          <p:cNvSpPr txBox="1"/>
          <p:nvPr/>
        </p:nvSpPr>
        <p:spPr>
          <a:xfrm>
            <a:off x="685800" y="33832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Chant et rythme / Singing and rhythm</a:t>
            </a:r>
            <a:endParaRPr lang="en-US" sz="1600" dirty="0"/>
          </a:p>
        </p:txBody>
      </p:sp>
      <p:sp>
        <p:nvSpPr>
          <p:cNvPr id="8" name="Badge free"/>
          <p:cNvSpPr txBox="1"/>
          <p:nvPr/>
        </p:nvSpPr>
        <p:spPr>
          <a:xfrm>
            <a:off x="685800" y="3931920"/>
            <a:ext cx="23317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GRATUIT / FREE</a:t>
            </a:r>
            <a:endParaRPr lang="en-US" sz="1400" dirty="0"/>
          </a:p>
        </p:txBody>
      </p:sp>
      <p:sp>
        <p:nvSpPr>
          <p:cNvPr id="9" name="Compétences"/>
          <p:cNvSpPr txBox="1"/>
          <p:nvPr/>
        </p:nvSpPr>
        <p:spPr>
          <a:xfrm>
            <a:off x="685800" y="43891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Voix · respiration · rythme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Voice · breathing · rhythm</a:t>
            </a:r>
            <a:endParaRPr lang="en-US" sz="1400" dirty="0"/>
          </a:p>
        </p:txBody>
      </p:sp>
      <p:sp>
        <p:nvSpPr>
          <p:cNvPr id="10" name="Carte Piano"/>
          <p:cNvSpPr/>
          <p:nvPr/>
        </p:nvSpPr>
        <p:spPr>
          <a:xfrm>
            <a:off x="3355848" y="1600200"/>
            <a:ext cx="2606040" cy="37033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1" name="Photo Piano" descr="Pian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4428" y="1664208"/>
            <a:ext cx="2468880" cy="1645920"/>
          </a:xfrm>
          <a:prstGeom prst="rect">
            <a:avLst/>
          </a:prstGeom>
        </p:spPr>
      </p:pic>
      <p:sp>
        <p:nvSpPr>
          <p:cNvPr id="12" name="Nom"/>
          <p:cNvSpPr txBox="1"/>
          <p:nvPr/>
        </p:nvSpPr>
        <p:spPr>
          <a:xfrm>
            <a:off x="3493008" y="33832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Piano / Piano</a:t>
            </a:r>
            <a:endParaRPr lang="en-US" sz="1600" dirty="0"/>
          </a:p>
        </p:txBody>
      </p:sp>
      <p:sp>
        <p:nvSpPr>
          <p:cNvPr id="13" name="Badge paid"/>
          <p:cNvSpPr txBox="1"/>
          <p:nvPr/>
        </p:nvSpPr>
        <p:spPr>
          <a:xfrm>
            <a:off x="3493008" y="3931920"/>
            <a:ext cx="233172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50 000 FCFA / mois</a:t>
            </a:r>
            <a:endParaRPr lang="en-US" sz="1400" dirty="0"/>
          </a:p>
        </p:txBody>
      </p:sp>
      <p:sp>
        <p:nvSpPr>
          <p:cNvPr id="14" name="Compétences"/>
          <p:cNvSpPr txBox="1"/>
          <p:nvPr/>
        </p:nvSpPr>
        <p:spPr>
          <a:xfrm>
            <a:off x="3493008" y="43891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Notes · gammes · mélodies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Notes · scales · melodies</a:t>
            </a:r>
            <a:endParaRPr lang="en-US" sz="1400" dirty="0"/>
          </a:p>
        </p:txBody>
      </p:sp>
      <p:sp>
        <p:nvSpPr>
          <p:cNvPr id="15" name="Carte Guitare"/>
          <p:cNvSpPr/>
          <p:nvPr/>
        </p:nvSpPr>
        <p:spPr>
          <a:xfrm>
            <a:off x="6163056" y="1600200"/>
            <a:ext cx="2606040" cy="37033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6" name="Photo Guitar" descr="Guit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636" y="1664208"/>
            <a:ext cx="2468880" cy="1645920"/>
          </a:xfrm>
          <a:prstGeom prst="rect">
            <a:avLst/>
          </a:prstGeom>
        </p:spPr>
      </p:pic>
      <p:sp>
        <p:nvSpPr>
          <p:cNvPr id="17" name="Nom"/>
          <p:cNvSpPr txBox="1"/>
          <p:nvPr/>
        </p:nvSpPr>
        <p:spPr>
          <a:xfrm>
            <a:off x="6300216" y="33832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Guitare / Guitar</a:t>
            </a:r>
            <a:endParaRPr lang="en-US" sz="1600" dirty="0"/>
          </a:p>
        </p:txBody>
      </p:sp>
      <p:sp>
        <p:nvSpPr>
          <p:cNvPr id="18" name="Badge paid"/>
          <p:cNvSpPr txBox="1"/>
          <p:nvPr/>
        </p:nvSpPr>
        <p:spPr>
          <a:xfrm>
            <a:off x="6300216" y="3931920"/>
            <a:ext cx="233172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50 000 FCFA / mois</a:t>
            </a:r>
            <a:endParaRPr lang="en-US" sz="1400" dirty="0"/>
          </a:p>
        </p:txBody>
      </p:sp>
      <p:sp>
        <p:nvSpPr>
          <p:cNvPr id="19" name="Compétences"/>
          <p:cNvSpPr txBox="1"/>
          <p:nvPr/>
        </p:nvSpPr>
        <p:spPr>
          <a:xfrm>
            <a:off x="6300216" y="43891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Accords · rythmes · accompagnement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Chords · strumming · accompaniment</a:t>
            </a:r>
            <a:endParaRPr lang="en-US" sz="1400" dirty="0"/>
          </a:p>
        </p:txBody>
      </p:sp>
      <p:sp>
        <p:nvSpPr>
          <p:cNvPr id="20" name="Carte Flûte"/>
          <p:cNvSpPr/>
          <p:nvPr/>
        </p:nvSpPr>
        <p:spPr>
          <a:xfrm>
            <a:off x="8970264" y="1600200"/>
            <a:ext cx="2606040" cy="37033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1" name="Photo Flute" descr="Flut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8844" y="1664208"/>
            <a:ext cx="2468880" cy="1645920"/>
          </a:xfrm>
          <a:prstGeom prst="rect">
            <a:avLst/>
          </a:prstGeom>
        </p:spPr>
      </p:pic>
      <p:sp>
        <p:nvSpPr>
          <p:cNvPr id="22" name="Nom"/>
          <p:cNvSpPr txBox="1"/>
          <p:nvPr/>
        </p:nvSpPr>
        <p:spPr>
          <a:xfrm>
            <a:off x="9107424" y="33832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Flûte / Flute</a:t>
            </a:r>
            <a:endParaRPr lang="en-US" sz="1600" dirty="0"/>
          </a:p>
        </p:txBody>
      </p:sp>
      <p:sp>
        <p:nvSpPr>
          <p:cNvPr id="23" name="Badge free"/>
          <p:cNvSpPr txBox="1"/>
          <p:nvPr/>
        </p:nvSpPr>
        <p:spPr>
          <a:xfrm>
            <a:off x="9107424" y="3931920"/>
            <a:ext cx="23317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GRATUIT / FREE</a:t>
            </a:r>
            <a:endParaRPr lang="en-US" sz="1400" dirty="0"/>
          </a:p>
        </p:txBody>
      </p:sp>
      <p:sp>
        <p:nvSpPr>
          <p:cNvPr id="24" name="Compétences"/>
          <p:cNvSpPr txBox="1"/>
          <p:nvPr/>
        </p:nvSpPr>
        <p:spPr>
          <a:xfrm>
            <a:off x="9107424" y="43891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Souffle · doigtés · mélodies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Breath · fingering · tunes</a:t>
            </a:r>
            <a:endParaRPr lang="en-US" sz="1400" dirty="0"/>
          </a:p>
        </p:txBody>
      </p:sp>
      <p:sp>
        <p:nvSpPr>
          <p:cNvPr id="25" name="Callout"/>
          <p:cNvSpPr/>
          <p:nvPr/>
        </p:nvSpPr>
        <p:spPr>
          <a:xfrm>
            <a:off x="548640" y="5440680"/>
            <a:ext cx="11109960" cy="82296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Callout text"/>
          <p:cNvSpPr txBox="1"/>
          <p:nvPr/>
        </p:nvSpPr>
        <p:spPr>
          <a:xfrm>
            <a:off x="777240" y="5440680"/>
            <a:ext cx="10652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Projets : chorale · concert scolaire · représentation de fin d’année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Projects: choir · school concert · end-of-year performance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Sports Club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Club Sports — le football est gratuit / football is free</a:t>
            </a:r>
            <a:endParaRPr lang="en-US" sz="2000" dirty="0"/>
          </a:p>
        </p:txBody>
      </p:sp>
      <p:sp>
        <p:nvSpPr>
          <p:cNvPr id="5" name="Carte Football"/>
          <p:cNvSpPr/>
          <p:nvPr/>
        </p:nvSpPr>
        <p:spPr>
          <a:xfrm>
            <a:off x="548640" y="1600200"/>
            <a:ext cx="2606040" cy="3749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6" name="Photo Football" descr="Footba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2057400" cy="2743200"/>
          </a:xfrm>
          <a:prstGeom prst="rect">
            <a:avLst/>
          </a:prstGeom>
        </p:spPr>
      </p:pic>
      <p:sp>
        <p:nvSpPr>
          <p:cNvPr id="7" name="Nom"/>
          <p:cNvSpPr txBox="1"/>
          <p:nvPr/>
        </p:nvSpPr>
        <p:spPr>
          <a:xfrm>
            <a:off x="640080" y="44805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Football</a:t>
            </a:r>
            <a:endParaRPr lang="en-US" sz="1600" dirty="0"/>
          </a:p>
        </p:txBody>
      </p:sp>
      <p:sp>
        <p:nvSpPr>
          <p:cNvPr id="8" name="Badge free"/>
          <p:cNvSpPr txBox="1"/>
          <p:nvPr/>
        </p:nvSpPr>
        <p:spPr>
          <a:xfrm>
            <a:off x="731520" y="4864608"/>
            <a:ext cx="2240280" cy="384048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GRATUIT / FREE</a:t>
            </a:r>
            <a:endParaRPr lang="en-US" sz="1400" dirty="0"/>
          </a:p>
        </p:txBody>
      </p:sp>
      <p:sp>
        <p:nvSpPr>
          <p:cNvPr id="9" name="Carte Football + Volleyball"/>
          <p:cNvSpPr/>
          <p:nvPr/>
        </p:nvSpPr>
        <p:spPr>
          <a:xfrm>
            <a:off x="3383280" y="1600200"/>
            <a:ext cx="2606040" cy="3749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0" name="Photo Football + Volleyball" descr="Football + Volleybal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691640"/>
            <a:ext cx="2057400" cy="2743200"/>
          </a:xfrm>
          <a:prstGeom prst="rect">
            <a:avLst/>
          </a:prstGeom>
        </p:spPr>
      </p:pic>
      <p:sp>
        <p:nvSpPr>
          <p:cNvPr id="11" name="Nom"/>
          <p:cNvSpPr txBox="1"/>
          <p:nvPr/>
        </p:nvSpPr>
        <p:spPr>
          <a:xfrm>
            <a:off x="3474720" y="44805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Football + Volleyball</a:t>
            </a:r>
            <a:endParaRPr lang="en-US" sz="1600" dirty="0"/>
          </a:p>
        </p:txBody>
      </p:sp>
      <p:sp>
        <p:nvSpPr>
          <p:cNvPr id="12" name="Badge paid"/>
          <p:cNvSpPr txBox="1"/>
          <p:nvPr/>
        </p:nvSpPr>
        <p:spPr>
          <a:xfrm>
            <a:off x="3566160" y="4864608"/>
            <a:ext cx="2240280" cy="384048"/>
          </a:xfrm>
          <a:prstGeom prst="roundRect">
            <a:avLst>
              <a:gd name="adj" fmla="val 47619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35 000 FCFA / mois</a:t>
            </a:r>
            <a:endParaRPr lang="en-US" sz="1400" dirty="0"/>
          </a:p>
        </p:txBody>
      </p:sp>
      <p:sp>
        <p:nvSpPr>
          <p:cNvPr id="13" name="Carte Football + Basketball"/>
          <p:cNvSpPr/>
          <p:nvPr/>
        </p:nvSpPr>
        <p:spPr>
          <a:xfrm>
            <a:off x="6217920" y="1600200"/>
            <a:ext cx="2606040" cy="3749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4" name="Photo Football + Basketball" descr="Football + Basketbal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691640"/>
            <a:ext cx="2057400" cy="2743200"/>
          </a:xfrm>
          <a:prstGeom prst="rect">
            <a:avLst/>
          </a:prstGeom>
        </p:spPr>
      </p:pic>
      <p:sp>
        <p:nvSpPr>
          <p:cNvPr id="15" name="Nom"/>
          <p:cNvSpPr txBox="1"/>
          <p:nvPr/>
        </p:nvSpPr>
        <p:spPr>
          <a:xfrm>
            <a:off x="6309360" y="44805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Football + Basketball</a:t>
            </a:r>
            <a:endParaRPr lang="en-US" sz="1600" dirty="0"/>
          </a:p>
        </p:txBody>
      </p:sp>
      <p:sp>
        <p:nvSpPr>
          <p:cNvPr id="16" name="Badge paid"/>
          <p:cNvSpPr txBox="1"/>
          <p:nvPr/>
        </p:nvSpPr>
        <p:spPr>
          <a:xfrm>
            <a:off x="6400800" y="4864608"/>
            <a:ext cx="2240280" cy="384048"/>
          </a:xfrm>
          <a:prstGeom prst="roundRect">
            <a:avLst>
              <a:gd name="adj" fmla="val 47619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35 000 FCFA / mois</a:t>
            </a:r>
            <a:endParaRPr lang="en-US" sz="1400" dirty="0"/>
          </a:p>
        </p:txBody>
      </p:sp>
      <p:sp>
        <p:nvSpPr>
          <p:cNvPr id="17" name="Carte Football + Tennis"/>
          <p:cNvSpPr/>
          <p:nvPr/>
        </p:nvSpPr>
        <p:spPr>
          <a:xfrm>
            <a:off x="9052560" y="1600200"/>
            <a:ext cx="2606040" cy="3749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8" name="Photo Football + Tennis" descr="Football + Tenni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1691640"/>
            <a:ext cx="2057400" cy="2743200"/>
          </a:xfrm>
          <a:prstGeom prst="rect">
            <a:avLst/>
          </a:prstGeom>
        </p:spPr>
      </p:pic>
      <p:sp>
        <p:nvSpPr>
          <p:cNvPr id="19" name="Nom"/>
          <p:cNvSpPr txBox="1"/>
          <p:nvPr/>
        </p:nvSpPr>
        <p:spPr>
          <a:xfrm>
            <a:off x="9144000" y="44805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Football + Tennis</a:t>
            </a:r>
            <a:endParaRPr lang="en-US" sz="1600" dirty="0"/>
          </a:p>
        </p:txBody>
      </p:sp>
      <p:sp>
        <p:nvSpPr>
          <p:cNvPr id="20" name="Badge paid"/>
          <p:cNvSpPr txBox="1"/>
          <p:nvPr/>
        </p:nvSpPr>
        <p:spPr>
          <a:xfrm>
            <a:off x="9235440" y="4864608"/>
            <a:ext cx="2240280" cy="384048"/>
          </a:xfrm>
          <a:prstGeom prst="roundRect">
            <a:avLst>
              <a:gd name="adj" fmla="val 47619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35 000 FCFA / mois</a:t>
            </a:r>
            <a:endParaRPr lang="en-US" sz="1400" dirty="0"/>
          </a:p>
        </p:txBody>
      </p:sp>
      <p:sp>
        <p:nvSpPr>
          <p:cNvPr id="21" name="Icon circle"/>
          <p:cNvSpPr/>
          <p:nvPr/>
        </p:nvSpPr>
        <p:spPr>
          <a:xfrm>
            <a:off x="548640" y="555040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687568"/>
            <a:ext cx="292608" cy="292608"/>
          </a:xfrm>
          <a:prstGeom prst="rect">
            <a:avLst/>
          </a:prstGeom>
        </p:spPr>
      </p:pic>
      <p:sp>
        <p:nvSpPr>
          <p:cNvPr id="23" name="Bilingual text"/>
          <p:cNvSpPr txBox="1"/>
          <p:nvPr/>
        </p:nvSpPr>
        <p:spPr>
          <a:xfrm>
            <a:off x="1234440" y="550468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Santé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Health</a:t>
            </a:r>
            <a:endParaRPr lang="en-US" sz="1600" dirty="0"/>
          </a:p>
        </p:txBody>
      </p:sp>
      <p:sp>
        <p:nvSpPr>
          <p:cNvPr id="24" name="Icon circle"/>
          <p:cNvSpPr/>
          <p:nvPr/>
        </p:nvSpPr>
        <p:spPr>
          <a:xfrm>
            <a:off x="3383280" y="555040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0440" y="5687568"/>
            <a:ext cx="292608" cy="292608"/>
          </a:xfrm>
          <a:prstGeom prst="rect">
            <a:avLst/>
          </a:prstGeom>
        </p:spPr>
      </p:pic>
      <p:sp>
        <p:nvSpPr>
          <p:cNvPr id="26" name="Bilingual text"/>
          <p:cNvSpPr txBox="1"/>
          <p:nvPr/>
        </p:nvSpPr>
        <p:spPr>
          <a:xfrm>
            <a:off x="4069080" y="550468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Fair-play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Fair play</a:t>
            </a:r>
            <a:endParaRPr lang="en-US" sz="1600" dirty="0"/>
          </a:p>
        </p:txBody>
      </p:sp>
      <p:sp>
        <p:nvSpPr>
          <p:cNvPr id="27" name="Icon circle"/>
          <p:cNvSpPr/>
          <p:nvPr/>
        </p:nvSpPr>
        <p:spPr>
          <a:xfrm>
            <a:off x="6217920" y="555040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8" name="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5687568"/>
            <a:ext cx="292608" cy="292608"/>
          </a:xfrm>
          <a:prstGeom prst="rect">
            <a:avLst/>
          </a:prstGeom>
        </p:spPr>
      </p:pic>
      <p:sp>
        <p:nvSpPr>
          <p:cNvPr id="29" name="Bilingual text"/>
          <p:cNvSpPr txBox="1"/>
          <p:nvPr/>
        </p:nvSpPr>
        <p:spPr>
          <a:xfrm>
            <a:off x="6903720" y="550468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Discipline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Discipline</a:t>
            </a:r>
            <a:endParaRPr lang="en-US" sz="1600" dirty="0"/>
          </a:p>
        </p:txBody>
      </p:sp>
      <p:sp>
        <p:nvSpPr>
          <p:cNvPr id="30" name="Icon circle"/>
          <p:cNvSpPr/>
          <p:nvPr/>
        </p:nvSpPr>
        <p:spPr>
          <a:xfrm>
            <a:off x="9052560" y="555040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1" name="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9720" y="5687568"/>
            <a:ext cx="292608" cy="292608"/>
          </a:xfrm>
          <a:prstGeom prst="rect">
            <a:avLst/>
          </a:prstGeom>
        </p:spPr>
      </p:pic>
      <p:sp>
        <p:nvSpPr>
          <p:cNvPr id="32" name="Bilingual text"/>
          <p:cNvSpPr txBox="1"/>
          <p:nvPr/>
        </p:nvSpPr>
        <p:spPr>
          <a:xfrm>
            <a:off x="9738360" y="550468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Esprit d’équipe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Team spirit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ICT Club : Web Programming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Club Informatique — Programmation web</a:t>
            </a:r>
            <a:endParaRPr lang="en-US" sz="2000" dirty="0"/>
          </a:p>
        </p:txBody>
      </p:sp>
      <p:pic>
        <p:nvPicPr>
          <p:cNvPr id="5" name="Photo" descr="Élèves devant un ordinateur, programmation we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212080" cy="3474720"/>
          </a:xfrm>
          <a:prstGeom prst="rect">
            <a:avLst/>
          </a:prstGeom>
        </p:spPr>
      </p:pic>
      <p:sp>
        <p:nvSpPr>
          <p:cNvPr id="6" name="Callout"/>
          <p:cNvSpPr/>
          <p:nvPr/>
        </p:nvSpPr>
        <p:spPr>
          <a:xfrm>
            <a:off x="548640" y="5303520"/>
            <a:ext cx="5212080" cy="868680"/>
          </a:xfrm>
          <a:prstGeom prst="roundRect">
            <a:avLst>
              <a:gd name="adj" fmla="val 1263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Callout text"/>
          <p:cNvSpPr txBox="1"/>
          <p:nvPr/>
        </p:nvSpPr>
        <p:spPr>
          <a:xfrm>
            <a:off x="777240" y="53035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Logique · Résolution de problèmes · Culture numérique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Logic · Problem solving · Digital literacy</a:t>
            </a:r>
            <a:endParaRPr lang="en-US" sz="1700" dirty="0"/>
          </a:p>
        </p:txBody>
      </p:sp>
      <p:sp>
        <p:nvSpPr>
          <p:cNvPr id="8" name="Badge paid"/>
          <p:cNvSpPr txBox="1"/>
          <p:nvPr/>
        </p:nvSpPr>
        <p:spPr>
          <a:xfrm>
            <a:off x="6126480" y="1691640"/>
            <a:ext cx="3749040" cy="384048"/>
          </a:xfrm>
          <a:prstGeom prst="roundRect">
            <a:avLst>
              <a:gd name="adj" fmla="val 47619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50 000 FCFA / mois</a:t>
            </a:r>
            <a:endParaRPr lang="en-US" sz="1500" dirty="0"/>
          </a:p>
        </p:txBody>
      </p:sp>
      <p:sp>
        <p:nvSpPr>
          <p:cNvPr id="9" name="Marker"/>
          <p:cNvSpPr/>
          <p:nvPr/>
        </p:nvSpPr>
        <p:spPr>
          <a:xfrm>
            <a:off x="6126480" y="255574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Bilingual text"/>
          <p:cNvSpPr txBox="1"/>
          <p:nvPr/>
        </p:nvSpPr>
        <p:spPr>
          <a:xfrm>
            <a:off x="6510528" y="2286000"/>
            <a:ext cx="5102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HTML : structure d’une page web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HTML: structuring a web page</a:t>
            </a:r>
            <a:endParaRPr lang="en-US" sz="1800" dirty="0"/>
          </a:p>
        </p:txBody>
      </p:sp>
      <p:sp>
        <p:nvSpPr>
          <p:cNvPr id="11" name="Marker"/>
          <p:cNvSpPr/>
          <p:nvPr/>
        </p:nvSpPr>
        <p:spPr>
          <a:xfrm>
            <a:off x="6126480" y="342442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Bilingual text"/>
          <p:cNvSpPr txBox="1"/>
          <p:nvPr/>
        </p:nvSpPr>
        <p:spPr>
          <a:xfrm>
            <a:off x="6510528" y="3154680"/>
            <a:ext cx="5102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CSS : couleurs, mise en page, design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CSS: colours, layout, design</a:t>
            </a:r>
            <a:endParaRPr lang="en-US" sz="1800" dirty="0"/>
          </a:p>
        </p:txBody>
      </p:sp>
      <p:sp>
        <p:nvSpPr>
          <p:cNvPr id="13" name="Marker"/>
          <p:cNvSpPr/>
          <p:nvPr/>
        </p:nvSpPr>
        <p:spPr>
          <a:xfrm>
            <a:off x="6126480" y="429310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Bilingual text"/>
          <p:cNvSpPr txBox="1"/>
          <p:nvPr/>
        </p:nvSpPr>
        <p:spPr>
          <a:xfrm>
            <a:off x="6510528" y="4023360"/>
            <a:ext cx="5102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JavaScript : interactivité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JavaScript: interactivity</a:t>
            </a:r>
            <a:endParaRPr lang="en-US" sz="1800" dirty="0"/>
          </a:p>
        </p:txBody>
      </p:sp>
      <p:sp>
        <p:nvSpPr>
          <p:cNvPr id="15" name="Marker"/>
          <p:cNvSpPr/>
          <p:nvPr/>
        </p:nvSpPr>
        <p:spPr>
          <a:xfrm>
            <a:off x="6126480" y="516178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Bilingual text"/>
          <p:cNvSpPr txBox="1"/>
          <p:nvPr/>
        </p:nvSpPr>
        <p:spPr>
          <a:xfrm>
            <a:off x="6510528" y="4892040"/>
            <a:ext cx="5102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Création d’un petit site web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Building a small website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ICT Club : Bureautique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Office Tools — Word, Excel, PowerPoint</a:t>
            </a:r>
            <a:endParaRPr lang="en-US" sz="2000" dirty="0"/>
          </a:p>
        </p:txBody>
      </p:sp>
      <p:pic>
        <p:nvPicPr>
          <p:cNvPr id="5" name="Photo" descr="Élèves réalisant des documents et tableau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0975" y="1691640"/>
            <a:ext cx="5212080" cy="3474720"/>
          </a:xfrm>
          <a:prstGeom prst="rect">
            <a:avLst/>
          </a:prstGeom>
        </p:spPr>
      </p:pic>
      <p:sp>
        <p:nvSpPr>
          <p:cNvPr id="6" name="Callout"/>
          <p:cNvSpPr/>
          <p:nvPr/>
        </p:nvSpPr>
        <p:spPr>
          <a:xfrm>
            <a:off x="6430975" y="5303520"/>
            <a:ext cx="5212080" cy="868680"/>
          </a:xfrm>
          <a:prstGeom prst="roundRect">
            <a:avLst>
              <a:gd name="adj" fmla="val 1263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Callout text"/>
          <p:cNvSpPr txBox="1"/>
          <p:nvPr/>
        </p:nvSpPr>
        <p:spPr>
          <a:xfrm>
            <a:off x="6659575" y="53035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Documents, tableaux et présentations de qualité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Quality documents, spreadsheets and presentations</a:t>
            </a:r>
            <a:endParaRPr lang="en-US" sz="1700" dirty="0"/>
          </a:p>
        </p:txBody>
      </p:sp>
      <p:sp>
        <p:nvSpPr>
          <p:cNvPr id="8" name="Badge paid"/>
          <p:cNvSpPr txBox="1"/>
          <p:nvPr/>
        </p:nvSpPr>
        <p:spPr>
          <a:xfrm>
            <a:off x="548640" y="1691640"/>
            <a:ext cx="3749040" cy="384048"/>
          </a:xfrm>
          <a:prstGeom prst="roundRect">
            <a:avLst>
              <a:gd name="adj" fmla="val 47619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50 000 FCFA / mois</a:t>
            </a:r>
            <a:endParaRPr lang="en-US" sz="1500" dirty="0"/>
          </a:p>
        </p:txBody>
      </p:sp>
      <p:sp>
        <p:nvSpPr>
          <p:cNvPr id="9" name="App Microsoft Word"/>
          <p:cNvSpPr/>
          <p:nvPr/>
        </p:nvSpPr>
        <p:spPr>
          <a:xfrm>
            <a:off x="548640" y="2331720"/>
            <a:ext cx="548640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0" name="App icon" descr="Microsoft Wo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606040"/>
            <a:ext cx="594360" cy="594360"/>
          </a:xfrm>
          <a:prstGeom prst="rect">
            <a:avLst/>
          </a:prstGeom>
        </p:spPr>
      </p:pic>
      <p:sp>
        <p:nvSpPr>
          <p:cNvPr id="11" name="App texte"/>
          <p:cNvSpPr txBox="1"/>
          <p:nvPr/>
        </p:nvSpPr>
        <p:spPr>
          <a:xfrm>
            <a:off x="1600200" y="233172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Microsoft Word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Lettres, rapports et mise en forme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Letters, reports and formatting</a:t>
            </a:r>
            <a:endParaRPr lang="en-US" sz="1800" dirty="0"/>
          </a:p>
        </p:txBody>
      </p:sp>
      <p:sp>
        <p:nvSpPr>
          <p:cNvPr id="12" name="App Microsoft Excel"/>
          <p:cNvSpPr/>
          <p:nvPr/>
        </p:nvSpPr>
        <p:spPr>
          <a:xfrm>
            <a:off x="548640" y="3611880"/>
            <a:ext cx="548640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3" name="App icon" descr="Microsoft Exce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886200"/>
            <a:ext cx="594360" cy="594360"/>
          </a:xfrm>
          <a:prstGeom prst="rect">
            <a:avLst/>
          </a:prstGeom>
        </p:spPr>
      </p:pic>
      <p:sp>
        <p:nvSpPr>
          <p:cNvPr id="14" name="App texte"/>
          <p:cNvSpPr txBox="1"/>
          <p:nvPr/>
        </p:nvSpPr>
        <p:spPr>
          <a:xfrm>
            <a:off x="1600200" y="361188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Microsoft Excel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Tableaux, formules et graphiques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Tables, formulas and charts</a:t>
            </a:r>
            <a:endParaRPr lang="en-US" sz="1800" dirty="0"/>
          </a:p>
        </p:txBody>
      </p:sp>
      <p:sp>
        <p:nvSpPr>
          <p:cNvPr id="15" name="App Microsoft PowerPoint"/>
          <p:cNvSpPr/>
          <p:nvPr/>
        </p:nvSpPr>
        <p:spPr>
          <a:xfrm>
            <a:off x="548640" y="4892040"/>
            <a:ext cx="548640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6" name="App icon" descr="Microsoft PowerPoin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166360"/>
            <a:ext cx="594360" cy="594360"/>
          </a:xfrm>
          <a:prstGeom prst="rect">
            <a:avLst/>
          </a:prstGeom>
        </p:spPr>
      </p:pic>
      <p:sp>
        <p:nvSpPr>
          <p:cNvPr id="17" name="App texte"/>
          <p:cNvSpPr txBox="1"/>
          <p:nvPr/>
        </p:nvSpPr>
        <p:spPr>
          <a:xfrm>
            <a:off x="1600200" y="489204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Microsoft PowerPoint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Présentations visuelles et professionnelles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Visual and professional presentations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ICT Club : Création de jeux vidéo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Video Game Creation</a:t>
            </a:r>
            <a:endParaRPr lang="en-US" sz="2000" dirty="0"/>
          </a:p>
        </p:txBody>
      </p:sp>
      <p:pic>
        <p:nvPicPr>
          <p:cNvPr id="5" name="Photo" descr="Élèves créant un jeu vidéo avec un enseign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212080" cy="3474720"/>
          </a:xfrm>
          <a:prstGeom prst="rect">
            <a:avLst/>
          </a:prstGeom>
        </p:spPr>
      </p:pic>
      <p:sp>
        <p:nvSpPr>
          <p:cNvPr id="6" name="Callout"/>
          <p:cNvSpPr/>
          <p:nvPr/>
        </p:nvSpPr>
        <p:spPr>
          <a:xfrm>
            <a:off x="548640" y="5303520"/>
            <a:ext cx="5212080" cy="868680"/>
          </a:xfrm>
          <a:prstGeom prst="roundRect">
            <a:avLst>
              <a:gd name="adj" fmla="val 1263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Callout text"/>
          <p:cNvSpPr txBox="1"/>
          <p:nvPr/>
        </p:nvSpPr>
        <p:spPr>
          <a:xfrm>
            <a:off x="777240" y="53035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Imaginer · Coder · Créer · Jouer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Imagine · Code · Create · Play</a:t>
            </a:r>
            <a:endParaRPr lang="en-US" sz="1700" dirty="0"/>
          </a:p>
        </p:txBody>
      </p:sp>
      <p:sp>
        <p:nvSpPr>
          <p:cNvPr id="8" name="Badge paid"/>
          <p:cNvSpPr txBox="1"/>
          <p:nvPr/>
        </p:nvSpPr>
        <p:spPr>
          <a:xfrm>
            <a:off x="6126480" y="1691640"/>
            <a:ext cx="3749040" cy="384048"/>
          </a:xfrm>
          <a:prstGeom prst="roundRect">
            <a:avLst>
              <a:gd name="adj" fmla="val 47619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50 000 FCFA / mois</a:t>
            </a:r>
            <a:endParaRPr lang="en-US" sz="1500" dirty="0"/>
          </a:p>
        </p:txBody>
      </p:sp>
      <p:sp>
        <p:nvSpPr>
          <p:cNvPr id="9" name="Marker"/>
          <p:cNvSpPr/>
          <p:nvPr/>
        </p:nvSpPr>
        <p:spPr>
          <a:xfrm>
            <a:off x="6126480" y="2459736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Bilingual text"/>
          <p:cNvSpPr txBox="1"/>
          <p:nvPr/>
        </p:nvSpPr>
        <p:spPr>
          <a:xfrm>
            <a:off x="6510528" y="2286000"/>
            <a:ext cx="51023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Conception du jeu et des niveaux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Game and level design</a:t>
            </a:r>
            <a:endParaRPr lang="en-US" sz="1800" dirty="0"/>
          </a:p>
        </p:txBody>
      </p:sp>
      <p:sp>
        <p:nvSpPr>
          <p:cNvPr id="11" name="Marker"/>
          <p:cNvSpPr/>
          <p:nvPr/>
        </p:nvSpPr>
        <p:spPr>
          <a:xfrm>
            <a:off x="6126480" y="3136392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Bilingual text"/>
          <p:cNvSpPr txBox="1"/>
          <p:nvPr/>
        </p:nvSpPr>
        <p:spPr>
          <a:xfrm>
            <a:off x="6510528" y="2962656"/>
            <a:ext cx="51023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Création des personnages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Character creation</a:t>
            </a:r>
            <a:endParaRPr lang="en-US" sz="1800" dirty="0"/>
          </a:p>
        </p:txBody>
      </p:sp>
      <p:sp>
        <p:nvSpPr>
          <p:cNvPr id="13" name="Marker"/>
          <p:cNvSpPr/>
          <p:nvPr/>
        </p:nvSpPr>
        <p:spPr>
          <a:xfrm>
            <a:off x="6126480" y="381304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Bilingual text"/>
          <p:cNvSpPr txBox="1"/>
          <p:nvPr/>
        </p:nvSpPr>
        <p:spPr>
          <a:xfrm>
            <a:off x="6510528" y="3639312"/>
            <a:ext cx="51023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Programmation de la logique du jeu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Programming the game logic</a:t>
            </a:r>
            <a:endParaRPr lang="en-US" sz="1800" dirty="0"/>
          </a:p>
        </p:txBody>
      </p:sp>
      <p:sp>
        <p:nvSpPr>
          <p:cNvPr id="15" name="Marker"/>
          <p:cNvSpPr/>
          <p:nvPr/>
        </p:nvSpPr>
        <p:spPr>
          <a:xfrm>
            <a:off x="6126480" y="4489704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Bilingual text"/>
          <p:cNvSpPr txBox="1"/>
          <p:nvPr/>
        </p:nvSpPr>
        <p:spPr>
          <a:xfrm>
            <a:off x="6510528" y="4315968"/>
            <a:ext cx="51023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Initiation à Unity et C#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Introduction to Unity and C#</a:t>
            </a:r>
            <a:endParaRPr lang="en-US" sz="1800" dirty="0"/>
          </a:p>
        </p:txBody>
      </p:sp>
      <p:sp>
        <p:nvSpPr>
          <p:cNvPr id="17" name="Marker"/>
          <p:cNvSpPr/>
          <p:nvPr/>
        </p:nvSpPr>
        <p:spPr>
          <a:xfrm>
            <a:off x="6126480" y="5166360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Bilingual text"/>
          <p:cNvSpPr txBox="1"/>
          <p:nvPr/>
        </p:nvSpPr>
        <p:spPr>
          <a:xfrm>
            <a:off x="6510528" y="4992624"/>
            <a:ext cx="51023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Son, musique et travail en équipe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Sound, music and teamwork</a:t>
            </a:r>
            <a:endParaRPr lang="en-US" sz="1800" dirty="0"/>
          </a:p>
        </p:txBody>
      </p:sp>
      <p:sp>
        <p:nvSpPr>
          <p:cNvPr id="19" name="Marker"/>
          <p:cNvSpPr/>
          <p:nvPr/>
        </p:nvSpPr>
        <p:spPr>
          <a:xfrm>
            <a:off x="6126480" y="5843016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Bilingual text"/>
          <p:cNvSpPr txBox="1"/>
          <p:nvPr/>
        </p:nvSpPr>
        <p:spPr>
          <a:xfrm>
            <a:off x="6510528" y="5669280"/>
            <a:ext cx="51023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Création d’un jeu simple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Building a simple game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Tarifs et participation (1/2)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Fees and participation — frais mensuels / monthly fees</a:t>
            </a:r>
            <a:endParaRPr lang="en-US" sz="2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1099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480560"/>
                <a:gridCol w="1645920"/>
                <a:gridCol w="269748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Activité / Activity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Club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Santé, hygiène, premiers secours, prévention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GRATUIT / FREE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 Club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Environnement, propreté de l’école, jardinage, recyclage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GRATUIT / FREE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Arts &amp; Plastic Club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Dessin, peinture, arts plastiques, travaux manuels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Elsie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D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25 000 FCFA / mois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 row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Club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Journalism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Pokam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GRATUIT / FREE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Journalism+ · Public Speaking · Theatre Arts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Pokam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D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30 000 FCFA / mois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Photography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confirmer / To be confirmed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705"/>
                    </a:solidFill>
                  </a:tcPr>
                </a:tc>
              </a:tr>
              <a:tr h="512064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Videography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confirmer / To be confirmed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705"/>
                    </a:solidFill>
                  </a:tcPr>
                </a:tc>
              </a:tr>
            </a:tbl>
          </a:graphicData>
        </a:graphic>
      </p:graphicFrame>
      <p:sp>
        <p:nvSpPr>
          <p:cNvPr id="6" name="Note"/>
          <p:cNvSpPr txBox="1"/>
          <p:nvPr/>
        </p:nvSpPr>
        <p:spPr>
          <a:xfrm>
            <a:off x="548640" y="594360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Les frais des clubs payants se règlent à l’administration. / Fees for paid clubs are paid at the administration office.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Tarifs et participation (2/2)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Fees and participation — frais mensuels / monthly fees</a:t>
            </a:r>
            <a:endParaRPr lang="en-US" sz="2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1099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480560"/>
                <a:gridCol w="1645920"/>
                <a:gridCol w="26974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Activité / Activity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3A"/>
                    </a:solidFill>
                  </a:tcPr>
                </a:tc>
              </a:tr>
              <a:tr h="402336">
                <a:tc row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Music Club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Chant / Rythme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GRATUIT / FREE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Piano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D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50 000 FCFA / mois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Guitar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D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50 000 FCFA / mois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GRATUIT / FREE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 row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Sports Club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Football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GRATUIT / FREE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Volleyball + Football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D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35 000 FCFA / mois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Basketball + Football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D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35 000 FCFA / mois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Tennis + Football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D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35 000 FCFA / mois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 row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ICT Club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programming (HTML, CSS, JavaScript)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D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50 000 FCFA / mois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Word, Excel, PowerPoint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D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50 000 FCFA / mois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game creation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D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50 000 FCFA / mois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Modalités et conditions d’inscription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Registration terms and conditions</a:t>
            </a:r>
            <a:endParaRPr lang="en-US" sz="2000" dirty="0"/>
          </a:p>
        </p:txBody>
      </p:sp>
      <p:sp>
        <p:nvSpPr>
          <p:cNvPr id="5" name="Condition 1"/>
          <p:cNvSpPr/>
          <p:nvPr/>
        </p:nvSpPr>
        <p:spPr>
          <a:xfrm>
            <a:off x="548640" y="1645920"/>
            <a:ext cx="5440680" cy="1389888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777240" y="1993392"/>
            <a:ext cx="694944" cy="6949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76272"/>
            <a:ext cx="329184" cy="329184"/>
          </a:xfrm>
          <a:prstGeom prst="rect">
            <a:avLst/>
          </a:prstGeom>
        </p:spPr>
      </p:pic>
      <p:sp>
        <p:nvSpPr>
          <p:cNvPr id="8" name="Bilingual text"/>
          <p:cNvSpPr txBox="1"/>
          <p:nvPr/>
        </p:nvSpPr>
        <p:spPr>
          <a:xfrm>
            <a:off x="1691640" y="1691640"/>
            <a:ext cx="41605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Les activités ont lieu en dehors des heures de cours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Activities take place outside class hours</a:t>
            </a:r>
            <a:endParaRPr lang="en-US" sz="1600" dirty="0"/>
          </a:p>
        </p:txBody>
      </p:sp>
      <p:sp>
        <p:nvSpPr>
          <p:cNvPr id="9" name="Condition 2"/>
          <p:cNvSpPr/>
          <p:nvPr/>
        </p:nvSpPr>
        <p:spPr>
          <a:xfrm>
            <a:off x="6217920" y="1645920"/>
            <a:ext cx="5440680" cy="1389888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Icon circle"/>
          <p:cNvSpPr/>
          <p:nvPr/>
        </p:nvSpPr>
        <p:spPr>
          <a:xfrm>
            <a:off x="6446520" y="1993392"/>
            <a:ext cx="694944" cy="6949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176272"/>
            <a:ext cx="329184" cy="329184"/>
          </a:xfrm>
          <a:prstGeom prst="rect">
            <a:avLst/>
          </a:prstGeom>
        </p:spPr>
      </p:pic>
      <p:sp>
        <p:nvSpPr>
          <p:cNvPr id="12" name="Bilingual text"/>
          <p:cNvSpPr txBox="1"/>
          <p:nvPr/>
        </p:nvSpPr>
        <p:spPr>
          <a:xfrm>
            <a:off x="7360920" y="1691640"/>
            <a:ext cx="41605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Jours et horaires communiqués après les inscriptions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Days and times announced after registration</a:t>
            </a:r>
            <a:endParaRPr lang="en-US" sz="1600" dirty="0"/>
          </a:p>
        </p:txBody>
      </p:sp>
      <p:sp>
        <p:nvSpPr>
          <p:cNvPr id="13" name="Condition 3"/>
          <p:cNvSpPr/>
          <p:nvPr/>
        </p:nvSpPr>
        <p:spPr>
          <a:xfrm>
            <a:off x="548640" y="3172968"/>
            <a:ext cx="5440680" cy="1389888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Icon circle"/>
          <p:cNvSpPr/>
          <p:nvPr/>
        </p:nvSpPr>
        <p:spPr>
          <a:xfrm>
            <a:off x="777240" y="3520440"/>
            <a:ext cx="694944" cy="6949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703320"/>
            <a:ext cx="329184" cy="329184"/>
          </a:xfrm>
          <a:prstGeom prst="rect">
            <a:avLst/>
          </a:prstGeom>
        </p:spPr>
      </p:pic>
      <p:sp>
        <p:nvSpPr>
          <p:cNvPr id="16" name="Bilingual text"/>
          <p:cNvSpPr txBox="1"/>
          <p:nvPr/>
        </p:nvSpPr>
        <p:spPr>
          <a:xfrm>
            <a:off x="1691640" y="3218688"/>
            <a:ext cx="41605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Un club n’ouvre que s’il compte un minimum d’inscrits (…… élèves)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 club opens only with a minimum number of students (…… students)</a:t>
            </a:r>
            <a:endParaRPr lang="en-US" sz="1600" dirty="0"/>
          </a:p>
        </p:txBody>
      </p:sp>
      <p:sp>
        <p:nvSpPr>
          <p:cNvPr id="17" name="Condition 4"/>
          <p:cNvSpPr/>
          <p:nvPr/>
        </p:nvSpPr>
        <p:spPr>
          <a:xfrm>
            <a:off x="6217920" y="3172968"/>
            <a:ext cx="5440680" cy="1389888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8" name="Icon circle"/>
          <p:cNvSpPr/>
          <p:nvPr/>
        </p:nvSpPr>
        <p:spPr>
          <a:xfrm>
            <a:off x="6446520" y="3520440"/>
            <a:ext cx="694944" cy="6949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3703320"/>
            <a:ext cx="329184" cy="329184"/>
          </a:xfrm>
          <a:prstGeom prst="rect">
            <a:avLst/>
          </a:prstGeom>
        </p:spPr>
      </p:pic>
      <p:sp>
        <p:nvSpPr>
          <p:cNvPr id="20" name="Bilingual text"/>
          <p:cNvSpPr txBox="1"/>
          <p:nvPr/>
        </p:nvSpPr>
        <p:spPr>
          <a:xfrm>
            <a:off x="7360920" y="3218688"/>
            <a:ext cx="41605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Frais des clubs payants réglés à l’administration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Fees for paid clubs are paid at the administration office</a:t>
            </a:r>
            <a:endParaRPr lang="en-US" sz="1600" dirty="0"/>
          </a:p>
        </p:txBody>
      </p:sp>
      <p:sp>
        <p:nvSpPr>
          <p:cNvPr id="21" name="Condition 5"/>
          <p:cNvSpPr/>
          <p:nvPr/>
        </p:nvSpPr>
        <p:spPr>
          <a:xfrm>
            <a:off x="548640" y="4700016"/>
            <a:ext cx="5440680" cy="1389888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2" name="Icon circle"/>
          <p:cNvSpPr/>
          <p:nvPr/>
        </p:nvSpPr>
        <p:spPr>
          <a:xfrm>
            <a:off x="777240" y="5047488"/>
            <a:ext cx="694944" cy="6949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5230368"/>
            <a:ext cx="329184" cy="329184"/>
          </a:xfrm>
          <a:prstGeom prst="rect">
            <a:avLst/>
          </a:prstGeom>
        </p:spPr>
      </p:pic>
      <p:sp>
        <p:nvSpPr>
          <p:cNvPr id="24" name="Bilingual text"/>
          <p:cNvSpPr txBox="1"/>
          <p:nvPr/>
        </p:nvSpPr>
        <p:spPr>
          <a:xfrm>
            <a:off x="1691640" y="4745736"/>
            <a:ext cx="41605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Frais non remboursables après le début des activités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Fees are non-refundable once activities have started</a:t>
            </a:r>
            <a:endParaRPr lang="en-US" sz="1600" dirty="0"/>
          </a:p>
        </p:txBody>
      </p:sp>
      <p:sp>
        <p:nvSpPr>
          <p:cNvPr id="25" name="Condition 6"/>
          <p:cNvSpPr/>
          <p:nvPr/>
        </p:nvSpPr>
        <p:spPr>
          <a:xfrm>
            <a:off x="6217920" y="4700016"/>
            <a:ext cx="5440680" cy="1389888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6" name="Icon circle"/>
          <p:cNvSpPr/>
          <p:nvPr/>
        </p:nvSpPr>
        <p:spPr>
          <a:xfrm>
            <a:off x="6446520" y="5047488"/>
            <a:ext cx="694944" cy="6949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5230368"/>
            <a:ext cx="329184" cy="329184"/>
          </a:xfrm>
          <a:prstGeom prst="rect">
            <a:avLst/>
          </a:prstGeom>
        </p:spPr>
      </p:pic>
      <p:sp>
        <p:nvSpPr>
          <p:cNvPr id="28" name="Bilingual text"/>
          <p:cNvSpPr txBox="1"/>
          <p:nvPr/>
        </p:nvSpPr>
        <p:spPr>
          <a:xfrm>
            <a:off x="7360920" y="4745736"/>
            <a:ext cx="41605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Plusieurs clubs possibles ; maximum : …… clubs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Students may join several clubs; maximum: …… clubs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Comment inscrire votre enfant ?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How to register your child</a:t>
            </a:r>
            <a:endParaRPr lang="en-US" sz="2000" dirty="0"/>
          </a:p>
        </p:txBody>
      </p:sp>
      <p:sp>
        <p:nvSpPr>
          <p:cNvPr id="5" name="Fiche illustration"/>
          <p:cNvSpPr/>
          <p:nvPr/>
        </p:nvSpPr>
        <p:spPr>
          <a:xfrm>
            <a:off x="548640" y="1645920"/>
            <a:ext cx="3566160" cy="4526280"/>
          </a:xfrm>
          <a:prstGeom prst="roundRect">
            <a:avLst>
              <a:gd name="adj" fmla="val 2564"/>
            </a:avLst>
          </a:prstGeom>
          <a:solidFill>
            <a:schemeClr val="bg1"/>
          </a:solidFill>
          <a:ln w="12700">
            <a:solidFill>
              <a:srgbClr val="C9D6C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Fiche titre"/>
          <p:cNvSpPr txBox="1"/>
          <p:nvPr/>
        </p:nvSpPr>
        <p:spPr>
          <a:xfrm>
            <a:off x="731520" y="1810512"/>
            <a:ext cx="320040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FICHE D’INSCRIPTION AUX CLUBS</a:t>
            </a:r>
            <a:endParaRPr lang="en-US" sz="1200" dirty="0"/>
          </a:p>
        </p:txBody>
      </p:sp>
      <p:sp>
        <p:nvSpPr>
          <p:cNvPr id="7" name="Champ"/>
          <p:cNvSpPr txBox="1"/>
          <p:nvPr/>
        </p:nvSpPr>
        <p:spPr>
          <a:xfrm>
            <a:off x="777240" y="24688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Nom et prénom</a:t>
            </a:r>
            <a:endParaRPr lang="en-US" sz="1100" dirty="0"/>
          </a:p>
        </p:txBody>
      </p:sp>
      <p:sp>
        <p:nvSpPr>
          <p:cNvPr id="8" name="Ligne"/>
          <p:cNvSpPr/>
          <p:nvPr/>
        </p:nvSpPr>
        <p:spPr>
          <a:xfrm>
            <a:off x="777240" y="2798064"/>
            <a:ext cx="3108960" cy="0"/>
          </a:xfrm>
          <a:prstGeom prst="line">
            <a:avLst/>
          </a:prstGeom>
          <a:noFill/>
          <a:ln w="12700">
            <a:solidFill>
              <a:srgbClr val="B7C4BB"/>
            </a:solidFill>
            <a:prstDash val="dash"/>
          </a:ln>
        </p:spPr>
      </p:sp>
      <p:sp>
        <p:nvSpPr>
          <p:cNvPr id="9" name="Champ"/>
          <p:cNvSpPr txBox="1"/>
          <p:nvPr/>
        </p:nvSpPr>
        <p:spPr>
          <a:xfrm>
            <a:off x="777240" y="29443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Classe · Date de naissance</a:t>
            </a:r>
            <a:endParaRPr lang="en-US" sz="1100" dirty="0"/>
          </a:p>
        </p:txBody>
      </p:sp>
      <p:sp>
        <p:nvSpPr>
          <p:cNvPr id="10" name="Ligne"/>
          <p:cNvSpPr/>
          <p:nvPr/>
        </p:nvSpPr>
        <p:spPr>
          <a:xfrm>
            <a:off x="777240" y="3273552"/>
            <a:ext cx="3108960" cy="0"/>
          </a:xfrm>
          <a:prstGeom prst="line">
            <a:avLst/>
          </a:prstGeom>
          <a:noFill/>
          <a:ln w="12700">
            <a:solidFill>
              <a:srgbClr val="B7C4BB"/>
            </a:solidFill>
            <a:prstDash val="dash"/>
          </a:ln>
        </p:spPr>
      </p:sp>
      <p:sp>
        <p:nvSpPr>
          <p:cNvPr id="11" name="Champ"/>
          <p:cNvSpPr txBox="1"/>
          <p:nvPr/>
        </p:nvSpPr>
        <p:spPr>
          <a:xfrm>
            <a:off x="777240" y="34198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Parent / tuteur</a:t>
            </a:r>
            <a:endParaRPr lang="en-US" sz="1100" dirty="0"/>
          </a:p>
        </p:txBody>
      </p:sp>
      <p:sp>
        <p:nvSpPr>
          <p:cNvPr id="12" name="Ligne"/>
          <p:cNvSpPr/>
          <p:nvPr/>
        </p:nvSpPr>
        <p:spPr>
          <a:xfrm>
            <a:off x="777240" y="3749040"/>
            <a:ext cx="3108960" cy="0"/>
          </a:xfrm>
          <a:prstGeom prst="line">
            <a:avLst/>
          </a:prstGeom>
          <a:noFill/>
          <a:ln w="12700">
            <a:solidFill>
              <a:srgbClr val="B7C4BB"/>
            </a:solidFill>
            <a:prstDash val="dash"/>
          </a:ln>
        </p:spPr>
      </p:sp>
      <p:sp>
        <p:nvSpPr>
          <p:cNvPr id="13" name="Champ"/>
          <p:cNvSpPr txBox="1"/>
          <p:nvPr/>
        </p:nvSpPr>
        <p:spPr>
          <a:xfrm>
            <a:off x="777240" y="389534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Téléphone (WhatsApp)</a:t>
            </a:r>
            <a:endParaRPr lang="en-US" sz="1100" dirty="0"/>
          </a:p>
        </p:txBody>
      </p:sp>
      <p:sp>
        <p:nvSpPr>
          <p:cNvPr id="14" name="Ligne"/>
          <p:cNvSpPr/>
          <p:nvPr/>
        </p:nvSpPr>
        <p:spPr>
          <a:xfrm>
            <a:off x="777240" y="4224528"/>
            <a:ext cx="3108960" cy="0"/>
          </a:xfrm>
          <a:prstGeom prst="line">
            <a:avLst/>
          </a:prstGeom>
          <a:noFill/>
          <a:ln w="12700">
            <a:solidFill>
              <a:srgbClr val="B7C4BB"/>
            </a:solidFill>
            <a:prstDash val="dash"/>
          </a:ln>
        </p:spPr>
      </p:sp>
      <p:sp>
        <p:nvSpPr>
          <p:cNvPr id="15" name="Case"/>
          <p:cNvSpPr/>
          <p:nvPr/>
        </p:nvSpPr>
        <p:spPr>
          <a:xfrm>
            <a:off x="822960" y="4480560"/>
            <a:ext cx="201168" cy="201168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6" name="Ligne club"/>
          <p:cNvSpPr/>
          <p:nvPr/>
        </p:nvSpPr>
        <p:spPr>
          <a:xfrm>
            <a:off x="1188720" y="4581144"/>
            <a:ext cx="1737360" cy="0"/>
          </a:xfrm>
          <a:prstGeom prst="line">
            <a:avLst/>
          </a:prstGeom>
          <a:noFill/>
          <a:ln w="38100">
            <a:solidFill>
              <a:srgbClr val="B7C4BB"/>
            </a:solidFill>
            <a:prstDash val="solid"/>
          </a:ln>
        </p:spPr>
      </p:sp>
      <p:sp>
        <p:nvSpPr>
          <p:cNvPr id="17" name="Case"/>
          <p:cNvSpPr/>
          <p:nvPr/>
        </p:nvSpPr>
        <p:spPr>
          <a:xfrm>
            <a:off x="822960" y="4846320"/>
            <a:ext cx="201168" cy="201168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8" name="Ligne club"/>
          <p:cNvSpPr/>
          <p:nvPr/>
        </p:nvSpPr>
        <p:spPr>
          <a:xfrm>
            <a:off x="1188720" y="4946904"/>
            <a:ext cx="2286000" cy="0"/>
          </a:xfrm>
          <a:prstGeom prst="line">
            <a:avLst/>
          </a:prstGeom>
          <a:noFill/>
          <a:ln w="38100">
            <a:solidFill>
              <a:srgbClr val="B7C4BB"/>
            </a:solidFill>
            <a:prstDash val="solid"/>
          </a:ln>
        </p:spPr>
      </p:sp>
      <p:sp>
        <p:nvSpPr>
          <p:cNvPr id="19" name="Case"/>
          <p:cNvSpPr/>
          <p:nvPr/>
        </p:nvSpPr>
        <p:spPr>
          <a:xfrm>
            <a:off x="822960" y="5212080"/>
            <a:ext cx="201168" cy="201168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0" name="Ligne club"/>
          <p:cNvSpPr/>
          <p:nvPr/>
        </p:nvSpPr>
        <p:spPr>
          <a:xfrm>
            <a:off x="1188720" y="5312664"/>
            <a:ext cx="1737360" cy="0"/>
          </a:xfrm>
          <a:prstGeom prst="line">
            <a:avLst/>
          </a:prstGeom>
          <a:noFill/>
          <a:ln w="38100">
            <a:solidFill>
              <a:srgbClr val="B7C4BB"/>
            </a:solidFill>
            <a:prstDash val="solid"/>
          </a:ln>
        </p:spPr>
      </p:sp>
      <p:sp>
        <p:nvSpPr>
          <p:cNvPr id="21" name="Case"/>
          <p:cNvSpPr/>
          <p:nvPr/>
        </p:nvSpPr>
        <p:spPr>
          <a:xfrm>
            <a:off x="822960" y="5577840"/>
            <a:ext cx="201168" cy="201168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2" name="Ligne club"/>
          <p:cNvSpPr/>
          <p:nvPr/>
        </p:nvSpPr>
        <p:spPr>
          <a:xfrm>
            <a:off x="1188720" y="5678424"/>
            <a:ext cx="2286000" cy="0"/>
          </a:xfrm>
          <a:prstGeom prst="line">
            <a:avLst/>
          </a:prstGeom>
          <a:noFill/>
          <a:ln w="38100">
            <a:solidFill>
              <a:srgbClr val="B7C4BB"/>
            </a:solidFill>
            <a:prstDash val="solid"/>
          </a:ln>
        </p:spPr>
      </p:sp>
      <p:sp>
        <p:nvSpPr>
          <p:cNvPr id="23" name="Signature"/>
          <p:cNvSpPr txBox="1"/>
          <p:nvPr/>
        </p:nvSpPr>
        <p:spPr>
          <a:xfrm>
            <a:off x="777240" y="58704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Signature du parent / tuteur</a:t>
            </a:r>
            <a:endParaRPr lang="en-US" sz="1100" dirty="0"/>
          </a:p>
        </p:txBody>
      </p:sp>
      <p:sp>
        <p:nvSpPr>
          <p:cNvPr id="24" name="Numéro"/>
          <p:cNvSpPr txBox="1"/>
          <p:nvPr/>
        </p:nvSpPr>
        <p:spPr>
          <a:xfrm>
            <a:off x="4480560" y="17007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25" name="Bilingual text"/>
          <p:cNvSpPr txBox="1"/>
          <p:nvPr/>
        </p:nvSpPr>
        <p:spPr>
          <a:xfrm>
            <a:off x="5120640" y="164592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Compléter la fiche d’inscription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Fill in the registration form</a:t>
            </a:r>
            <a:endParaRPr lang="en-US" sz="1600" dirty="0"/>
          </a:p>
        </p:txBody>
      </p:sp>
      <p:sp>
        <p:nvSpPr>
          <p:cNvPr id="26" name="Numéro"/>
          <p:cNvSpPr txBox="1"/>
          <p:nvPr/>
        </p:nvSpPr>
        <p:spPr>
          <a:xfrm>
            <a:off x="4480560" y="234086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27" name="Bilingual text"/>
          <p:cNvSpPr txBox="1"/>
          <p:nvPr/>
        </p:nvSpPr>
        <p:spPr>
          <a:xfrm>
            <a:off x="5120640" y="228600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Nom, classe et date de naissance de l’élève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Student’s name, class and date of birth</a:t>
            </a:r>
            <a:endParaRPr lang="en-US" sz="1600" dirty="0"/>
          </a:p>
        </p:txBody>
      </p:sp>
      <p:sp>
        <p:nvSpPr>
          <p:cNvPr id="28" name="Numéro"/>
          <p:cNvSpPr txBox="1"/>
          <p:nvPr/>
        </p:nvSpPr>
        <p:spPr>
          <a:xfrm>
            <a:off x="4480560" y="298094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9" name="Bilingual text"/>
          <p:cNvSpPr txBox="1"/>
          <p:nvPr/>
        </p:nvSpPr>
        <p:spPr>
          <a:xfrm>
            <a:off x="5120640" y="292608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Coordonnées du parent ou tuteur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Parent or guardian contact details</a:t>
            </a:r>
            <a:endParaRPr lang="en-US" sz="1600" dirty="0"/>
          </a:p>
        </p:txBody>
      </p:sp>
      <p:sp>
        <p:nvSpPr>
          <p:cNvPr id="30" name="Numéro"/>
          <p:cNvSpPr txBox="1"/>
          <p:nvPr/>
        </p:nvSpPr>
        <p:spPr>
          <a:xfrm>
            <a:off x="4480560" y="362102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31" name="Bilingual text"/>
          <p:cNvSpPr txBox="1"/>
          <p:nvPr/>
        </p:nvSpPr>
        <p:spPr>
          <a:xfrm>
            <a:off x="5120640" y="356616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Cocher les clubs et activités choisis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Tick the chosen clubs and activities</a:t>
            </a:r>
            <a:endParaRPr lang="en-US" sz="1600" dirty="0"/>
          </a:p>
        </p:txBody>
      </p:sp>
      <p:sp>
        <p:nvSpPr>
          <p:cNvPr id="32" name="Numéro"/>
          <p:cNvSpPr txBox="1"/>
          <p:nvPr/>
        </p:nvSpPr>
        <p:spPr>
          <a:xfrm>
            <a:off x="4480560" y="426110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33" name="Bilingual text"/>
          <p:cNvSpPr txBox="1"/>
          <p:nvPr/>
        </p:nvSpPr>
        <p:spPr>
          <a:xfrm>
            <a:off x="5120640" y="420624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Signer l’autorisation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Sign the authorisation</a:t>
            </a:r>
            <a:endParaRPr lang="en-US" sz="1600" dirty="0"/>
          </a:p>
        </p:txBody>
      </p:sp>
      <p:sp>
        <p:nvSpPr>
          <p:cNvPr id="34" name="Numéro"/>
          <p:cNvSpPr txBox="1"/>
          <p:nvPr/>
        </p:nvSpPr>
        <p:spPr>
          <a:xfrm>
            <a:off x="4480560" y="49011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35" name="Bilingual text"/>
          <p:cNvSpPr txBox="1"/>
          <p:nvPr/>
        </p:nvSpPr>
        <p:spPr>
          <a:xfrm>
            <a:off x="5120640" y="484632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Remettre la fiche à l’école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Return the form to the school</a:t>
            </a:r>
            <a:endParaRPr lang="en-US" sz="1600" dirty="0"/>
          </a:p>
        </p:txBody>
      </p:sp>
      <p:sp>
        <p:nvSpPr>
          <p:cNvPr id="36" name="Numéro"/>
          <p:cNvSpPr txBox="1"/>
          <p:nvPr/>
        </p:nvSpPr>
        <p:spPr>
          <a:xfrm>
            <a:off x="4480560" y="554126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7</a:t>
            </a:r>
            <a:endParaRPr lang="en-US" sz="1800" dirty="0"/>
          </a:p>
        </p:txBody>
      </p:sp>
      <p:sp>
        <p:nvSpPr>
          <p:cNvPr id="37" name="Bilingual text"/>
          <p:cNvSpPr txBox="1"/>
          <p:nvPr/>
        </p:nvSpPr>
        <p:spPr>
          <a:xfrm>
            <a:off x="5120640" y="548640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Régler les frais des clubs payants à l’administration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Pay the fees of paid clubs at the administration office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ogo card"/>
          <p:cNvSpPr/>
          <p:nvPr/>
        </p:nvSpPr>
        <p:spPr>
          <a:xfrm>
            <a:off x="548640" y="457200"/>
            <a:ext cx="109728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4" name="Logo" descr="Logo Bright Continent Bilingual Scho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30352"/>
            <a:ext cx="950976" cy="950976"/>
          </a:xfrm>
          <a:prstGeom prst="rect">
            <a:avLst/>
          </a:prstGeom>
        </p:spPr>
      </p:pic>
      <p:sp>
        <p:nvSpPr>
          <p:cNvPr id="5" name="Titre FR"/>
          <p:cNvSpPr txBox="1"/>
          <p:nvPr/>
        </p:nvSpPr>
        <p:spPr>
          <a:xfrm>
            <a:off x="548640" y="17830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Révèle ton talent !</a:t>
            </a:r>
            <a:endParaRPr lang="en-US" sz="4800" dirty="0"/>
          </a:p>
        </p:txBody>
      </p:sp>
      <p:sp>
        <p:nvSpPr>
          <p:cNvPr id="6" name="Titre EN"/>
          <p:cNvSpPr txBox="1"/>
          <p:nvPr/>
        </p:nvSpPr>
        <p:spPr>
          <a:xfrm>
            <a:off x="548640" y="26060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Discover Your Talent</a:t>
            </a:r>
            <a:endParaRPr lang="en-US" sz="3200" dirty="0"/>
          </a:p>
        </p:txBody>
      </p:sp>
      <p:sp>
        <p:nvSpPr>
          <p:cNvPr id="7" name="Message"/>
          <p:cNvSpPr txBox="1"/>
          <p:nvPr/>
        </p:nvSpPr>
        <p:spPr>
          <a:xfrm>
            <a:off x="548640" y="3337560"/>
            <a:ext cx="5852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chemeClr val="bg1"/>
                </a:solidFill>
              </a:rPr>
              <a:t>« Chaque enfant possède un talent. Nos clubs lui donnent l’occasion de le découvrir, de le développer et de le partager. »</a:t>
            </a:r>
            <a:endParaRPr lang="en-US" sz="1900" dirty="0"/>
          </a:p>
          <a:p>
            <a:pPr indent="0" marL="0">
              <a:buNone/>
            </a:pPr>
            <a:r>
              <a:rPr lang="en-US" sz="1700" i="1" dirty="0">
                <a:solidFill>
                  <a:schemeClr val="bg2"/>
                </a:solidFill>
              </a:rPr>
              <a:t>“Every child has a talent. Our clubs provide opportunities to discover it, develop it and share it.”</a:t>
            </a:r>
            <a:endParaRPr lang="en-US" sz="1900" dirty="0"/>
          </a:p>
        </p:txBody>
      </p:sp>
      <p:sp>
        <p:nvSpPr>
          <p:cNvPr id="8" name="Contact"/>
          <p:cNvSpPr txBox="1"/>
          <p:nvPr/>
        </p:nvSpPr>
        <p:spPr>
          <a:xfrm>
            <a:off x="548640" y="54864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Bright Continent Bilingual School</a:t>
            </a:r>
            <a:endParaRPr lang="en-US" sz="20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Dragage – Yaoundé  ·  +237 678 34 12 13</a:t>
            </a:r>
            <a:endParaRPr lang="en-US" sz="2000" dirty="0"/>
          </a:p>
        </p:txBody>
      </p:sp>
      <p:pic>
        <p:nvPicPr>
          <p:cNvPr id="9" name="Collage" descr="Élèves participant à plusieurs activité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097280"/>
            <a:ext cx="5120640" cy="4480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CBS Clubs">
  <a:themeElements>
    <a:clrScheme name="BCBS Clubs">
      <a:dk1>
        <a:srgbClr val="1B2B22"/>
      </a:dk1>
      <a:lt1>
        <a:srgbClr val="FFFFFF"/>
      </a:lt1>
      <a:dk2>
        <a:srgbClr val="143D2A"/>
      </a:dk2>
      <a:lt2>
        <a:srgbClr val="EAF3EC"/>
      </a:lt2>
      <a:accent1>
        <a:srgbClr val="1F5A3A"/>
      </a:accent1>
      <a:accent2>
        <a:srgbClr val="F2B705"/>
      </a:accent2>
      <a:accent3>
        <a:srgbClr val="BD2124"/>
      </a:accent3>
      <a:accent4>
        <a:srgbClr val="0E7C86"/>
      </a:accent4>
      <a:accent5>
        <a:srgbClr val="6BA539"/>
      </a:accent5>
      <a:accent6>
        <a:srgbClr val="566860"/>
      </a:accent6>
      <a:hlink>
        <a:srgbClr val="0E7C86"/>
      </a:hlink>
      <a:folHlink>
        <a:srgbClr val="566860"/>
      </a:folHlink>
    </a:clrScheme>
    <a:fontScheme name="BCBS Club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Bright Continent Bilingual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Clubs extrascolaires 2026–2027 / Extracurricular Clubs 2026–2027</dc:title>
  <dc:subject>PptxGenJS Presentation</dc:subject>
  <dc:creator>Bright Continent Bilingual School</dc:creator>
  <cp:lastModifiedBy>Bright Continent Bilingual School</cp:lastModifiedBy>
  <cp:revision>1</cp:revision>
  <dcterms:created xsi:type="dcterms:W3CDTF">2026-10-15T11:08:11Z</dcterms:created>
  <dcterms:modified xsi:type="dcterms:W3CDTF">2026-10-15T11:08:11Z</dcterms:modified>
</cp:coreProperties>
</file>