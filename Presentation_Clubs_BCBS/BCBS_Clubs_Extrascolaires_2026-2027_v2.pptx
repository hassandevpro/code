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6ba46bc-34fb-d112-aa97-b8cf0f9a2b04}">
          <p14:sldIdLst>
            <p14:sldId id="256"/>
            <p14:sldId id="257"/>
            <p14:sldId id="258"/>
          </p14:sldIdLst>
        </p14:section>
        <p14:section name="Les clubs" id="{94421176-e279-1c69-46fb-99fcdf3f5a5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Tarifs et inscription" id="{ca0cf5c0-6ab0-62c2-6126-7ccdcda9fdd7}">
          <p14:sldIdLst>
            <p14:sldId id="282"/>
            <p14:sldId id="283"/>
            <p14:sldId id="284"/>
            <p14:sldId id="285"/>
          </p14:sldIdLst>
        </p14:section>
        <p14:section name="Conclusion" id="{825ccf70-9adb-5148-876f-08c56a968329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Bienvenue aux parents. Présentation des clubs extrascolaires 2026–2027 de Bright Continent Bilingual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objectifs : talents, créativité, confiance, équipe, compétences pratiques, avenir.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Sept clubs : santé, environnement, arts plastiques, médias, musique, sports, informatique.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Health Club est gratuit.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L’Environment Club est gratuit.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 : 25 000 FCFA par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Media Club comprend Journalism (gratuit), Journalism+, Photography et Videography.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L’activité Journalism est gratuite.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 : 30 000 FCFA par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 à confirmer par la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axes : production, montage, création de contenu, reportages, publication responsable.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Exemples de projets et chaîne de production complète, du scénario au respect des droits d’auteur.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Chant et rythme et flûte sont gratuits ; piano et guitare sont payants.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Chant et rythme : gratuit.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Piano : 50 000 FCFA par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Guitare : 50 000 FCFA par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Flûte : gratuit.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Football gratuit. Les trois formules payantes sont à 35 000 FCFA par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Football : gratuit.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Football + Volleyball : 35 000 FCFA par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Football + Basketball : 35 000 FCFA par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Football + Tennis : 35 000 FCFA par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Programmation web, bureautique et création de jeux vidéo : 50 000 FCFA par mois chacune.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 : 50 000 FCFA par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 : 50 000 FCFA par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 : 50 000 FCFA par mois.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Montants repris à l’identique du document source. Les tarifs de Photography et Videography sont à confirmer par la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Football gratuit ; formules sport payantes à 35 000 FCFA ; ICT à 50 000 FCFA par mois, selon la fiche d’inscription.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nombres laissés en blanc dans le document restent non renseignés jusqu’à confirmation de la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Sept étapes simples. La fiche d’inscription est illustrée sans aucune donnée personnelle.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: chaque enfant possède un talent. Invitation à remettre la fiche d’inscription à l’école.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de/4e831f0f-b184-5886-b47e-eb817a26816e/scratchpad/pp2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Bright Continent Bilingual School  ·  Clubs extrascolaires 2026–2027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i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548640"/>
            <a:ext cx="146304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Logo" descr="Logo Bright Continent Bilingual Scho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280160" cy="1280160"/>
          </a:xfrm>
          <a:prstGeom prst="rect">
            <a:avLst/>
          </a:prstGeom>
        </p:spPr>
      </p:pic>
      <p:sp>
        <p:nvSpPr>
          <p:cNvPr id="4" name="Titre FR"/>
          <p:cNvSpPr txBox="1"/>
          <p:nvPr/>
        </p:nvSpPr>
        <p:spPr>
          <a:xfrm>
            <a:off x="548640" y="22860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CLUBS EXTRASCOLAIRES 2026–2027</a:t>
            </a:r>
            <a:endParaRPr lang="en-US" sz="4400" dirty="0"/>
          </a:p>
        </p:txBody>
      </p:sp>
      <p:sp>
        <p:nvSpPr>
          <p:cNvPr id="5" name="Titre EN"/>
          <p:cNvSpPr txBox="1"/>
          <p:nvPr/>
        </p:nvSpPr>
        <p:spPr>
          <a:xfrm>
            <a:off x="548640" y="37033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EXTRACURRICULAR CLUBS 2026–2027</a:t>
            </a:r>
            <a:endParaRPr lang="en-US" sz="2800" dirty="0"/>
          </a:p>
        </p:txBody>
      </p:sp>
      <p:sp>
        <p:nvSpPr>
          <p:cNvPr id="6" name="École"/>
          <p:cNvSpPr txBox="1"/>
          <p:nvPr/>
        </p:nvSpPr>
        <p:spPr>
          <a:xfrm>
            <a:off x="548640" y="4892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Bright Continent Bilingual School</a:t>
            </a:r>
            <a:endParaRPr lang="en-US" sz="2400" dirty="0"/>
          </a:p>
        </p:txBody>
      </p:sp>
      <p:sp>
        <p:nvSpPr>
          <p:cNvPr id="7" name="Contact"/>
          <p:cNvSpPr txBox="1"/>
          <p:nvPr/>
        </p:nvSpPr>
        <p:spPr>
          <a:xfrm>
            <a:off x="548640" y="5394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Dragage – Yaoundé  ·  +237 678 34 12 13</a:t>
            </a:r>
            <a:endParaRPr lang="en-US" sz="1800" dirty="0"/>
          </a:p>
        </p:txBody>
      </p:sp>
      <p:pic>
        <p:nvPicPr>
          <p:cNvPr id="8" name="Collage" descr="Élèves de BCBS en activités : santé, arts, médias, musique, sports, informati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94360"/>
            <a:ext cx="50292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Pourquoi des clubs extrascolaires ?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Why extracurricular clubs?</a:t>
            </a:r>
            <a:endParaRPr lang="en-US" sz="2000" dirty="0"/>
          </a:p>
        </p:txBody>
      </p:sp>
      <p:sp>
        <p:nvSpPr>
          <p:cNvPr id="5" name="Objectif 1"/>
          <p:cNvSpPr/>
          <p:nvPr/>
        </p:nvSpPr>
        <p:spPr>
          <a:xfrm>
            <a:off x="548640" y="1691640"/>
            <a:ext cx="3611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152498"/>
            <a:ext cx="404165" cy="404165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822960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Découvrir et développer ses talents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Discover and develop talents</a:t>
            </a:r>
            <a:endParaRPr lang="en-US" sz="1900" dirty="0"/>
          </a:p>
        </p:txBody>
      </p:sp>
      <p:sp>
        <p:nvSpPr>
          <p:cNvPr id="9" name="Objectif 2"/>
          <p:cNvSpPr/>
          <p:nvPr/>
        </p:nvSpPr>
        <p:spPr>
          <a:xfrm>
            <a:off x="4389120" y="1691640"/>
            <a:ext cx="3611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663440" y="19659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78" y="2152498"/>
            <a:ext cx="404165" cy="404165"/>
          </a:xfrm>
          <a:prstGeom prst="rect">
            <a:avLst/>
          </a:prstGeom>
        </p:spPr>
      </p:pic>
      <p:sp>
        <p:nvSpPr>
          <p:cNvPr id="12" name="Bilingual text"/>
          <p:cNvSpPr txBox="1"/>
          <p:nvPr/>
        </p:nvSpPr>
        <p:spPr>
          <a:xfrm>
            <a:off x="4663440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Développer la créativité et l’autonomie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Build creativity and independence</a:t>
            </a:r>
            <a:endParaRPr lang="en-US" sz="1900" dirty="0"/>
          </a:p>
        </p:txBody>
      </p:sp>
      <p:sp>
        <p:nvSpPr>
          <p:cNvPr id="13" name="Objectif 3"/>
          <p:cNvSpPr/>
          <p:nvPr/>
        </p:nvSpPr>
        <p:spPr>
          <a:xfrm>
            <a:off x="8229600" y="1691640"/>
            <a:ext cx="3611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8503920" y="19659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458" y="2152498"/>
            <a:ext cx="404165" cy="404165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8503920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Renforcer la confiance en soi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Strengthen self-confidence</a:t>
            </a:r>
            <a:endParaRPr lang="en-US" sz="1900" dirty="0"/>
          </a:p>
        </p:txBody>
      </p:sp>
      <p:sp>
        <p:nvSpPr>
          <p:cNvPr id="17" name="Objectif 4"/>
          <p:cNvSpPr/>
          <p:nvPr/>
        </p:nvSpPr>
        <p:spPr>
          <a:xfrm>
            <a:off x="548640" y="4023360"/>
            <a:ext cx="3611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822960" y="42976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8" y="4484218"/>
            <a:ext cx="404165" cy="404165"/>
          </a:xfrm>
          <a:prstGeom prst="rect">
            <a:avLst/>
          </a:prstGeom>
        </p:spPr>
      </p:pic>
      <p:sp>
        <p:nvSpPr>
          <p:cNvPr id="20" name="Bilingual text"/>
          <p:cNvSpPr txBox="1"/>
          <p:nvPr/>
        </p:nvSpPr>
        <p:spPr>
          <a:xfrm>
            <a:off x="822960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Apprendre à travailler en équipe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Learn to work as a team</a:t>
            </a:r>
            <a:endParaRPr lang="en-US" sz="1900" dirty="0"/>
          </a:p>
        </p:txBody>
      </p:sp>
      <p:sp>
        <p:nvSpPr>
          <p:cNvPr id="21" name="Objectif 5"/>
          <p:cNvSpPr/>
          <p:nvPr/>
        </p:nvSpPr>
        <p:spPr>
          <a:xfrm>
            <a:off x="4389120" y="4023360"/>
            <a:ext cx="3611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4663440" y="42976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978" y="4484218"/>
            <a:ext cx="404165" cy="404165"/>
          </a:xfrm>
          <a:prstGeom prst="rect">
            <a:avLst/>
          </a:prstGeom>
        </p:spPr>
      </p:pic>
      <p:sp>
        <p:nvSpPr>
          <p:cNvPr id="24" name="Bilingual text"/>
          <p:cNvSpPr txBox="1"/>
          <p:nvPr/>
        </p:nvSpPr>
        <p:spPr>
          <a:xfrm>
            <a:off x="4663440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Acquérir des compétences pratiques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Develop practical skills</a:t>
            </a:r>
            <a:endParaRPr lang="en-US" sz="1900" dirty="0"/>
          </a:p>
        </p:txBody>
      </p:sp>
      <p:sp>
        <p:nvSpPr>
          <p:cNvPr id="25" name="Objectif 6"/>
          <p:cNvSpPr/>
          <p:nvPr/>
        </p:nvSpPr>
        <p:spPr>
          <a:xfrm>
            <a:off x="8229600" y="4023360"/>
            <a:ext cx="3611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8503920" y="42976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0458" y="4484218"/>
            <a:ext cx="404165" cy="404165"/>
          </a:xfrm>
          <a:prstGeom prst="rect">
            <a:avLst/>
          </a:prstGeom>
        </p:spPr>
      </p:pic>
      <p:sp>
        <p:nvSpPr>
          <p:cNvPr id="28" name="Bilingual text"/>
          <p:cNvSpPr txBox="1"/>
          <p:nvPr/>
        </p:nvSpPr>
        <p:spPr>
          <a:xfrm>
            <a:off x="8503920" y="5166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Préparer l’avenir des élèves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Prepare students for the future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Nos clubs en un coup d’œil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Our clubs at a glance</a:t>
            </a:r>
            <a:endParaRPr lang="en-US" sz="2000" dirty="0"/>
          </a:p>
        </p:txBody>
      </p:sp>
      <p:sp>
        <p:nvSpPr>
          <p:cNvPr id="5" name="Club Health Club"/>
          <p:cNvSpPr/>
          <p:nvPr/>
        </p:nvSpPr>
        <p:spPr>
          <a:xfrm>
            <a:off x="548640" y="164592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6" name="Photo Health Club" descr="Health Cl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783080"/>
            <a:ext cx="2286000" cy="1285646"/>
          </a:xfrm>
          <a:prstGeom prst="rect">
            <a:avLst/>
          </a:prstGeom>
        </p:spPr>
      </p:pic>
      <p:sp>
        <p:nvSpPr>
          <p:cNvPr id="7" name="Bilingual text"/>
          <p:cNvSpPr txBox="1"/>
          <p:nvPr/>
        </p:nvSpPr>
        <p:spPr>
          <a:xfrm>
            <a:off x="70866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Health Club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Santé</a:t>
            </a:r>
            <a:endParaRPr lang="en-US" sz="1700" dirty="0"/>
          </a:p>
        </p:txBody>
      </p:sp>
      <p:sp>
        <p:nvSpPr>
          <p:cNvPr id="8" name="Club Environment Club"/>
          <p:cNvSpPr/>
          <p:nvPr/>
        </p:nvSpPr>
        <p:spPr>
          <a:xfrm>
            <a:off x="3355848" y="164592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9" name="Photo Environment Club" descr="Environment Clu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1783080"/>
            <a:ext cx="2286000" cy="1285646"/>
          </a:xfrm>
          <a:prstGeom prst="rect">
            <a:avLst/>
          </a:prstGeom>
        </p:spPr>
      </p:pic>
      <p:sp>
        <p:nvSpPr>
          <p:cNvPr id="10" name="Bilingual text"/>
          <p:cNvSpPr txBox="1"/>
          <p:nvPr/>
        </p:nvSpPr>
        <p:spPr>
          <a:xfrm>
            <a:off x="3515868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Environment Club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Environnement</a:t>
            </a:r>
            <a:endParaRPr lang="en-US" sz="1700" dirty="0"/>
          </a:p>
        </p:txBody>
      </p:sp>
      <p:sp>
        <p:nvSpPr>
          <p:cNvPr id="11" name="Club Arts &amp; Plastic Club"/>
          <p:cNvSpPr/>
          <p:nvPr/>
        </p:nvSpPr>
        <p:spPr>
          <a:xfrm>
            <a:off x="6163056" y="164592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2" name="Photo Arts &amp; Plastic Club" descr="Arts &amp; Plastic Clu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783080"/>
            <a:ext cx="2286000" cy="1285646"/>
          </a:xfrm>
          <a:prstGeom prst="rect">
            <a:avLst/>
          </a:prstGeom>
        </p:spPr>
      </p:pic>
      <p:sp>
        <p:nvSpPr>
          <p:cNvPr id="13" name="Bilingual text"/>
          <p:cNvSpPr txBox="1"/>
          <p:nvPr/>
        </p:nvSpPr>
        <p:spPr>
          <a:xfrm>
            <a:off x="6323076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Arts &amp; Plastic Club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Arts plastiques</a:t>
            </a:r>
            <a:endParaRPr lang="en-US" sz="1700" dirty="0"/>
          </a:p>
        </p:txBody>
      </p:sp>
      <p:sp>
        <p:nvSpPr>
          <p:cNvPr id="14" name="Club Media Club"/>
          <p:cNvSpPr/>
          <p:nvPr/>
        </p:nvSpPr>
        <p:spPr>
          <a:xfrm>
            <a:off x="8970264" y="164592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5" name="Photo Media Club" descr="Media Clu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84" y="1783080"/>
            <a:ext cx="2286000" cy="1285646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9130284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Media Club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Médias</a:t>
            </a:r>
            <a:endParaRPr lang="en-US" sz="1700" dirty="0"/>
          </a:p>
        </p:txBody>
      </p:sp>
      <p:sp>
        <p:nvSpPr>
          <p:cNvPr id="17" name="Club Music Club"/>
          <p:cNvSpPr/>
          <p:nvPr/>
        </p:nvSpPr>
        <p:spPr>
          <a:xfrm>
            <a:off x="548640" y="4041648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8" name="Photo Music Club" descr="Music Clu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4178808"/>
            <a:ext cx="2286000" cy="1285646"/>
          </a:xfrm>
          <a:prstGeom prst="rect">
            <a:avLst/>
          </a:prstGeom>
        </p:spPr>
      </p:pic>
      <p:sp>
        <p:nvSpPr>
          <p:cNvPr id="19" name="Bilingual text"/>
          <p:cNvSpPr txBox="1"/>
          <p:nvPr/>
        </p:nvSpPr>
        <p:spPr>
          <a:xfrm>
            <a:off x="708660" y="55504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Music Club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Musique</a:t>
            </a:r>
            <a:endParaRPr lang="en-US" sz="1700" dirty="0"/>
          </a:p>
        </p:txBody>
      </p:sp>
      <p:sp>
        <p:nvSpPr>
          <p:cNvPr id="20" name="Club Sports Club"/>
          <p:cNvSpPr/>
          <p:nvPr/>
        </p:nvSpPr>
        <p:spPr>
          <a:xfrm>
            <a:off x="3355848" y="4041648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1" name="Photo Sports Club" descr="Sports Clu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5868" y="4178808"/>
            <a:ext cx="2286000" cy="1285646"/>
          </a:xfrm>
          <a:prstGeom prst="rect">
            <a:avLst/>
          </a:prstGeom>
        </p:spPr>
      </p:pic>
      <p:sp>
        <p:nvSpPr>
          <p:cNvPr id="22" name="Bilingual text"/>
          <p:cNvSpPr txBox="1"/>
          <p:nvPr/>
        </p:nvSpPr>
        <p:spPr>
          <a:xfrm>
            <a:off x="3515868" y="55504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Sports Club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Sports</a:t>
            </a:r>
            <a:endParaRPr lang="en-US" sz="1700" dirty="0"/>
          </a:p>
        </p:txBody>
      </p:sp>
      <p:sp>
        <p:nvSpPr>
          <p:cNvPr id="23" name="Club ICT Club"/>
          <p:cNvSpPr/>
          <p:nvPr/>
        </p:nvSpPr>
        <p:spPr>
          <a:xfrm>
            <a:off x="6163056" y="4041648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4" name="Photo ICT Club" descr="ICT Club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76" y="4178808"/>
            <a:ext cx="2286000" cy="1285646"/>
          </a:xfrm>
          <a:prstGeom prst="rect">
            <a:avLst/>
          </a:prstGeom>
        </p:spPr>
      </p:pic>
      <p:sp>
        <p:nvSpPr>
          <p:cNvPr id="25" name="Bilingual text"/>
          <p:cNvSpPr txBox="1"/>
          <p:nvPr/>
        </p:nvSpPr>
        <p:spPr>
          <a:xfrm>
            <a:off x="6323076" y="55504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ICT Club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Informatique</a:t>
            </a:r>
            <a:endParaRPr lang="en-US" sz="1700" dirty="0"/>
          </a:p>
        </p:txBody>
      </p:sp>
      <p:sp>
        <p:nvSpPr>
          <p:cNvPr id="26" name="Inscription card"/>
          <p:cNvSpPr/>
          <p:nvPr/>
        </p:nvSpPr>
        <p:spPr>
          <a:xfrm>
            <a:off x="8970264" y="4041648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3144" y="4270248"/>
            <a:ext cx="457200" cy="457200"/>
          </a:xfrm>
          <a:prstGeom prst="rect">
            <a:avLst/>
          </a:prstGeom>
        </p:spPr>
      </p:pic>
      <p:sp>
        <p:nvSpPr>
          <p:cNvPr id="28" name="Inscription text"/>
          <p:cNvSpPr txBox="1"/>
          <p:nvPr/>
        </p:nvSpPr>
        <p:spPr>
          <a:xfrm>
            <a:off x="9153144" y="4818888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Inscription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Fiche à remettre à l’école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Registration form to be returned to the school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Health Club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Santé — gratuit / free</a:t>
            </a:r>
            <a:endParaRPr lang="en-US" sz="2000" dirty="0"/>
          </a:p>
        </p:txBody>
      </p:sp>
      <p:pic>
        <p:nvPicPr>
          <p:cNvPr id="5" name="Photo" descr="Élèves du Health Club : lavage des mains et premiers seco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Adopter de bonnes habitudes de santé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Adopting healthy habits</a:t>
            </a:r>
            <a:endParaRPr lang="en-US" sz="1700" dirty="0"/>
          </a:p>
        </p:txBody>
      </p:sp>
      <p:sp>
        <p:nvSpPr>
          <p:cNvPr id="8" name="Badge free"/>
          <p:cNvSpPr txBox="1"/>
          <p:nvPr/>
        </p:nvSpPr>
        <p:spPr>
          <a:xfrm>
            <a:off x="63550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GRATUIT / FREE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355080" y="24414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739128" y="228600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Santé et hygiène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Health and hygiene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355080" y="30815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739128" y="292608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Premiers secours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First aid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355080" y="37216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739128" y="356616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Prévention des maladies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Disease prevention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6355080" y="436168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6739128" y="420624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Sécurité à l’école et à la maison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Safety at school and at home</a:t>
            </a:r>
            <a:endParaRPr lang="en-US" sz="1800" dirty="0"/>
          </a:p>
        </p:txBody>
      </p:sp>
      <p:sp>
        <p:nvSpPr>
          <p:cNvPr id="17" name="Marker"/>
          <p:cNvSpPr/>
          <p:nvPr/>
        </p:nvSpPr>
        <p:spPr>
          <a:xfrm>
            <a:off x="6355080" y="500176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ilingual text"/>
          <p:cNvSpPr txBox="1"/>
          <p:nvPr/>
        </p:nvSpPr>
        <p:spPr>
          <a:xfrm>
            <a:off x="6739128" y="484632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Projets de sensibilisation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Awareness projects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Environment Club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Environnement — gratuit / free</a:t>
            </a:r>
            <a:endParaRPr lang="en-US" sz="2000" dirty="0"/>
          </a:p>
        </p:txBody>
      </p:sp>
      <p:pic>
        <p:nvPicPr>
          <p:cNvPr id="5" name="Photo" descr="Élèves du Environment Club au jardin de l’éc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655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6156655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6385255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Protéger notre école et notre environnement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Protecting our school and our environment</a:t>
            </a:r>
            <a:endParaRPr lang="en-US" sz="1700" dirty="0"/>
          </a:p>
        </p:txBody>
      </p:sp>
      <p:sp>
        <p:nvSpPr>
          <p:cNvPr id="8" name="Badge free"/>
          <p:cNvSpPr txBox="1"/>
          <p:nvPr/>
        </p:nvSpPr>
        <p:spPr>
          <a:xfrm>
            <a:off x="54864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GRATUIT / FREE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548640" y="24414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932688" y="228600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Propreté de l’école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School cleanliness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548640" y="30815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932688" y="292608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Collecte et tri des déchets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Waste collection and sorting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548640" y="37216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932688" y="356616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Jardinage et plantation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Gardening and planting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548640" y="436168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932688" y="420624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Compostage et recyclage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Composting and recycling</a:t>
            </a:r>
            <a:endParaRPr lang="en-US" sz="1800" dirty="0"/>
          </a:p>
        </p:txBody>
      </p:sp>
      <p:sp>
        <p:nvSpPr>
          <p:cNvPr id="17" name="Marker"/>
          <p:cNvSpPr/>
          <p:nvPr/>
        </p:nvSpPr>
        <p:spPr>
          <a:xfrm>
            <a:off x="548640" y="500176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ilingual text"/>
          <p:cNvSpPr txBox="1"/>
          <p:nvPr/>
        </p:nvSpPr>
        <p:spPr>
          <a:xfrm>
            <a:off x="932688" y="484632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Économies d’eau et d’énergie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Saving water and energy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Arts &amp; Plastic Club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Arts plastiques</a:t>
            </a:r>
            <a:endParaRPr lang="en-US" sz="2000" dirty="0"/>
          </a:p>
        </p:txBody>
      </p:sp>
      <p:pic>
        <p:nvPicPr>
          <p:cNvPr id="5" name="Photo" descr="Élèves en atelier d’arts plast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Créativité · Savoir-faire manuel · Culture locale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Creativity · Craft skills · Local culture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63550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25 000 FCFA / mois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355080" y="24414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739128" y="228600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Dessin et peinture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Drawing and painting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355080" y="30815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739128" y="292608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Arts plastiques et travaux manuels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Plastic arts and crafts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355080" y="37216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739128" y="356616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Modelage, collage, matériaux recyclés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Modelling, collage, recycled materials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6355080" y="436168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6739128" y="420624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Sacs à main, babouches, bracelets, bijoux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Handbags, slippers, bracelets, jewellery</a:t>
            </a:r>
            <a:endParaRPr lang="en-US" sz="1800" dirty="0"/>
          </a:p>
        </p:txBody>
      </p:sp>
      <p:sp>
        <p:nvSpPr>
          <p:cNvPr id="17" name="Marker"/>
          <p:cNvSpPr/>
          <p:nvPr/>
        </p:nvSpPr>
        <p:spPr>
          <a:xfrm>
            <a:off x="6355080" y="500176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ilingual text"/>
          <p:cNvSpPr txBox="1"/>
          <p:nvPr/>
        </p:nvSpPr>
        <p:spPr>
          <a:xfrm>
            <a:off x="6739128" y="484632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Motifs et symboles africains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African patterns and symbols</a:t>
            </a:r>
            <a:endParaRPr lang="en-US" sz="1800" dirty="0"/>
          </a:p>
        </p:txBody>
      </p:sp>
      <p:sp>
        <p:nvSpPr>
          <p:cNvPr id="19" name="Marker"/>
          <p:cNvSpPr/>
          <p:nvPr/>
        </p:nvSpPr>
        <p:spPr>
          <a:xfrm>
            <a:off x="6355080" y="56418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ilingual text"/>
          <p:cNvSpPr txBox="1"/>
          <p:nvPr/>
        </p:nvSpPr>
        <p:spPr>
          <a:xfrm>
            <a:off x="6739128" y="548640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Expositions scolaires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School exhibitions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Media Club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Médias — quatre activités / four activities</a:t>
            </a:r>
            <a:endParaRPr lang="en-US" sz="2000" dirty="0"/>
          </a:p>
        </p:txBody>
      </p:sp>
      <p:pic>
        <p:nvPicPr>
          <p:cNvPr id="5" name="Photo" descr="Élèves du Media Club : interview, photo et scè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Informer · Parler · Photographier · Filmer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Inform · Speak · Photograph · Film</a:t>
            </a:r>
            <a:endParaRPr lang="en-US" sz="1700" dirty="0"/>
          </a:p>
        </p:txBody>
      </p:sp>
      <p:sp>
        <p:nvSpPr>
          <p:cNvPr id="8" name="Activité Journalism"/>
          <p:cNvSpPr/>
          <p:nvPr/>
        </p:nvSpPr>
        <p:spPr>
          <a:xfrm>
            <a:off x="6355080" y="1691640"/>
            <a:ext cx="530352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6492240" y="185623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303" y="1992295"/>
            <a:ext cx="294803" cy="294803"/>
          </a:xfrm>
          <a:prstGeom prst="rect">
            <a:avLst/>
          </a:prstGeom>
        </p:spPr>
      </p:pic>
      <p:sp>
        <p:nvSpPr>
          <p:cNvPr id="11" name="Bilingual text"/>
          <p:cNvSpPr txBox="1"/>
          <p:nvPr/>
        </p:nvSpPr>
        <p:spPr>
          <a:xfrm>
            <a:off x="7223760" y="1728216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Journalism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Journalisme</a:t>
            </a:r>
            <a:endParaRPr lang="en-US" sz="1700" dirty="0"/>
          </a:p>
        </p:txBody>
      </p:sp>
      <p:sp>
        <p:nvSpPr>
          <p:cNvPr id="12" name="Badge free"/>
          <p:cNvSpPr txBox="1"/>
          <p:nvPr/>
        </p:nvSpPr>
        <p:spPr>
          <a:xfrm>
            <a:off x="9555480" y="1947672"/>
            <a:ext cx="19659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GRATUIT / FREE</a:t>
            </a:r>
            <a:endParaRPr lang="en-US" sz="1400" dirty="0"/>
          </a:p>
        </p:txBody>
      </p:sp>
      <p:sp>
        <p:nvSpPr>
          <p:cNvPr id="13" name="Activité Journalism+"/>
          <p:cNvSpPr/>
          <p:nvPr/>
        </p:nvSpPr>
        <p:spPr>
          <a:xfrm>
            <a:off x="6355080" y="2715768"/>
            <a:ext cx="530352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492240" y="28803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303" y="3016423"/>
            <a:ext cx="294803" cy="294803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7223760" y="275234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Journalism+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Public Speaking · Theatre Arts</a:t>
            </a:r>
            <a:endParaRPr lang="en-US" sz="1700" dirty="0"/>
          </a:p>
        </p:txBody>
      </p:sp>
      <p:sp>
        <p:nvSpPr>
          <p:cNvPr id="17" name="Badge paid"/>
          <p:cNvSpPr txBox="1"/>
          <p:nvPr/>
        </p:nvSpPr>
        <p:spPr>
          <a:xfrm>
            <a:off x="9555480" y="2971800"/>
            <a:ext cx="196596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30 000 FCFA / mois</a:t>
            </a:r>
            <a:endParaRPr lang="en-US" sz="1400" dirty="0"/>
          </a:p>
        </p:txBody>
      </p:sp>
      <p:sp>
        <p:nvSpPr>
          <p:cNvPr id="18" name="Activité Photography"/>
          <p:cNvSpPr/>
          <p:nvPr/>
        </p:nvSpPr>
        <p:spPr>
          <a:xfrm>
            <a:off x="6355080" y="3739896"/>
            <a:ext cx="530352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6492240" y="390448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303" y="4040551"/>
            <a:ext cx="294803" cy="294803"/>
          </a:xfrm>
          <a:prstGeom prst="rect">
            <a:avLst/>
          </a:prstGeom>
        </p:spPr>
      </p:pic>
      <p:sp>
        <p:nvSpPr>
          <p:cNvPr id="21" name="Bilingual text"/>
          <p:cNvSpPr txBox="1"/>
          <p:nvPr/>
        </p:nvSpPr>
        <p:spPr>
          <a:xfrm>
            <a:off x="7223760" y="37764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Photography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Photographie</a:t>
            </a:r>
            <a:endParaRPr lang="en-US" sz="1700" dirty="0"/>
          </a:p>
        </p:txBody>
      </p:sp>
      <p:sp>
        <p:nvSpPr>
          <p:cNvPr id="22" name="Badge tbc"/>
          <p:cNvSpPr txBox="1"/>
          <p:nvPr/>
        </p:nvSpPr>
        <p:spPr>
          <a:xfrm>
            <a:off x="9555480" y="3995928"/>
            <a:ext cx="196596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À confirmer</a:t>
            </a:r>
            <a:endParaRPr lang="en-US" sz="1400" dirty="0"/>
          </a:p>
        </p:txBody>
      </p:sp>
      <p:sp>
        <p:nvSpPr>
          <p:cNvPr id="23" name="Activité Videography"/>
          <p:cNvSpPr/>
          <p:nvPr/>
        </p:nvSpPr>
        <p:spPr>
          <a:xfrm>
            <a:off x="6355080" y="4764024"/>
            <a:ext cx="530352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Icon circle"/>
          <p:cNvSpPr/>
          <p:nvPr/>
        </p:nvSpPr>
        <p:spPr>
          <a:xfrm>
            <a:off x="6492240" y="492861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303" y="5064679"/>
            <a:ext cx="294803" cy="294803"/>
          </a:xfrm>
          <a:prstGeom prst="rect">
            <a:avLst/>
          </a:prstGeom>
        </p:spPr>
      </p:pic>
      <p:sp>
        <p:nvSpPr>
          <p:cNvPr id="26" name="Bilingual text"/>
          <p:cNvSpPr txBox="1"/>
          <p:nvPr/>
        </p:nvSpPr>
        <p:spPr>
          <a:xfrm>
            <a:off x="7223760" y="4800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Videography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Production vidéo</a:t>
            </a:r>
            <a:endParaRPr lang="en-US" sz="1700" dirty="0"/>
          </a:p>
        </p:txBody>
      </p:sp>
      <p:sp>
        <p:nvSpPr>
          <p:cNvPr id="27" name="Badge tbc"/>
          <p:cNvSpPr txBox="1"/>
          <p:nvPr/>
        </p:nvSpPr>
        <p:spPr>
          <a:xfrm>
            <a:off x="9555480" y="5020056"/>
            <a:ext cx="196596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À confirmer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Media Club : Journalism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Médias — Journalisme</a:t>
            </a:r>
            <a:endParaRPr lang="en-US" sz="2000" dirty="0"/>
          </a:p>
        </p:txBody>
      </p:sp>
      <p:pic>
        <p:nvPicPr>
          <p:cNvPr id="5" name="Photo" descr="Un jeune reporter tient un micro devant une camé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Former de jeunes reporters rigoureux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Training accurate young reporters</a:t>
            </a:r>
            <a:endParaRPr lang="en-US" sz="1700" dirty="0"/>
          </a:p>
        </p:txBody>
      </p:sp>
      <p:sp>
        <p:nvSpPr>
          <p:cNvPr id="8" name="Badge free"/>
          <p:cNvSpPr txBox="1"/>
          <p:nvPr/>
        </p:nvSpPr>
        <p:spPr>
          <a:xfrm>
            <a:off x="63550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GRATUIT / FREE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355080" y="24414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739128" y="228600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Écriture journalistique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Journalistic writing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355080" y="30815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739128" y="292608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Articles et titres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Articles and headlines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355080" y="37216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739128" y="356616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Vérification des informations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Fact-checking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6355080" y="436168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6739128" y="420624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Interviews et reportages scolaires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Interviews and school reports</a:t>
            </a:r>
            <a:endParaRPr lang="en-US" sz="1800" dirty="0"/>
          </a:p>
        </p:txBody>
      </p:sp>
      <p:sp>
        <p:nvSpPr>
          <p:cNvPr id="17" name="Marker"/>
          <p:cNvSpPr/>
          <p:nvPr/>
        </p:nvSpPr>
        <p:spPr>
          <a:xfrm>
            <a:off x="6355080" y="500176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ilingual text"/>
          <p:cNvSpPr txBox="1"/>
          <p:nvPr/>
        </p:nvSpPr>
        <p:spPr>
          <a:xfrm>
            <a:off x="6739128" y="484632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Journal et radio scolaires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School newspaper and radio</a:t>
            </a:r>
            <a:endParaRPr lang="en-US" sz="1800" dirty="0"/>
          </a:p>
        </p:txBody>
      </p:sp>
      <p:sp>
        <p:nvSpPr>
          <p:cNvPr id="19" name="Marker"/>
          <p:cNvSpPr/>
          <p:nvPr/>
        </p:nvSpPr>
        <p:spPr>
          <a:xfrm>
            <a:off x="6355080" y="56418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ilingual text"/>
          <p:cNvSpPr txBox="1"/>
          <p:nvPr/>
        </p:nvSpPr>
        <p:spPr>
          <a:xfrm>
            <a:off x="6739128" y="548640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Rédaction en français et en anglais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Writing in French and English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Media Club : Journalism+, Public Speaking, Theatre Arts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Prise de parole en public et art dramatique</a:t>
            </a:r>
            <a:endParaRPr lang="en-US" sz="2000" dirty="0"/>
          </a:p>
        </p:txBody>
      </p:sp>
      <p:pic>
        <p:nvPicPr>
          <p:cNvPr id="5" name="Photo" descr="Élèves sur scè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655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6156655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6385255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Éloquence · Confiance en soi · Français et anglais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Eloquence · Self-confidence · French and English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54864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30 000 FCFA / mois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548640" y="24414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932688" y="228600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Prise de parole en public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Public speaking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548640" y="30815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932688" y="292608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Discours et débats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Speeches and debates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548640" y="37216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932688" y="356616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Présentations orales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Oral presentations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548640" y="436168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932688" y="420624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Gestion du trac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Managing stage fright</a:t>
            </a:r>
            <a:endParaRPr lang="en-US" sz="1800" dirty="0"/>
          </a:p>
        </p:txBody>
      </p:sp>
      <p:sp>
        <p:nvSpPr>
          <p:cNvPr id="17" name="Marker"/>
          <p:cNvSpPr/>
          <p:nvPr/>
        </p:nvSpPr>
        <p:spPr>
          <a:xfrm>
            <a:off x="548640" y="500176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ilingual text"/>
          <p:cNvSpPr txBox="1"/>
          <p:nvPr/>
        </p:nvSpPr>
        <p:spPr>
          <a:xfrm>
            <a:off x="932688" y="484632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Jeu d’acteur et improvisation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Acting and improvisation</a:t>
            </a:r>
            <a:endParaRPr lang="en-US" sz="1800" dirty="0"/>
          </a:p>
        </p:txBody>
      </p:sp>
      <p:sp>
        <p:nvSpPr>
          <p:cNvPr id="19" name="Marker"/>
          <p:cNvSpPr/>
          <p:nvPr/>
        </p:nvSpPr>
        <p:spPr>
          <a:xfrm>
            <a:off x="548640" y="56418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ilingual text"/>
          <p:cNvSpPr txBox="1"/>
          <p:nvPr/>
        </p:nvSpPr>
        <p:spPr>
          <a:xfrm>
            <a:off x="932688" y="548640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Courtes pièces de théâtre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Short plays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Media Club : Photography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Photographie</a:t>
            </a:r>
            <a:endParaRPr lang="en-US" sz="2000" dirty="0"/>
          </a:p>
        </p:txBody>
      </p:sp>
      <p:pic>
        <p:nvPicPr>
          <p:cNvPr id="5" name="Photo" descr="Une élève photographe avec un appareil refl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Observer, composer, raconter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Observe, compose, tell a story</a:t>
            </a:r>
            <a:endParaRPr lang="en-US" sz="1700" dirty="0"/>
          </a:p>
        </p:txBody>
      </p:sp>
      <p:sp>
        <p:nvSpPr>
          <p:cNvPr id="8" name="Badge tbc"/>
          <p:cNvSpPr txBox="1"/>
          <p:nvPr/>
        </p:nvSpPr>
        <p:spPr>
          <a:xfrm>
            <a:off x="63550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Tarif à confirmer / Fee to be confirmed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355080" y="24414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739128" y="228600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Manipulation de l’appareil photo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Handling the camera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355080" y="30815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739128" y="292608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Lumière, mise au point, exposition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Light, focus and exposure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355080" y="37216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739128" y="356616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Cadrage et composition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Framing and composition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6355080" y="436168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6739128" y="420624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Portraits, paysages, photos d’action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Portraits, landscapes, action shots</a:t>
            </a:r>
            <a:endParaRPr lang="en-US" sz="1800" dirty="0"/>
          </a:p>
        </p:txBody>
      </p:sp>
      <p:sp>
        <p:nvSpPr>
          <p:cNvPr id="17" name="Marker"/>
          <p:cNvSpPr/>
          <p:nvPr/>
        </p:nvSpPr>
        <p:spPr>
          <a:xfrm>
            <a:off x="6355080" y="500176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ilingual text"/>
          <p:cNvSpPr txBox="1"/>
          <p:nvPr/>
        </p:nvSpPr>
        <p:spPr>
          <a:xfrm>
            <a:off x="6739128" y="484632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Retouche et narration visuelle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Editing and visual storytelling</a:t>
            </a:r>
            <a:endParaRPr lang="en-US" sz="1800" dirty="0"/>
          </a:p>
        </p:txBody>
      </p:sp>
      <p:sp>
        <p:nvSpPr>
          <p:cNvPr id="19" name="Marker"/>
          <p:cNvSpPr/>
          <p:nvPr/>
        </p:nvSpPr>
        <p:spPr>
          <a:xfrm>
            <a:off x="6355080" y="56418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ilingual text"/>
          <p:cNvSpPr txBox="1"/>
          <p:nvPr/>
        </p:nvSpPr>
        <p:spPr>
          <a:xfrm>
            <a:off x="6739128" y="548640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Droit à l’image et vie privée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Image rights and privacy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Media Club : Videography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Video Production &amp; Content Creation — programme bilingue en 5 axes</a:t>
            </a:r>
            <a:endParaRPr lang="en-US" sz="2000" dirty="0"/>
          </a:p>
        </p:txBody>
      </p:sp>
      <p:pic>
        <p:nvPicPr>
          <p:cNvPr id="5" name="Photo" descr="Élèves filmant avec une caméra sur trépi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023360" cy="2263140"/>
          </a:xfrm>
          <a:prstGeom prst="rect">
            <a:avLst/>
          </a:prstGeom>
        </p:spPr>
      </p:pic>
      <p:sp>
        <p:nvSpPr>
          <p:cNvPr id="6" name="Badge tbc"/>
          <p:cNvSpPr txBox="1"/>
          <p:nvPr/>
        </p:nvSpPr>
        <p:spPr>
          <a:xfrm>
            <a:off x="548640" y="4114800"/>
            <a:ext cx="402336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Tarif à confirmer / Fee to be confirmed</a:t>
            </a:r>
            <a:endParaRPr lang="en-US" sz="1400" dirty="0"/>
          </a:p>
        </p:txBody>
      </p:sp>
      <p:sp>
        <p:nvSpPr>
          <p:cNvPr id="7" name="Objectif"/>
          <p:cNvSpPr txBox="1"/>
          <p:nvPr/>
        </p:nvSpPr>
        <p:spPr>
          <a:xfrm>
            <a:off x="548640" y="46634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Objectif final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Planifier, filmer, monter et publier des vidéos de qualité.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Plan, film, edit and publish quality videos.</a:t>
            </a:r>
            <a:endParaRPr lang="en-US" sz="1600" dirty="0"/>
          </a:p>
        </p:txBody>
      </p:sp>
      <p:sp>
        <p:nvSpPr>
          <p:cNvPr id="8" name="Axe 1"/>
          <p:cNvSpPr/>
          <p:nvPr/>
        </p:nvSpPr>
        <p:spPr>
          <a:xfrm>
            <a:off x="4937760" y="1691640"/>
            <a:ext cx="67208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Numéro"/>
          <p:cNvSpPr txBox="1"/>
          <p:nvPr/>
        </p:nvSpPr>
        <p:spPr>
          <a:xfrm>
            <a:off x="5074920" y="1847088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Axe texte"/>
          <p:cNvSpPr txBox="1"/>
          <p:nvPr/>
        </p:nvSpPr>
        <p:spPr>
          <a:xfrm>
            <a:off x="5760720" y="1691640"/>
            <a:ext cx="5806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Production vidéo / Video production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Caméra · cadrage · éclairage · son / Camera · framing · lighting · sound</a:t>
            </a:r>
            <a:endParaRPr lang="en-US" sz="1600" dirty="0"/>
          </a:p>
        </p:txBody>
      </p:sp>
      <p:sp>
        <p:nvSpPr>
          <p:cNvPr id="11" name="Axe 2"/>
          <p:cNvSpPr/>
          <p:nvPr/>
        </p:nvSpPr>
        <p:spPr>
          <a:xfrm>
            <a:off x="4937760" y="2587752"/>
            <a:ext cx="67208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Numéro"/>
          <p:cNvSpPr txBox="1"/>
          <p:nvPr/>
        </p:nvSpPr>
        <p:spPr>
          <a:xfrm>
            <a:off x="5074920" y="2743200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Axe texte"/>
          <p:cNvSpPr txBox="1"/>
          <p:nvPr/>
        </p:nvSpPr>
        <p:spPr>
          <a:xfrm>
            <a:off x="5760720" y="2587752"/>
            <a:ext cx="5806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Montage vidéo / Video editing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Séquences · musique · sous-titres · couleurs / Sequences · music · subtitles · colour</a:t>
            </a:r>
            <a:endParaRPr lang="en-US" sz="1600" dirty="0"/>
          </a:p>
        </p:txBody>
      </p:sp>
      <p:sp>
        <p:nvSpPr>
          <p:cNvPr id="14" name="Axe 3"/>
          <p:cNvSpPr/>
          <p:nvPr/>
        </p:nvSpPr>
        <p:spPr>
          <a:xfrm>
            <a:off x="4937760" y="3483864"/>
            <a:ext cx="67208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Numéro"/>
          <p:cNvSpPr txBox="1"/>
          <p:nvPr/>
        </p:nvSpPr>
        <p:spPr>
          <a:xfrm>
            <a:off x="5074920" y="363931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Axe texte"/>
          <p:cNvSpPr txBox="1"/>
          <p:nvPr/>
        </p:nvSpPr>
        <p:spPr>
          <a:xfrm>
            <a:off x="5760720" y="3483864"/>
            <a:ext cx="5806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Création de contenu / Content creation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Tutoriels · interviews · documentaires / Tutorials · interviews · documentaries</a:t>
            </a:r>
            <a:endParaRPr lang="en-US" sz="1600" dirty="0"/>
          </a:p>
        </p:txBody>
      </p:sp>
      <p:sp>
        <p:nvSpPr>
          <p:cNvPr id="17" name="Axe 4"/>
          <p:cNvSpPr/>
          <p:nvPr/>
        </p:nvSpPr>
        <p:spPr>
          <a:xfrm>
            <a:off x="4937760" y="4379976"/>
            <a:ext cx="67208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Numéro"/>
          <p:cNvSpPr txBox="1"/>
          <p:nvPr/>
        </p:nvSpPr>
        <p:spPr>
          <a:xfrm>
            <a:off x="5074920" y="4535424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Axe texte"/>
          <p:cNvSpPr txBox="1"/>
          <p:nvPr/>
        </p:nvSpPr>
        <p:spPr>
          <a:xfrm>
            <a:off x="5760720" y="4379976"/>
            <a:ext cx="5806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Reportages et interviews / Reporting and interviews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Présentation caméra · événements · voix off / On-camera · school events · voice-over</a:t>
            </a:r>
            <a:endParaRPr lang="en-US" sz="1600" dirty="0"/>
          </a:p>
        </p:txBody>
      </p:sp>
      <p:sp>
        <p:nvSpPr>
          <p:cNvPr id="20" name="Axe 5"/>
          <p:cNvSpPr/>
          <p:nvPr/>
        </p:nvSpPr>
        <p:spPr>
          <a:xfrm>
            <a:off x="4937760" y="5276088"/>
            <a:ext cx="67208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Numéro"/>
          <p:cNvSpPr txBox="1"/>
          <p:nvPr/>
        </p:nvSpPr>
        <p:spPr>
          <a:xfrm>
            <a:off x="5074920" y="54315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Axe texte"/>
          <p:cNvSpPr txBox="1"/>
          <p:nvPr/>
        </p:nvSpPr>
        <p:spPr>
          <a:xfrm>
            <a:off x="5760720" y="5276088"/>
            <a:ext cx="5806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Publication et responsabilité numérique / Publishing and digital responsibility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Miniatures · export · droits d’auteur / Thumbnails · export · copyright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Videography : projets concrets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Concrete projects and the production chain</a:t>
            </a:r>
            <a:endParaRPr lang="en-US" sz="2000" dirty="0"/>
          </a:p>
        </p:txBody>
      </p:sp>
      <p:sp>
        <p:nvSpPr>
          <p:cNvPr id="5" name="Projet 1"/>
          <p:cNvSpPr/>
          <p:nvPr/>
        </p:nvSpPr>
        <p:spPr>
          <a:xfrm>
            <a:off x="548640" y="1645920"/>
            <a:ext cx="3611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017166"/>
            <a:ext cx="309067" cy="309067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508760" y="1691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Vidéos éducatives et tutoriels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Educational videos and tutorials</a:t>
            </a:r>
            <a:endParaRPr lang="en-US" sz="1600" dirty="0"/>
          </a:p>
        </p:txBody>
      </p:sp>
      <p:sp>
        <p:nvSpPr>
          <p:cNvPr id="9" name="Projet 2"/>
          <p:cNvSpPr/>
          <p:nvPr/>
        </p:nvSpPr>
        <p:spPr>
          <a:xfrm>
            <a:off x="4389120" y="1645920"/>
            <a:ext cx="3611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017166"/>
            <a:ext cx="309067" cy="309067"/>
          </a:xfrm>
          <a:prstGeom prst="rect">
            <a:avLst/>
          </a:prstGeom>
        </p:spPr>
      </p:pic>
      <p:sp>
        <p:nvSpPr>
          <p:cNvPr id="12" name="Bilingual text"/>
          <p:cNvSpPr txBox="1"/>
          <p:nvPr/>
        </p:nvSpPr>
        <p:spPr>
          <a:xfrm>
            <a:off x="5349240" y="1691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Interviews d’enseignants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Teacher interviews</a:t>
            </a:r>
            <a:endParaRPr lang="en-US" sz="1600" dirty="0"/>
          </a:p>
        </p:txBody>
      </p:sp>
      <p:sp>
        <p:nvSpPr>
          <p:cNvPr id="13" name="Projet 3"/>
          <p:cNvSpPr/>
          <p:nvPr/>
        </p:nvSpPr>
        <p:spPr>
          <a:xfrm>
            <a:off x="8229600" y="1645920"/>
            <a:ext cx="3611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8412480" y="1874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2017166"/>
            <a:ext cx="309067" cy="309067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9189720" y="1691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Reportages scolaires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School reports</a:t>
            </a:r>
            <a:endParaRPr lang="en-US" sz="1600" dirty="0"/>
          </a:p>
        </p:txBody>
      </p:sp>
      <p:sp>
        <p:nvSpPr>
          <p:cNvPr id="17" name="Projet 4"/>
          <p:cNvSpPr/>
          <p:nvPr/>
        </p:nvSpPr>
        <p:spPr>
          <a:xfrm>
            <a:off x="548640" y="2834640"/>
            <a:ext cx="3611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731520" y="3063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3205886"/>
            <a:ext cx="309067" cy="309067"/>
          </a:xfrm>
          <a:prstGeom prst="rect">
            <a:avLst/>
          </a:prstGeom>
        </p:spPr>
      </p:pic>
      <p:sp>
        <p:nvSpPr>
          <p:cNvPr id="20" name="Bilingual text"/>
          <p:cNvSpPr txBox="1"/>
          <p:nvPr/>
        </p:nvSpPr>
        <p:spPr>
          <a:xfrm>
            <a:off x="1508760" y="28803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Documentaires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Documentaries</a:t>
            </a:r>
            <a:endParaRPr lang="en-US" sz="1600" dirty="0"/>
          </a:p>
        </p:txBody>
      </p:sp>
      <p:sp>
        <p:nvSpPr>
          <p:cNvPr id="21" name="Projet 5"/>
          <p:cNvSpPr/>
          <p:nvPr/>
        </p:nvSpPr>
        <p:spPr>
          <a:xfrm>
            <a:off x="4389120" y="2834640"/>
            <a:ext cx="3611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4572000" y="3063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205886"/>
            <a:ext cx="309067" cy="309067"/>
          </a:xfrm>
          <a:prstGeom prst="rect">
            <a:avLst/>
          </a:prstGeom>
        </p:spPr>
      </p:pic>
      <p:sp>
        <p:nvSpPr>
          <p:cNvPr id="24" name="Bilingual text"/>
          <p:cNvSpPr txBox="1"/>
          <p:nvPr/>
        </p:nvSpPr>
        <p:spPr>
          <a:xfrm>
            <a:off x="5349240" y="28803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Couverture d’événements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Event coverage</a:t>
            </a:r>
            <a:endParaRPr lang="en-US" sz="1600" dirty="0"/>
          </a:p>
        </p:txBody>
      </p:sp>
      <p:sp>
        <p:nvSpPr>
          <p:cNvPr id="25" name="Projet 6"/>
          <p:cNvSpPr/>
          <p:nvPr/>
        </p:nvSpPr>
        <p:spPr>
          <a:xfrm>
            <a:off x="8229600" y="2834640"/>
            <a:ext cx="3611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8412480" y="3063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5126" y="3205886"/>
            <a:ext cx="309067" cy="309067"/>
          </a:xfrm>
          <a:prstGeom prst="rect">
            <a:avLst/>
          </a:prstGeom>
        </p:spPr>
      </p:pic>
      <p:sp>
        <p:nvSpPr>
          <p:cNvPr id="28" name="Bilingual text"/>
          <p:cNvSpPr txBox="1"/>
          <p:nvPr/>
        </p:nvSpPr>
        <p:spPr>
          <a:xfrm>
            <a:off x="9189720" y="28803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YouTube, TikTok, Facebook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Content for social media</a:t>
            </a:r>
            <a:endParaRPr lang="en-US" sz="1600" dirty="0"/>
          </a:p>
        </p:txBody>
      </p:sp>
      <p:sp>
        <p:nvSpPr>
          <p:cNvPr id="29" name="Sous-titre chaîne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 l’idée à la publication / From idea to publication</a:t>
            </a:r>
            <a:endParaRPr lang="en-US" sz="1800" dirty="0"/>
          </a:p>
        </p:txBody>
      </p:sp>
      <p:sp>
        <p:nvSpPr>
          <p:cNvPr id="30" name="Étape 1"/>
          <p:cNvSpPr/>
          <p:nvPr/>
        </p:nvSpPr>
        <p:spPr>
          <a:xfrm>
            <a:off x="5486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1" name="Étape texte"/>
          <p:cNvSpPr txBox="1"/>
          <p:nvPr/>
        </p:nvSpPr>
        <p:spPr>
          <a:xfrm>
            <a:off x="5486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Scénario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Script</a:t>
            </a:r>
            <a:endParaRPr lang="en-US" sz="2200" dirty="0"/>
          </a:p>
        </p:txBody>
      </p:sp>
      <p:sp>
        <p:nvSpPr>
          <p:cNvPr id="32" name="Étape 2"/>
          <p:cNvSpPr/>
          <p:nvPr/>
        </p:nvSpPr>
        <p:spPr>
          <a:xfrm>
            <a:off x="21488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3" name="Étape texte"/>
          <p:cNvSpPr txBox="1"/>
          <p:nvPr/>
        </p:nvSpPr>
        <p:spPr>
          <a:xfrm>
            <a:off x="21488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2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Prise de vue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Shooting</a:t>
            </a:r>
            <a:endParaRPr lang="en-US" sz="2200" dirty="0"/>
          </a:p>
        </p:txBody>
      </p:sp>
      <p:sp>
        <p:nvSpPr>
          <p:cNvPr id="34" name="Étape 3"/>
          <p:cNvSpPr/>
          <p:nvPr/>
        </p:nvSpPr>
        <p:spPr>
          <a:xfrm>
            <a:off x="37490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5" name="Étape texte"/>
          <p:cNvSpPr txBox="1"/>
          <p:nvPr/>
        </p:nvSpPr>
        <p:spPr>
          <a:xfrm>
            <a:off x="37490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3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Son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Sound</a:t>
            </a:r>
            <a:endParaRPr lang="en-US" sz="2200" dirty="0"/>
          </a:p>
        </p:txBody>
      </p:sp>
      <p:sp>
        <p:nvSpPr>
          <p:cNvPr id="36" name="Étape 4"/>
          <p:cNvSpPr/>
          <p:nvPr/>
        </p:nvSpPr>
        <p:spPr>
          <a:xfrm>
            <a:off x="53492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7" name="Étape texte"/>
          <p:cNvSpPr txBox="1"/>
          <p:nvPr/>
        </p:nvSpPr>
        <p:spPr>
          <a:xfrm>
            <a:off x="53492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4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Sous-titres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Subtitles</a:t>
            </a:r>
            <a:endParaRPr lang="en-US" sz="2200" dirty="0"/>
          </a:p>
        </p:txBody>
      </p:sp>
      <p:sp>
        <p:nvSpPr>
          <p:cNvPr id="38" name="Étape 5"/>
          <p:cNvSpPr/>
          <p:nvPr/>
        </p:nvSpPr>
        <p:spPr>
          <a:xfrm>
            <a:off x="69494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9" name="Étape texte"/>
          <p:cNvSpPr txBox="1"/>
          <p:nvPr/>
        </p:nvSpPr>
        <p:spPr>
          <a:xfrm>
            <a:off x="69494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5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Montage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Editing</a:t>
            </a:r>
            <a:endParaRPr lang="en-US" sz="2200" dirty="0"/>
          </a:p>
        </p:txBody>
      </p:sp>
      <p:sp>
        <p:nvSpPr>
          <p:cNvPr id="40" name="Étape 6"/>
          <p:cNvSpPr/>
          <p:nvPr/>
        </p:nvSpPr>
        <p:spPr>
          <a:xfrm>
            <a:off x="85496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1" name="Étape texte"/>
          <p:cNvSpPr txBox="1"/>
          <p:nvPr/>
        </p:nvSpPr>
        <p:spPr>
          <a:xfrm>
            <a:off x="85496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6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Publication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Publishing</a:t>
            </a:r>
            <a:endParaRPr lang="en-US" sz="2200" dirty="0"/>
          </a:p>
        </p:txBody>
      </p:sp>
      <p:sp>
        <p:nvSpPr>
          <p:cNvPr id="42" name="Étape 7"/>
          <p:cNvSpPr/>
          <p:nvPr/>
        </p:nvSpPr>
        <p:spPr>
          <a:xfrm>
            <a:off x="10149840" y="4617720"/>
            <a:ext cx="15087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3" name="Étape texte"/>
          <p:cNvSpPr txBox="1"/>
          <p:nvPr/>
        </p:nvSpPr>
        <p:spPr>
          <a:xfrm>
            <a:off x="10149840" y="461772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7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Droits d’auteur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Copyright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Music Club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Musique — quatre activités / four activities</a:t>
            </a:r>
            <a:endParaRPr lang="en-US" sz="2000" dirty="0"/>
          </a:p>
        </p:txBody>
      </p:sp>
      <p:pic>
        <p:nvPicPr>
          <p:cNvPr id="5" name="Photo" descr="Élèves du Music Club : chant, guitare, piano, flû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Chorale · concert scolaire · représentation de fin d’année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Choir · school concert · end-of-year performance</a:t>
            </a:r>
            <a:endParaRPr lang="en-US" sz="1700" dirty="0"/>
          </a:p>
        </p:txBody>
      </p:sp>
      <p:sp>
        <p:nvSpPr>
          <p:cNvPr id="8" name="Carte Chant et rythme"/>
          <p:cNvSpPr/>
          <p:nvPr/>
        </p:nvSpPr>
        <p:spPr>
          <a:xfrm>
            <a:off x="6355080" y="16916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34" y="2006194"/>
            <a:ext cx="285293" cy="285293"/>
          </a:xfrm>
          <a:prstGeom prst="rect">
            <a:avLst/>
          </a:prstGeom>
        </p:spPr>
      </p:pic>
      <p:sp>
        <p:nvSpPr>
          <p:cNvPr id="11" name="Nom"/>
          <p:cNvSpPr txBox="1"/>
          <p:nvPr/>
        </p:nvSpPr>
        <p:spPr>
          <a:xfrm>
            <a:off x="7223760" y="1828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Chant et rythme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Singing and rhythm</a:t>
            </a:r>
            <a:endParaRPr lang="en-US" sz="1700" dirty="0"/>
          </a:p>
        </p:txBody>
      </p:sp>
      <p:sp>
        <p:nvSpPr>
          <p:cNvPr id="12" name="Badge free"/>
          <p:cNvSpPr txBox="1"/>
          <p:nvPr/>
        </p:nvSpPr>
        <p:spPr>
          <a:xfrm>
            <a:off x="6537960" y="2606040"/>
            <a:ext cx="21945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GRATUIT / FREE</a:t>
            </a:r>
            <a:endParaRPr lang="en-US" sz="1400" dirty="0"/>
          </a:p>
        </p:txBody>
      </p:sp>
      <p:sp>
        <p:nvSpPr>
          <p:cNvPr id="13" name="Compétences"/>
          <p:cNvSpPr txBox="1"/>
          <p:nvPr/>
        </p:nvSpPr>
        <p:spPr>
          <a:xfrm>
            <a:off x="653796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Voix · respiration · rythme</a:t>
            </a:r>
            <a:endParaRPr lang="en-US" sz="1400" dirty="0"/>
          </a:p>
        </p:txBody>
      </p:sp>
      <p:sp>
        <p:nvSpPr>
          <p:cNvPr id="14" name="Carte Piano"/>
          <p:cNvSpPr/>
          <p:nvPr/>
        </p:nvSpPr>
        <p:spPr>
          <a:xfrm>
            <a:off x="9052560" y="16916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923544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114" y="2006194"/>
            <a:ext cx="285293" cy="285293"/>
          </a:xfrm>
          <a:prstGeom prst="rect">
            <a:avLst/>
          </a:prstGeom>
        </p:spPr>
      </p:pic>
      <p:sp>
        <p:nvSpPr>
          <p:cNvPr id="17" name="Nom"/>
          <p:cNvSpPr txBox="1"/>
          <p:nvPr/>
        </p:nvSpPr>
        <p:spPr>
          <a:xfrm>
            <a:off x="9921240" y="1828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Piano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Piano</a:t>
            </a:r>
            <a:endParaRPr lang="en-US" sz="1700" dirty="0"/>
          </a:p>
        </p:txBody>
      </p:sp>
      <p:sp>
        <p:nvSpPr>
          <p:cNvPr id="18" name="Badge paid"/>
          <p:cNvSpPr txBox="1"/>
          <p:nvPr/>
        </p:nvSpPr>
        <p:spPr>
          <a:xfrm>
            <a:off x="9235440" y="2606040"/>
            <a:ext cx="219456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50 000 FCFA / mois</a:t>
            </a:r>
            <a:endParaRPr lang="en-US" sz="1400" dirty="0"/>
          </a:p>
        </p:txBody>
      </p:sp>
      <p:sp>
        <p:nvSpPr>
          <p:cNvPr id="19" name="Compétences"/>
          <p:cNvSpPr txBox="1"/>
          <p:nvPr/>
        </p:nvSpPr>
        <p:spPr>
          <a:xfrm>
            <a:off x="923544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Notes · gammes · mélodies</a:t>
            </a:r>
            <a:endParaRPr lang="en-US" sz="1400" dirty="0"/>
          </a:p>
        </p:txBody>
      </p:sp>
      <p:sp>
        <p:nvSpPr>
          <p:cNvPr id="20" name="Carte Guitare"/>
          <p:cNvSpPr/>
          <p:nvPr/>
        </p:nvSpPr>
        <p:spPr>
          <a:xfrm>
            <a:off x="6355080" y="379476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Icon circle"/>
          <p:cNvSpPr/>
          <p:nvPr/>
        </p:nvSpPr>
        <p:spPr>
          <a:xfrm>
            <a:off x="6537960" y="3977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34" y="4109314"/>
            <a:ext cx="285293" cy="285293"/>
          </a:xfrm>
          <a:prstGeom prst="rect">
            <a:avLst/>
          </a:prstGeom>
        </p:spPr>
      </p:pic>
      <p:sp>
        <p:nvSpPr>
          <p:cNvPr id="23" name="Nom"/>
          <p:cNvSpPr txBox="1"/>
          <p:nvPr/>
        </p:nvSpPr>
        <p:spPr>
          <a:xfrm>
            <a:off x="7223760" y="39319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Guitare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Guitar</a:t>
            </a:r>
            <a:endParaRPr lang="en-US" sz="1700" dirty="0"/>
          </a:p>
        </p:txBody>
      </p:sp>
      <p:sp>
        <p:nvSpPr>
          <p:cNvPr id="24" name="Badge paid"/>
          <p:cNvSpPr txBox="1"/>
          <p:nvPr/>
        </p:nvSpPr>
        <p:spPr>
          <a:xfrm>
            <a:off x="6537960" y="4709160"/>
            <a:ext cx="219456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50 000 FCFA / mois</a:t>
            </a:r>
            <a:endParaRPr lang="en-US" sz="1400" dirty="0"/>
          </a:p>
        </p:txBody>
      </p:sp>
      <p:sp>
        <p:nvSpPr>
          <p:cNvPr id="25" name="Compétences"/>
          <p:cNvSpPr txBox="1"/>
          <p:nvPr/>
        </p:nvSpPr>
        <p:spPr>
          <a:xfrm>
            <a:off x="6537960" y="5212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Accords · rythmes</a:t>
            </a:r>
            <a:endParaRPr lang="en-US" sz="1400" dirty="0"/>
          </a:p>
        </p:txBody>
      </p:sp>
      <p:sp>
        <p:nvSpPr>
          <p:cNvPr id="26" name="Carte Flûte"/>
          <p:cNvSpPr/>
          <p:nvPr/>
        </p:nvSpPr>
        <p:spPr>
          <a:xfrm>
            <a:off x="9052560" y="379476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7" name="Icon circle"/>
          <p:cNvSpPr/>
          <p:nvPr/>
        </p:nvSpPr>
        <p:spPr>
          <a:xfrm>
            <a:off x="9235440" y="3977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7114" y="4109314"/>
            <a:ext cx="285293" cy="285293"/>
          </a:xfrm>
          <a:prstGeom prst="rect">
            <a:avLst/>
          </a:prstGeom>
        </p:spPr>
      </p:pic>
      <p:sp>
        <p:nvSpPr>
          <p:cNvPr id="29" name="Nom"/>
          <p:cNvSpPr txBox="1"/>
          <p:nvPr/>
        </p:nvSpPr>
        <p:spPr>
          <a:xfrm>
            <a:off x="9921240" y="39319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Flûte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Flute</a:t>
            </a:r>
            <a:endParaRPr lang="en-US" sz="1700" dirty="0"/>
          </a:p>
        </p:txBody>
      </p:sp>
      <p:sp>
        <p:nvSpPr>
          <p:cNvPr id="30" name="Badge free"/>
          <p:cNvSpPr txBox="1"/>
          <p:nvPr/>
        </p:nvSpPr>
        <p:spPr>
          <a:xfrm>
            <a:off x="9235440" y="4709160"/>
            <a:ext cx="21945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GRATUIT / FREE</a:t>
            </a:r>
            <a:endParaRPr lang="en-US" sz="1400" dirty="0"/>
          </a:p>
        </p:txBody>
      </p:sp>
      <p:sp>
        <p:nvSpPr>
          <p:cNvPr id="31" name="Compétences"/>
          <p:cNvSpPr txBox="1"/>
          <p:nvPr/>
        </p:nvSpPr>
        <p:spPr>
          <a:xfrm>
            <a:off x="9235440" y="5212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Souffle · doigtés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Music Club : Chant et rythme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Singing and Rhythm</a:t>
            </a:r>
            <a:endParaRPr lang="en-US" sz="2000" dirty="0"/>
          </a:p>
        </p:txBody>
      </p:sp>
      <p:pic>
        <p:nvPicPr>
          <p:cNvPr id="5" name="Photo" descr="Une élève chante au mic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Voix · Rythme · Confiance sur scène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Voice · Rhythm · Confidence on stage</a:t>
            </a:r>
            <a:endParaRPr lang="en-US" sz="1700" dirty="0"/>
          </a:p>
        </p:txBody>
      </p:sp>
      <p:sp>
        <p:nvSpPr>
          <p:cNvPr id="8" name="Badge free"/>
          <p:cNvSpPr txBox="1"/>
          <p:nvPr/>
        </p:nvSpPr>
        <p:spPr>
          <a:xfrm>
            <a:off x="63550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GRATUIT / FREE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355080" y="25557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739128" y="228600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Respiration, voix et posture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Breathing, voice and posture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355080" y="34244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739128" y="315468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Rythme : percussions et mouvements du corps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Rhythm with percussion and body movement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355080" y="42931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739128" y="402336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Chant en groupe et chorale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Group singing and choir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Music Club : Piano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Piano</a:t>
            </a:r>
            <a:endParaRPr lang="en-US" sz="2000" dirty="0"/>
          </a:p>
        </p:txBody>
      </p:sp>
      <p:pic>
        <p:nvPicPr>
          <p:cNvPr id="5" name="Photo" descr="Une élève joue du clav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655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6156655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6385255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Oreille musicale · Patience · Discipline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Musical ear · Patience · Discipline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54864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50 000 FCFA / mois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548640" y="25557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932688" y="228600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Notes, clavier et lecture musicale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Notes, keyboard and reading music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548640" y="34244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932688" y="315468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Gammes, accords et mélodies simples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Scales, chords and simple melodies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548640" y="42931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932688" y="402336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Interpréter un morceau court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Playing a short piece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Music Club : Guitare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Guitar</a:t>
            </a:r>
            <a:endParaRPr lang="en-US" sz="2000" dirty="0"/>
          </a:p>
        </p:txBody>
      </p:sp>
      <p:pic>
        <p:nvPicPr>
          <p:cNvPr id="5" name="Photo" descr="Un élève joue de la guit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Accords · Rythme · Accompagnement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Chords · Rhythm · Accompaniment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63550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50 000 FCFA / mois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355080" y="25557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739128" y="228600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Tenue et accordage de la guitare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Holding and tuning the guitar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355080" y="34244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739128" y="315468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Accords de base et rythmes de grattage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Basic chords and strumming patterns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355080" y="42931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739128" y="402336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Accompagner une chanson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Accompanying a song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Music Club : Flûte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Flute</a:t>
            </a:r>
            <a:endParaRPr lang="en-US" sz="2000" dirty="0"/>
          </a:p>
        </p:txBody>
      </p:sp>
      <p:pic>
        <p:nvPicPr>
          <p:cNvPr id="5" name="Photo" descr="Un élève joue de la flû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655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6156655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6385255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Souffle · Précision · Mélodie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Breath · Precision · Melody</a:t>
            </a:r>
            <a:endParaRPr lang="en-US" sz="1700" dirty="0"/>
          </a:p>
        </p:txBody>
      </p:sp>
      <p:sp>
        <p:nvSpPr>
          <p:cNvPr id="8" name="Badge free"/>
          <p:cNvSpPr txBox="1"/>
          <p:nvPr/>
        </p:nvSpPr>
        <p:spPr>
          <a:xfrm>
            <a:off x="54864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GRATUIT / FREE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548640" y="25557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932688" y="228600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Respiration et production du son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Breathing and sound production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548640" y="34244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932688" y="315468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Doigtés et notes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Fingering and notes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548640" y="42931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932688" y="402336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Interpréter des mélodies simples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Playing simple tunes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Sports Club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Sports — le football est gratuit / football is free</a:t>
            </a:r>
            <a:endParaRPr lang="en-US" sz="2000" dirty="0"/>
          </a:p>
        </p:txBody>
      </p:sp>
      <p:pic>
        <p:nvPicPr>
          <p:cNvPr id="5" name="Photo" descr="Élèves du Sports Club jouant au footb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Santé · Fair-play · Discipline · Esprit d’équipe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Health · Fair play · Discipline · Team spirit</a:t>
            </a:r>
            <a:endParaRPr lang="en-US" sz="1700" dirty="0"/>
          </a:p>
        </p:txBody>
      </p:sp>
      <p:sp>
        <p:nvSpPr>
          <p:cNvPr id="8" name="Offre Football"/>
          <p:cNvSpPr/>
          <p:nvPr/>
        </p:nvSpPr>
        <p:spPr>
          <a:xfrm>
            <a:off x="6355080" y="1691640"/>
            <a:ext cx="530352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6492240" y="185623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303" y="1992295"/>
            <a:ext cx="294803" cy="294803"/>
          </a:xfrm>
          <a:prstGeom prst="rect">
            <a:avLst/>
          </a:prstGeom>
        </p:spPr>
      </p:pic>
      <p:sp>
        <p:nvSpPr>
          <p:cNvPr id="11" name="Offre nom"/>
          <p:cNvSpPr txBox="1"/>
          <p:nvPr/>
        </p:nvSpPr>
        <p:spPr>
          <a:xfrm>
            <a:off x="7223760" y="1691640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Football</a:t>
            </a:r>
            <a:endParaRPr lang="en-US" sz="1700" dirty="0"/>
          </a:p>
        </p:txBody>
      </p:sp>
      <p:sp>
        <p:nvSpPr>
          <p:cNvPr id="12" name="Badge free"/>
          <p:cNvSpPr txBox="1"/>
          <p:nvPr/>
        </p:nvSpPr>
        <p:spPr>
          <a:xfrm>
            <a:off x="9555480" y="1947672"/>
            <a:ext cx="19659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GRATUIT / FREE</a:t>
            </a:r>
            <a:endParaRPr lang="en-US" sz="1400" dirty="0"/>
          </a:p>
        </p:txBody>
      </p:sp>
      <p:sp>
        <p:nvSpPr>
          <p:cNvPr id="13" name="Offre Football + Volleyball"/>
          <p:cNvSpPr/>
          <p:nvPr/>
        </p:nvSpPr>
        <p:spPr>
          <a:xfrm>
            <a:off x="6355080" y="2715768"/>
            <a:ext cx="530352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492240" y="28803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303" y="3016423"/>
            <a:ext cx="294803" cy="294803"/>
          </a:xfrm>
          <a:prstGeom prst="rect">
            <a:avLst/>
          </a:prstGeom>
        </p:spPr>
      </p:pic>
      <p:sp>
        <p:nvSpPr>
          <p:cNvPr id="16" name="Offre nom"/>
          <p:cNvSpPr txBox="1"/>
          <p:nvPr/>
        </p:nvSpPr>
        <p:spPr>
          <a:xfrm>
            <a:off x="7223760" y="2715768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Football + Volleyball</a:t>
            </a:r>
            <a:endParaRPr lang="en-US" sz="1700" dirty="0"/>
          </a:p>
        </p:txBody>
      </p:sp>
      <p:sp>
        <p:nvSpPr>
          <p:cNvPr id="17" name="Badge paid"/>
          <p:cNvSpPr txBox="1"/>
          <p:nvPr/>
        </p:nvSpPr>
        <p:spPr>
          <a:xfrm>
            <a:off x="9555480" y="2971800"/>
            <a:ext cx="196596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35 000 FCFA / mois</a:t>
            </a:r>
            <a:endParaRPr lang="en-US" sz="1400" dirty="0"/>
          </a:p>
        </p:txBody>
      </p:sp>
      <p:sp>
        <p:nvSpPr>
          <p:cNvPr id="18" name="Offre Football + Basketball"/>
          <p:cNvSpPr/>
          <p:nvPr/>
        </p:nvSpPr>
        <p:spPr>
          <a:xfrm>
            <a:off x="6355080" y="3739896"/>
            <a:ext cx="530352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6492240" y="390448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303" y="4040551"/>
            <a:ext cx="294803" cy="294803"/>
          </a:xfrm>
          <a:prstGeom prst="rect">
            <a:avLst/>
          </a:prstGeom>
        </p:spPr>
      </p:pic>
      <p:sp>
        <p:nvSpPr>
          <p:cNvPr id="21" name="Offre nom"/>
          <p:cNvSpPr txBox="1"/>
          <p:nvPr/>
        </p:nvSpPr>
        <p:spPr>
          <a:xfrm>
            <a:off x="7223760" y="3739896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Football + Basketball</a:t>
            </a:r>
            <a:endParaRPr lang="en-US" sz="1700" dirty="0"/>
          </a:p>
        </p:txBody>
      </p:sp>
      <p:sp>
        <p:nvSpPr>
          <p:cNvPr id="22" name="Badge paid"/>
          <p:cNvSpPr txBox="1"/>
          <p:nvPr/>
        </p:nvSpPr>
        <p:spPr>
          <a:xfrm>
            <a:off x="9555480" y="3995928"/>
            <a:ext cx="196596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35 000 FCFA / mois</a:t>
            </a:r>
            <a:endParaRPr lang="en-US" sz="1400" dirty="0"/>
          </a:p>
        </p:txBody>
      </p:sp>
      <p:sp>
        <p:nvSpPr>
          <p:cNvPr id="23" name="Offre Football + Tennis"/>
          <p:cNvSpPr/>
          <p:nvPr/>
        </p:nvSpPr>
        <p:spPr>
          <a:xfrm>
            <a:off x="6355080" y="4764024"/>
            <a:ext cx="530352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Icon circle"/>
          <p:cNvSpPr/>
          <p:nvPr/>
        </p:nvSpPr>
        <p:spPr>
          <a:xfrm>
            <a:off x="6492240" y="492861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303" y="5064679"/>
            <a:ext cx="294803" cy="294803"/>
          </a:xfrm>
          <a:prstGeom prst="rect">
            <a:avLst/>
          </a:prstGeom>
        </p:spPr>
      </p:pic>
      <p:sp>
        <p:nvSpPr>
          <p:cNvPr id="26" name="Offre nom"/>
          <p:cNvSpPr txBox="1"/>
          <p:nvPr/>
        </p:nvSpPr>
        <p:spPr>
          <a:xfrm>
            <a:off x="7223760" y="4764024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Football + Tennis</a:t>
            </a:r>
            <a:endParaRPr lang="en-US" sz="1700" dirty="0"/>
          </a:p>
        </p:txBody>
      </p:sp>
      <p:sp>
        <p:nvSpPr>
          <p:cNvPr id="27" name="Badge paid"/>
          <p:cNvSpPr txBox="1"/>
          <p:nvPr/>
        </p:nvSpPr>
        <p:spPr>
          <a:xfrm>
            <a:off x="9555480" y="5020056"/>
            <a:ext cx="196596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35 000 FCFA / mois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Sports Club : Football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Football — gratuit / free</a:t>
            </a:r>
            <a:endParaRPr lang="en-US" sz="2000" dirty="0"/>
          </a:p>
        </p:txBody>
      </p:sp>
      <p:pic>
        <p:nvPicPr>
          <p:cNvPr id="5" name="Photo" descr="Des élèves jouent au footb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Jouer ensemble, jouer juste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Play together, play fair</a:t>
            </a:r>
            <a:endParaRPr lang="en-US" sz="1700" dirty="0"/>
          </a:p>
        </p:txBody>
      </p:sp>
      <p:sp>
        <p:nvSpPr>
          <p:cNvPr id="8" name="Badge free"/>
          <p:cNvSpPr txBox="1"/>
          <p:nvPr/>
        </p:nvSpPr>
        <p:spPr>
          <a:xfrm>
            <a:off x="63550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GRATUIT / FREE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355080" y="25557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739128" y="228600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Passes, tirs, dribbles et défense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Passing, shooting, dribbling and defending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355080" y="34244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739128" y="315468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Tactique d’équipe et postes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Team tactics and positions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355080" y="42931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739128" y="402336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Fair-play et respect des règles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Fair play and respect of the rules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Sports Club : Football + Volleyball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Volleyball</a:t>
            </a:r>
            <a:endParaRPr lang="en-US" sz="2000" dirty="0"/>
          </a:p>
        </p:txBody>
      </p:sp>
      <p:pic>
        <p:nvPicPr>
          <p:cNvPr id="5" name="Photo" descr="Une élève avec un ballon de voll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655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6156655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6385255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Coordination · Esprit d’équipe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Coordination · Team spirit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548640" y="1691640"/>
            <a:ext cx="475488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35 000 FCFA / mois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548640" y="25557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932688" y="228600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Service, réception et passe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Serving, passing and setting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548640" y="34244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932688" y="315468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Attaque et contre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Spiking and blocking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548640" y="42931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932688" y="402336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Rotation et jeu collectif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Rotation and teamwork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Sports Club : Football + Basketball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Basketball</a:t>
            </a:r>
            <a:endParaRPr lang="en-US" sz="2000" dirty="0"/>
          </a:p>
        </p:txBody>
      </p:sp>
      <p:pic>
        <p:nvPicPr>
          <p:cNvPr id="5" name="Photo" descr="Des élèves jouent au basketb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Rapidité · Adresse · Fair-play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Speed · Skill · Fair play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6355080" y="1691640"/>
            <a:ext cx="475488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35 000 FCFA / mois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355080" y="25557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739128" y="228600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Dribble, passes et tirs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Dribbling, passing and shooting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355080" y="34244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739128" y="315468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Attaque et défense en petits matchs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Offence and defence in small games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355080" y="42931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739128" y="402336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Règles et esprit d’équipe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Rules and team spirit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Sports Club : Football + Tennis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Tennis</a:t>
            </a:r>
            <a:endParaRPr lang="en-US" sz="2000" dirty="0"/>
          </a:p>
        </p:txBody>
      </p:sp>
      <p:pic>
        <p:nvPicPr>
          <p:cNvPr id="5" name="Photo" descr="Une élève avec une raquette de tenn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655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6156655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6385255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Concentration · Précision · Esprit sportif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Focus · Precision · Sportsmanship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548640" y="1691640"/>
            <a:ext cx="475488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35 000 FCFA / mois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548640" y="25557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932688" y="228600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Coup droit, revers et service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Forehand, backhand and serve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548640" y="34244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932688" y="315468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Déplacements et placement sur le court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Footwork and court positioning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548640" y="42931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932688" y="402336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Comptage des points, règles et esprit sportif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Scoring, rules and sportsmanship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ICT Club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Informatique — trois activités / three activities</a:t>
            </a:r>
            <a:endParaRPr lang="en-US" sz="2000" dirty="0"/>
          </a:p>
        </p:txBody>
      </p:sp>
      <p:pic>
        <p:nvPicPr>
          <p:cNvPr id="5" name="Photo" descr="Élèves du ICT Club devant des ordinateurs avec leur enseign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Logique · Créativité · Culture numérique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Logic · Creativity · Digital literacy</a:t>
            </a:r>
            <a:endParaRPr lang="en-US" sz="1700" dirty="0"/>
          </a:p>
        </p:txBody>
      </p:sp>
      <p:sp>
        <p:nvSpPr>
          <p:cNvPr id="8" name="Activité Web programming"/>
          <p:cNvSpPr/>
          <p:nvPr/>
        </p:nvSpPr>
        <p:spPr>
          <a:xfrm>
            <a:off x="6355080" y="169164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6492240" y="202082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303" y="2156887"/>
            <a:ext cx="294803" cy="294803"/>
          </a:xfrm>
          <a:prstGeom prst="rect">
            <a:avLst/>
          </a:prstGeom>
        </p:spPr>
      </p:pic>
      <p:sp>
        <p:nvSpPr>
          <p:cNvPr id="11" name="Bilingual text"/>
          <p:cNvSpPr txBox="1"/>
          <p:nvPr/>
        </p:nvSpPr>
        <p:spPr>
          <a:xfrm>
            <a:off x="7223760" y="17373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Web programming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HTML, CSS, JavaScript</a:t>
            </a:r>
            <a:endParaRPr lang="en-US" sz="1700" dirty="0"/>
          </a:p>
        </p:txBody>
      </p:sp>
      <p:sp>
        <p:nvSpPr>
          <p:cNvPr id="12" name="Badge paid"/>
          <p:cNvSpPr txBox="1"/>
          <p:nvPr/>
        </p:nvSpPr>
        <p:spPr>
          <a:xfrm>
            <a:off x="9601200" y="2121408"/>
            <a:ext cx="19202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50 000 FCFA / mois</a:t>
            </a:r>
            <a:endParaRPr lang="en-US" sz="1400" dirty="0"/>
          </a:p>
        </p:txBody>
      </p:sp>
      <p:sp>
        <p:nvSpPr>
          <p:cNvPr id="13" name="Activité Word, Excel, PowerPoint"/>
          <p:cNvSpPr/>
          <p:nvPr/>
        </p:nvSpPr>
        <p:spPr>
          <a:xfrm>
            <a:off x="6355080" y="306324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492240" y="339242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303" y="3528487"/>
            <a:ext cx="294803" cy="294803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7223760" y="31089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Word, Excel, PowerPoint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Bureautique / Office tools</a:t>
            </a:r>
            <a:endParaRPr lang="en-US" sz="1700" dirty="0"/>
          </a:p>
        </p:txBody>
      </p:sp>
      <p:sp>
        <p:nvSpPr>
          <p:cNvPr id="17" name="Badge paid"/>
          <p:cNvSpPr txBox="1"/>
          <p:nvPr/>
        </p:nvSpPr>
        <p:spPr>
          <a:xfrm>
            <a:off x="9601200" y="3493008"/>
            <a:ext cx="19202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50 000 FCFA / mois</a:t>
            </a:r>
            <a:endParaRPr lang="en-US" sz="1400" dirty="0"/>
          </a:p>
        </p:txBody>
      </p:sp>
      <p:sp>
        <p:nvSpPr>
          <p:cNvPr id="18" name="Activité Video game creation"/>
          <p:cNvSpPr/>
          <p:nvPr/>
        </p:nvSpPr>
        <p:spPr>
          <a:xfrm>
            <a:off x="6355080" y="443484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6492240" y="476402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303" y="4900087"/>
            <a:ext cx="294803" cy="294803"/>
          </a:xfrm>
          <a:prstGeom prst="rect">
            <a:avLst/>
          </a:prstGeom>
        </p:spPr>
      </p:pic>
      <p:sp>
        <p:nvSpPr>
          <p:cNvPr id="21" name="Bilingual text"/>
          <p:cNvSpPr txBox="1"/>
          <p:nvPr/>
        </p:nvSpPr>
        <p:spPr>
          <a:xfrm>
            <a:off x="7223760" y="44805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Video game creation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Création de jeux vidéo</a:t>
            </a:r>
            <a:endParaRPr lang="en-US" sz="1700" dirty="0"/>
          </a:p>
        </p:txBody>
      </p:sp>
      <p:sp>
        <p:nvSpPr>
          <p:cNvPr id="22" name="Badge paid"/>
          <p:cNvSpPr txBox="1"/>
          <p:nvPr/>
        </p:nvSpPr>
        <p:spPr>
          <a:xfrm>
            <a:off x="9601200" y="4864608"/>
            <a:ext cx="19202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50 000 FCFA / mois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ICT Club : Web Programming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Club Informatique — Programmation web</a:t>
            </a:r>
            <a:endParaRPr lang="en-US" sz="2000" dirty="0"/>
          </a:p>
        </p:txBody>
      </p:sp>
      <p:pic>
        <p:nvPicPr>
          <p:cNvPr id="5" name="Photo" descr="Élève écrivant du code sur un ordina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Logique · Résolution de problèmes · Culture numérique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Logic · Problem solving · Digital literacy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63550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50 000 FCFA / mois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355080" y="25557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739128" y="228600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HTML : structure d’une page web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HTML: structuring a web page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355080" y="34244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739128" y="315468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CSS : couleurs, mise en page, design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CSS: colours, layout, design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355080" y="42931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739128" y="402336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JavaScript : interactivité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JavaScript: interactivity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6355080" y="516178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6739128" y="4892040"/>
            <a:ext cx="4903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Création d’un petit site web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Building a small website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ICT Club : Bureautique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Office Tools — Word, Excel, PowerPoint</a:t>
            </a:r>
            <a:endParaRPr lang="en-US" sz="2000" dirty="0"/>
          </a:p>
        </p:txBody>
      </p:sp>
      <p:pic>
        <p:nvPicPr>
          <p:cNvPr id="5" name="Photo" descr="Élèves devant leurs ordina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655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6156655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6385255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Documents, tableaux et présentations de qualité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Quality documents, spreadsheets and presentations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54864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50 000 FCFA / mois</a:t>
            </a:r>
            <a:endParaRPr lang="en-US" sz="1500" dirty="0"/>
          </a:p>
        </p:txBody>
      </p:sp>
      <p:sp>
        <p:nvSpPr>
          <p:cNvPr id="9" name="App Microsoft Word"/>
          <p:cNvSpPr/>
          <p:nvPr/>
        </p:nvSpPr>
        <p:spPr>
          <a:xfrm>
            <a:off x="548640" y="233172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App icon" descr="Microsoft Wo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6040"/>
            <a:ext cx="594360" cy="594360"/>
          </a:xfrm>
          <a:prstGeom prst="rect">
            <a:avLst/>
          </a:prstGeom>
        </p:spPr>
      </p:pic>
      <p:sp>
        <p:nvSpPr>
          <p:cNvPr id="11" name="App texte"/>
          <p:cNvSpPr txBox="1"/>
          <p:nvPr/>
        </p:nvSpPr>
        <p:spPr>
          <a:xfrm>
            <a:off x="1600200" y="23317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Microsoft Word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Lettres, rapports et mise en forme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Letters, reports and formatting</a:t>
            </a:r>
            <a:endParaRPr lang="en-US" sz="1800" dirty="0"/>
          </a:p>
        </p:txBody>
      </p:sp>
      <p:sp>
        <p:nvSpPr>
          <p:cNvPr id="12" name="App Microsoft Excel"/>
          <p:cNvSpPr/>
          <p:nvPr/>
        </p:nvSpPr>
        <p:spPr>
          <a:xfrm>
            <a:off x="548640" y="361188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3" name="App icon" descr="Microsoft Exc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86200"/>
            <a:ext cx="594360" cy="594360"/>
          </a:xfrm>
          <a:prstGeom prst="rect">
            <a:avLst/>
          </a:prstGeom>
        </p:spPr>
      </p:pic>
      <p:sp>
        <p:nvSpPr>
          <p:cNvPr id="14" name="App texte"/>
          <p:cNvSpPr txBox="1"/>
          <p:nvPr/>
        </p:nvSpPr>
        <p:spPr>
          <a:xfrm>
            <a:off x="1600200" y="36118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Microsoft Excel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Tableaux, formules et graphiques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Tables, formulas and charts</a:t>
            </a:r>
            <a:endParaRPr lang="en-US" sz="1800" dirty="0"/>
          </a:p>
        </p:txBody>
      </p:sp>
      <p:sp>
        <p:nvSpPr>
          <p:cNvPr id="15" name="App Microsoft PowerPoint"/>
          <p:cNvSpPr/>
          <p:nvPr/>
        </p:nvSpPr>
        <p:spPr>
          <a:xfrm>
            <a:off x="548640" y="489204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App icon" descr="Microsoft PowerPoi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66360"/>
            <a:ext cx="594360" cy="594360"/>
          </a:xfrm>
          <a:prstGeom prst="rect">
            <a:avLst/>
          </a:prstGeom>
        </p:spPr>
      </p:pic>
      <p:sp>
        <p:nvSpPr>
          <p:cNvPr id="17" name="App texte"/>
          <p:cNvSpPr txBox="1"/>
          <p:nvPr/>
        </p:nvSpPr>
        <p:spPr>
          <a:xfrm>
            <a:off x="1600200" y="489204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Microsoft PowerPoint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Présentations visuelles et professionnelles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Visual and professional presentations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ICT Club : Création de jeux vidéo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Video Game Creation</a:t>
            </a:r>
            <a:endParaRPr lang="en-US" sz="2000" dirty="0"/>
          </a:p>
        </p:txBody>
      </p:sp>
      <p:pic>
        <p:nvPicPr>
          <p:cNvPr id="5" name="Photo" descr="Un jeu vidéo en cours de création à l’écr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086100"/>
          </a:xfrm>
          <a:prstGeom prst="rect">
            <a:avLst/>
          </a:prstGeom>
        </p:spPr>
      </p:pic>
      <p:sp>
        <p:nvSpPr>
          <p:cNvPr id="6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Imaginer · Coder · Créer · Jouer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Imagine · Code · Create · Play</a:t>
            </a:r>
            <a:endParaRPr lang="en-US" sz="1700" dirty="0"/>
          </a:p>
        </p:txBody>
      </p:sp>
      <p:sp>
        <p:nvSpPr>
          <p:cNvPr id="8" name="Badge paid"/>
          <p:cNvSpPr txBox="1"/>
          <p:nvPr/>
        </p:nvSpPr>
        <p:spPr>
          <a:xfrm>
            <a:off x="6355080" y="1691640"/>
            <a:ext cx="37490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50 000 FCFA / mois</a:t>
            </a:r>
            <a:endParaRPr lang="en-US" sz="1500" dirty="0"/>
          </a:p>
        </p:txBody>
      </p:sp>
      <p:sp>
        <p:nvSpPr>
          <p:cNvPr id="9" name="Marker"/>
          <p:cNvSpPr/>
          <p:nvPr/>
        </p:nvSpPr>
        <p:spPr>
          <a:xfrm>
            <a:off x="6355080" y="24414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ilingual text"/>
          <p:cNvSpPr txBox="1"/>
          <p:nvPr/>
        </p:nvSpPr>
        <p:spPr>
          <a:xfrm>
            <a:off x="6739128" y="228600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Conception du jeu et des niveaux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Game and level design</a:t>
            </a:r>
            <a:endParaRPr lang="en-US" sz="1800" dirty="0"/>
          </a:p>
        </p:txBody>
      </p:sp>
      <p:sp>
        <p:nvSpPr>
          <p:cNvPr id="11" name="Marker"/>
          <p:cNvSpPr/>
          <p:nvPr/>
        </p:nvSpPr>
        <p:spPr>
          <a:xfrm>
            <a:off x="6355080" y="30815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ilingual text"/>
          <p:cNvSpPr txBox="1"/>
          <p:nvPr/>
        </p:nvSpPr>
        <p:spPr>
          <a:xfrm>
            <a:off x="6739128" y="292608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Création des personnages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Character creation</a:t>
            </a:r>
            <a:endParaRPr lang="en-US" sz="1800" dirty="0"/>
          </a:p>
        </p:txBody>
      </p:sp>
      <p:sp>
        <p:nvSpPr>
          <p:cNvPr id="13" name="Marker"/>
          <p:cNvSpPr/>
          <p:nvPr/>
        </p:nvSpPr>
        <p:spPr>
          <a:xfrm>
            <a:off x="6355080" y="37216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ilingual text"/>
          <p:cNvSpPr txBox="1"/>
          <p:nvPr/>
        </p:nvSpPr>
        <p:spPr>
          <a:xfrm>
            <a:off x="6739128" y="356616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Programmation de la logique du jeu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Programming the game logic</a:t>
            </a:r>
            <a:endParaRPr lang="en-US" sz="1800" dirty="0"/>
          </a:p>
        </p:txBody>
      </p:sp>
      <p:sp>
        <p:nvSpPr>
          <p:cNvPr id="15" name="Marker"/>
          <p:cNvSpPr/>
          <p:nvPr/>
        </p:nvSpPr>
        <p:spPr>
          <a:xfrm>
            <a:off x="6355080" y="436168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ilingual text"/>
          <p:cNvSpPr txBox="1"/>
          <p:nvPr/>
        </p:nvSpPr>
        <p:spPr>
          <a:xfrm>
            <a:off x="6739128" y="420624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Initiation à Unity et C#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Introduction to Unity and C#</a:t>
            </a:r>
            <a:endParaRPr lang="en-US" sz="1800" dirty="0"/>
          </a:p>
        </p:txBody>
      </p:sp>
      <p:sp>
        <p:nvSpPr>
          <p:cNvPr id="17" name="Marker"/>
          <p:cNvSpPr/>
          <p:nvPr/>
        </p:nvSpPr>
        <p:spPr>
          <a:xfrm>
            <a:off x="6355080" y="500176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ilingual text"/>
          <p:cNvSpPr txBox="1"/>
          <p:nvPr/>
        </p:nvSpPr>
        <p:spPr>
          <a:xfrm>
            <a:off x="6739128" y="484632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Son, musique et travail en équipe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Sound, music and teamwork</a:t>
            </a:r>
            <a:endParaRPr lang="en-US" sz="1800" dirty="0"/>
          </a:p>
        </p:txBody>
      </p:sp>
      <p:sp>
        <p:nvSpPr>
          <p:cNvPr id="19" name="Marker"/>
          <p:cNvSpPr/>
          <p:nvPr/>
        </p:nvSpPr>
        <p:spPr>
          <a:xfrm>
            <a:off x="6355080" y="56418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ilingual text"/>
          <p:cNvSpPr txBox="1"/>
          <p:nvPr/>
        </p:nvSpPr>
        <p:spPr>
          <a:xfrm>
            <a:off x="6739128" y="5486400"/>
            <a:ext cx="4903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Création d’un jeu simple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Building a simple game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Tarifs et participation (1/2)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Fees and participation — frais mensuels / monthly fees</a:t>
            </a:r>
            <a:endParaRPr lang="en-US" sz="2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9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  <a:gridCol w="1645920"/>
                <a:gridCol w="26974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 / Activity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Santé, hygiène, premiers secours, prévention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/ 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Environnement, propreté de l’école, jardinage, recyclage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/ 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Arts &amp; Plastic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Dessin, peinture, arts plastiques, travaux manuels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Elsie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Journalism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/ 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Journalism+ · Public Speaking · Theatre Arts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Photography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 / To be confirmed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</a:tr>
              <a:tr h="51206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Videography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 / To be confirmed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Les frais des clubs payants se règlent à l’administration. / Fees for paid clubs are paid at the administration office.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Tarifs et participation (2/2)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Fees and participation — frais mensuels / monthly fees</a:t>
            </a:r>
            <a:endParaRPr lang="en-US" sz="2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  <a:gridCol w="1645920"/>
                <a:gridCol w="26974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 / Activity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</a:tr>
              <a:tr h="402336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Chant / Rythme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/ 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Guitar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/ 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Football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/ 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Volleyball + Football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Basketball + Football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Tennis + Football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ICT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programming (HTML, CSS, JavaScript)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Word, Excel, PowerPoint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game creation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FCFA / mois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Modalités et conditions d’inscription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Registration terms and conditions</a:t>
            </a:r>
            <a:endParaRPr lang="en-US" sz="2000" dirty="0"/>
          </a:p>
        </p:txBody>
      </p:sp>
      <p:sp>
        <p:nvSpPr>
          <p:cNvPr id="5" name="Condition 1"/>
          <p:cNvSpPr/>
          <p:nvPr/>
        </p:nvSpPr>
        <p:spPr>
          <a:xfrm>
            <a:off x="548640" y="1645920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77240" y="1993392"/>
            <a:ext cx="694944" cy="6949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76272"/>
            <a:ext cx="329184" cy="329184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691640" y="1691640"/>
            <a:ext cx="4160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Les activités ont lieu en dehors des heures de cours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Activities take place outside class hours</a:t>
            </a:r>
            <a:endParaRPr lang="en-US" sz="1600" dirty="0"/>
          </a:p>
        </p:txBody>
      </p:sp>
      <p:sp>
        <p:nvSpPr>
          <p:cNvPr id="9" name="Condition 2"/>
          <p:cNvSpPr/>
          <p:nvPr/>
        </p:nvSpPr>
        <p:spPr>
          <a:xfrm>
            <a:off x="6217920" y="1645920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6446520" y="1993392"/>
            <a:ext cx="694944" cy="6949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76272"/>
            <a:ext cx="329184" cy="329184"/>
          </a:xfrm>
          <a:prstGeom prst="rect">
            <a:avLst/>
          </a:prstGeom>
        </p:spPr>
      </p:pic>
      <p:sp>
        <p:nvSpPr>
          <p:cNvPr id="12" name="Bilingual text"/>
          <p:cNvSpPr txBox="1"/>
          <p:nvPr/>
        </p:nvSpPr>
        <p:spPr>
          <a:xfrm>
            <a:off x="7360920" y="1691640"/>
            <a:ext cx="4160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Jours et horaires communiqués après les inscriptions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Days and times announced after registration</a:t>
            </a:r>
            <a:endParaRPr lang="en-US" sz="1600" dirty="0"/>
          </a:p>
        </p:txBody>
      </p:sp>
      <p:sp>
        <p:nvSpPr>
          <p:cNvPr id="13" name="Condition 3"/>
          <p:cNvSpPr/>
          <p:nvPr/>
        </p:nvSpPr>
        <p:spPr>
          <a:xfrm>
            <a:off x="548640" y="3172968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777240" y="3520440"/>
            <a:ext cx="694944" cy="6949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703320"/>
            <a:ext cx="329184" cy="329184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1691640" y="3218688"/>
            <a:ext cx="4160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club n’ouvre que s’il compte un minimum d’inscrits (…… élèves)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club opens only with a minimum number of students (…… students)</a:t>
            </a:r>
            <a:endParaRPr lang="en-US" sz="1600" dirty="0"/>
          </a:p>
        </p:txBody>
      </p:sp>
      <p:sp>
        <p:nvSpPr>
          <p:cNvPr id="17" name="Condition 4"/>
          <p:cNvSpPr/>
          <p:nvPr/>
        </p:nvSpPr>
        <p:spPr>
          <a:xfrm>
            <a:off x="6217920" y="3172968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6446520" y="3520440"/>
            <a:ext cx="694944" cy="6949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703320"/>
            <a:ext cx="329184" cy="329184"/>
          </a:xfrm>
          <a:prstGeom prst="rect">
            <a:avLst/>
          </a:prstGeom>
        </p:spPr>
      </p:pic>
      <p:sp>
        <p:nvSpPr>
          <p:cNvPr id="20" name="Bilingual text"/>
          <p:cNvSpPr txBox="1"/>
          <p:nvPr/>
        </p:nvSpPr>
        <p:spPr>
          <a:xfrm>
            <a:off x="7360920" y="3218688"/>
            <a:ext cx="4160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Frais des clubs payants réglés à l’administration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Fees for paid clubs are paid at the administration office</a:t>
            </a:r>
            <a:endParaRPr lang="en-US" sz="1600" dirty="0"/>
          </a:p>
        </p:txBody>
      </p:sp>
      <p:sp>
        <p:nvSpPr>
          <p:cNvPr id="21" name="Condition 5"/>
          <p:cNvSpPr/>
          <p:nvPr/>
        </p:nvSpPr>
        <p:spPr>
          <a:xfrm>
            <a:off x="548640" y="4700016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777240" y="5047488"/>
            <a:ext cx="694944" cy="6949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230368"/>
            <a:ext cx="329184" cy="329184"/>
          </a:xfrm>
          <a:prstGeom prst="rect">
            <a:avLst/>
          </a:prstGeom>
        </p:spPr>
      </p:pic>
      <p:sp>
        <p:nvSpPr>
          <p:cNvPr id="24" name="Bilingual text"/>
          <p:cNvSpPr txBox="1"/>
          <p:nvPr/>
        </p:nvSpPr>
        <p:spPr>
          <a:xfrm>
            <a:off x="1691640" y="4745736"/>
            <a:ext cx="4160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Frais non remboursables après le début des activités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Fees are non-refundable once activities have started</a:t>
            </a:r>
            <a:endParaRPr lang="en-US" sz="1600" dirty="0"/>
          </a:p>
        </p:txBody>
      </p:sp>
      <p:sp>
        <p:nvSpPr>
          <p:cNvPr id="25" name="Condition 6"/>
          <p:cNvSpPr/>
          <p:nvPr/>
        </p:nvSpPr>
        <p:spPr>
          <a:xfrm>
            <a:off x="6217920" y="4700016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6446520" y="5047488"/>
            <a:ext cx="694944" cy="6949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230368"/>
            <a:ext cx="329184" cy="329184"/>
          </a:xfrm>
          <a:prstGeom prst="rect">
            <a:avLst/>
          </a:prstGeom>
        </p:spPr>
      </p:pic>
      <p:sp>
        <p:nvSpPr>
          <p:cNvPr id="28" name="Bilingual text"/>
          <p:cNvSpPr txBox="1"/>
          <p:nvPr/>
        </p:nvSpPr>
        <p:spPr>
          <a:xfrm>
            <a:off x="7360920" y="4745736"/>
            <a:ext cx="41605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Plusieurs clubs possibles ; maximum : …… clubs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Students may join several clubs; maximum: …… clubs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Comment inscrire votre enfant ?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How to register your child</a:t>
            </a:r>
            <a:endParaRPr lang="en-US" sz="2000" dirty="0"/>
          </a:p>
        </p:txBody>
      </p:sp>
      <p:sp>
        <p:nvSpPr>
          <p:cNvPr id="5" name="Fiche illustration"/>
          <p:cNvSpPr/>
          <p:nvPr/>
        </p:nvSpPr>
        <p:spPr>
          <a:xfrm>
            <a:off x="548640" y="1645920"/>
            <a:ext cx="3566160" cy="452628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2700">
            <a:solidFill>
              <a:srgbClr val="C9D6C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Fiche titre"/>
          <p:cNvSpPr txBox="1"/>
          <p:nvPr/>
        </p:nvSpPr>
        <p:spPr>
          <a:xfrm>
            <a:off x="731520" y="1810512"/>
            <a:ext cx="32004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FICHE D’INSCRIPTION AUX CLUBS</a:t>
            </a:r>
            <a:endParaRPr lang="en-US" sz="1200" dirty="0"/>
          </a:p>
        </p:txBody>
      </p:sp>
      <p:sp>
        <p:nvSpPr>
          <p:cNvPr id="7" name="Champ"/>
          <p:cNvSpPr txBox="1"/>
          <p:nvPr/>
        </p:nvSpPr>
        <p:spPr>
          <a:xfrm>
            <a:off x="777240" y="2468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Nom et prénom</a:t>
            </a:r>
            <a:endParaRPr lang="en-US" sz="1100" dirty="0"/>
          </a:p>
        </p:txBody>
      </p:sp>
      <p:sp>
        <p:nvSpPr>
          <p:cNvPr id="8" name="Ligne"/>
          <p:cNvSpPr/>
          <p:nvPr/>
        </p:nvSpPr>
        <p:spPr>
          <a:xfrm>
            <a:off x="777240" y="2798064"/>
            <a:ext cx="3108960" cy="0"/>
          </a:xfrm>
          <a:prstGeom prst="line">
            <a:avLst/>
          </a:prstGeom>
          <a:noFill/>
          <a:ln w="12700">
            <a:solidFill>
              <a:srgbClr val="B7C4BB"/>
            </a:solidFill>
            <a:prstDash val="dash"/>
          </a:ln>
        </p:spPr>
      </p:sp>
      <p:sp>
        <p:nvSpPr>
          <p:cNvPr id="9" name="Champ"/>
          <p:cNvSpPr txBox="1"/>
          <p:nvPr/>
        </p:nvSpPr>
        <p:spPr>
          <a:xfrm>
            <a:off x="777240" y="2944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Classe · Date de naissance</a:t>
            </a:r>
            <a:endParaRPr lang="en-US" sz="1100" dirty="0"/>
          </a:p>
        </p:txBody>
      </p:sp>
      <p:sp>
        <p:nvSpPr>
          <p:cNvPr id="10" name="Ligne"/>
          <p:cNvSpPr/>
          <p:nvPr/>
        </p:nvSpPr>
        <p:spPr>
          <a:xfrm>
            <a:off x="777240" y="3273552"/>
            <a:ext cx="3108960" cy="0"/>
          </a:xfrm>
          <a:prstGeom prst="line">
            <a:avLst/>
          </a:prstGeom>
          <a:noFill/>
          <a:ln w="12700">
            <a:solidFill>
              <a:srgbClr val="B7C4BB"/>
            </a:solidFill>
            <a:prstDash val="dash"/>
          </a:ln>
        </p:spPr>
      </p:sp>
      <p:sp>
        <p:nvSpPr>
          <p:cNvPr id="11" name="Champ"/>
          <p:cNvSpPr txBox="1"/>
          <p:nvPr/>
        </p:nvSpPr>
        <p:spPr>
          <a:xfrm>
            <a:off x="777240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Parent / tuteur</a:t>
            </a:r>
            <a:endParaRPr lang="en-US" sz="1100" dirty="0"/>
          </a:p>
        </p:txBody>
      </p:sp>
      <p:sp>
        <p:nvSpPr>
          <p:cNvPr id="12" name="Ligne"/>
          <p:cNvSpPr/>
          <p:nvPr/>
        </p:nvSpPr>
        <p:spPr>
          <a:xfrm>
            <a:off x="777240" y="3749040"/>
            <a:ext cx="3108960" cy="0"/>
          </a:xfrm>
          <a:prstGeom prst="line">
            <a:avLst/>
          </a:prstGeom>
          <a:noFill/>
          <a:ln w="12700">
            <a:solidFill>
              <a:srgbClr val="B7C4BB"/>
            </a:solidFill>
            <a:prstDash val="dash"/>
          </a:ln>
        </p:spPr>
      </p:sp>
      <p:sp>
        <p:nvSpPr>
          <p:cNvPr id="13" name="Champ"/>
          <p:cNvSpPr txBox="1"/>
          <p:nvPr/>
        </p:nvSpPr>
        <p:spPr>
          <a:xfrm>
            <a:off x="777240" y="3895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Téléphone (WhatsApp)</a:t>
            </a:r>
            <a:endParaRPr lang="en-US" sz="1100" dirty="0"/>
          </a:p>
        </p:txBody>
      </p:sp>
      <p:sp>
        <p:nvSpPr>
          <p:cNvPr id="14" name="Ligne"/>
          <p:cNvSpPr/>
          <p:nvPr/>
        </p:nvSpPr>
        <p:spPr>
          <a:xfrm>
            <a:off x="777240" y="4224528"/>
            <a:ext cx="3108960" cy="0"/>
          </a:xfrm>
          <a:prstGeom prst="line">
            <a:avLst/>
          </a:prstGeom>
          <a:noFill/>
          <a:ln w="12700">
            <a:solidFill>
              <a:srgbClr val="B7C4BB"/>
            </a:solidFill>
            <a:prstDash val="dash"/>
          </a:ln>
        </p:spPr>
      </p:sp>
      <p:sp>
        <p:nvSpPr>
          <p:cNvPr id="15" name="Case"/>
          <p:cNvSpPr/>
          <p:nvPr/>
        </p:nvSpPr>
        <p:spPr>
          <a:xfrm>
            <a:off x="822960" y="4480560"/>
            <a:ext cx="201168" cy="20116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Ligne club"/>
          <p:cNvSpPr/>
          <p:nvPr/>
        </p:nvSpPr>
        <p:spPr>
          <a:xfrm>
            <a:off x="1188720" y="4581144"/>
            <a:ext cx="1737360" cy="0"/>
          </a:xfrm>
          <a:prstGeom prst="line">
            <a:avLst/>
          </a:prstGeom>
          <a:noFill/>
          <a:ln w="38100">
            <a:solidFill>
              <a:srgbClr val="B7C4BB"/>
            </a:solidFill>
            <a:prstDash val="solid"/>
          </a:ln>
        </p:spPr>
      </p:sp>
      <p:sp>
        <p:nvSpPr>
          <p:cNvPr id="17" name="Case"/>
          <p:cNvSpPr/>
          <p:nvPr/>
        </p:nvSpPr>
        <p:spPr>
          <a:xfrm>
            <a:off x="822960" y="4846320"/>
            <a:ext cx="201168" cy="20116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Ligne club"/>
          <p:cNvSpPr/>
          <p:nvPr/>
        </p:nvSpPr>
        <p:spPr>
          <a:xfrm>
            <a:off x="1188720" y="4946904"/>
            <a:ext cx="2286000" cy="0"/>
          </a:xfrm>
          <a:prstGeom prst="line">
            <a:avLst/>
          </a:prstGeom>
          <a:noFill/>
          <a:ln w="38100">
            <a:solidFill>
              <a:srgbClr val="B7C4BB"/>
            </a:solidFill>
            <a:prstDash val="solid"/>
          </a:ln>
        </p:spPr>
      </p:sp>
      <p:sp>
        <p:nvSpPr>
          <p:cNvPr id="19" name="Case"/>
          <p:cNvSpPr/>
          <p:nvPr/>
        </p:nvSpPr>
        <p:spPr>
          <a:xfrm>
            <a:off x="822960" y="5212080"/>
            <a:ext cx="201168" cy="20116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Ligne club"/>
          <p:cNvSpPr/>
          <p:nvPr/>
        </p:nvSpPr>
        <p:spPr>
          <a:xfrm>
            <a:off x="1188720" y="5312664"/>
            <a:ext cx="1737360" cy="0"/>
          </a:xfrm>
          <a:prstGeom prst="line">
            <a:avLst/>
          </a:prstGeom>
          <a:noFill/>
          <a:ln w="38100">
            <a:solidFill>
              <a:srgbClr val="B7C4BB"/>
            </a:solidFill>
            <a:prstDash val="solid"/>
          </a:ln>
        </p:spPr>
      </p:sp>
      <p:sp>
        <p:nvSpPr>
          <p:cNvPr id="21" name="Case"/>
          <p:cNvSpPr/>
          <p:nvPr/>
        </p:nvSpPr>
        <p:spPr>
          <a:xfrm>
            <a:off x="822960" y="5577840"/>
            <a:ext cx="201168" cy="20116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Ligne club"/>
          <p:cNvSpPr/>
          <p:nvPr/>
        </p:nvSpPr>
        <p:spPr>
          <a:xfrm>
            <a:off x="1188720" y="5678424"/>
            <a:ext cx="2286000" cy="0"/>
          </a:xfrm>
          <a:prstGeom prst="line">
            <a:avLst/>
          </a:prstGeom>
          <a:noFill/>
          <a:ln w="38100">
            <a:solidFill>
              <a:srgbClr val="B7C4BB"/>
            </a:solidFill>
            <a:prstDash val="solid"/>
          </a:ln>
        </p:spPr>
      </p:sp>
      <p:sp>
        <p:nvSpPr>
          <p:cNvPr id="23" name="Signature"/>
          <p:cNvSpPr txBox="1"/>
          <p:nvPr/>
        </p:nvSpPr>
        <p:spPr>
          <a:xfrm>
            <a:off x="777240" y="5870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Signature du parent / tuteur</a:t>
            </a:r>
            <a:endParaRPr lang="en-US" sz="1100" dirty="0"/>
          </a:p>
        </p:txBody>
      </p:sp>
      <p:sp>
        <p:nvSpPr>
          <p:cNvPr id="24" name="Numéro"/>
          <p:cNvSpPr txBox="1"/>
          <p:nvPr/>
        </p:nvSpPr>
        <p:spPr>
          <a:xfrm>
            <a:off x="4480560" y="17007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25" name="Bilingual text"/>
          <p:cNvSpPr txBox="1"/>
          <p:nvPr/>
        </p:nvSpPr>
        <p:spPr>
          <a:xfrm>
            <a:off x="5120640" y="164592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Compléter la fiche d’inscription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Fill in the registration form</a:t>
            </a:r>
            <a:endParaRPr lang="en-US" sz="1600" dirty="0"/>
          </a:p>
        </p:txBody>
      </p:sp>
      <p:sp>
        <p:nvSpPr>
          <p:cNvPr id="26" name="Numéro"/>
          <p:cNvSpPr txBox="1"/>
          <p:nvPr/>
        </p:nvSpPr>
        <p:spPr>
          <a:xfrm>
            <a:off x="4480560" y="23408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7" name="Bilingual text"/>
          <p:cNvSpPr txBox="1"/>
          <p:nvPr/>
        </p:nvSpPr>
        <p:spPr>
          <a:xfrm>
            <a:off x="5120640" y="228600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Nom, classe et date de naissance de l’élève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Student’s name, class and date of birth</a:t>
            </a:r>
            <a:endParaRPr lang="en-US" sz="1600" dirty="0"/>
          </a:p>
        </p:txBody>
      </p:sp>
      <p:sp>
        <p:nvSpPr>
          <p:cNvPr id="28" name="Numéro"/>
          <p:cNvSpPr txBox="1"/>
          <p:nvPr/>
        </p:nvSpPr>
        <p:spPr>
          <a:xfrm>
            <a:off x="4480560" y="29809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Bilingual text"/>
          <p:cNvSpPr txBox="1"/>
          <p:nvPr/>
        </p:nvSpPr>
        <p:spPr>
          <a:xfrm>
            <a:off x="5120640" y="29260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Coordonnées du parent ou tuteur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Parent or guardian contact details</a:t>
            </a:r>
            <a:endParaRPr lang="en-US" sz="1600" dirty="0"/>
          </a:p>
        </p:txBody>
      </p:sp>
      <p:sp>
        <p:nvSpPr>
          <p:cNvPr id="30" name="Numéro"/>
          <p:cNvSpPr txBox="1"/>
          <p:nvPr/>
        </p:nvSpPr>
        <p:spPr>
          <a:xfrm>
            <a:off x="4480560" y="36210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Bilingual text"/>
          <p:cNvSpPr txBox="1"/>
          <p:nvPr/>
        </p:nvSpPr>
        <p:spPr>
          <a:xfrm>
            <a:off x="5120640" y="356616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Cocher les clubs et activités choisis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Tick the chosen clubs and activities</a:t>
            </a:r>
            <a:endParaRPr lang="en-US" sz="1600" dirty="0"/>
          </a:p>
        </p:txBody>
      </p:sp>
      <p:sp>
        <p:nvSpPr>
          <p:cNvPr id="32" name="Numéro"/>
          <p:cNvSpPr txBox="1"/>
          <p:nvPr/>
        </p:nvSpPr>
        <p:spPr>
          <a:xfrm>
            <a:off x="4480560" y="42611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3" name="Bilingual text"/>
          <p:cNvSpPr txBox="1"/>
          <p:nvPr/>
        </p:nvSpPr>
        <p:spPr>
          <a:xfrm>
            <a:off x="5120640" y="420624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Signer l’autorisation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Sign the authorisation</a:t>
            </a:r>
            <a:endParaRPr lang="en-US" sz="1600" dirty="0"/>
          </a:p>
        </p:txBody>
      </p:sp>
      <p:sp>
        <p:nvSpPr>
          <p:cNvPr id="34" name="Numéro"/>
          <p:cNvSpPr txBox="1"/>
          <p:nvPr/>
        </p:nvSpPr>
        <p:spPr>
          <a:xfrm>
            <a:off x="4480560" y="4901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5" name="Bilingual text"/>
          <p:cNvSpPr txBox="1"/>
          <p:nvPr/>
        </p:nvSpPr>
        <p:spPr>
          <a:xfrm>
            <a:off x="5120640" y="484632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Remettre la fiche à l’école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Return the form to the school</a:t>
            </a:r>
            <a:endParaRPr lang="en-US" sz="1600" dirty="0"/>
          </a:p>
        </p:txBody>
      </p:sp>
      <p:sp>
        <p:nvSpPr>
          <p:cNvPr id="36" name="Numéro"/>
          <p:cNvSpPr txBox="1"/>
          <p:nvPr/>
        </p:nvSpPr>
        <p:spPr>
          <a:xfrm>
            <a:off x="4480560" y="55412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37" name="Bilingual text"/>
          <p:cNvSpPr txBox="1"/>
          <p:nvPr/>
        </p:nvSpPr>
        <p:spPr>
          <a:xfrm>
            <a:off x="5120640" y="548640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Régler les frais des clubs payants à l’administration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Pay the fees of paid clubs at the administration office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card"/>
          <p:cNvSpPr/>
          <p:nvPr/>
        </p:nvSpPr>
        <p:spPr>
          <a:xfrm>
            <a:off x="54864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" name="Logo" descr="Logo Bright Continent Bilingual Scho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30352"/>
            <a:ext cx="950976" cy="950976"/>
          </a:xfrm>
          <a:prstGeom prst="rect">
            <a:avLst/>
          </a:prstGeom>
        </p:spPr>
      </p:pic>
      <p:sp>
        <p:nvSpPr>
          <p:cNvPr id="5" name="Titre FR"/>
          <p:cNvSpPr txBox="1"/>
          <p:nvPr/>
        </p:nvSpPr>
        <p:spPr>
          <a:xfrm>
            <a:off x="548640" y="17830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Révèle ton talent !</a:t>
            </a:r>
            <a:endParaRPr lang="en-US" sz="4800" dirty="0"/>
          </a:p>
        </p:txBody>
      </p:sp>
      <p:sp>
        <p:nvSpPr>
          <p:cNvPr id="6" name="Titre EN"/>
          <p:cNvSpPr txBox="1"/>
          <p:nvPr/>
        </p:nvSpPr>
        <p:spPr>
          <a:xfrm>
            <a:off x="548640" y="26060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Discover Your Talent</a:t>
            </a:r>
            <a:endParaRPr lang="en-US" sz="3200" dirty="0"/>
          </a:p>
        </p:txBody>
      </p:sp>
      <p:sp>
        <p:nvSpPr>
          <p:cNvPr id="7" name="Message"/>
          <p:cNvSpPr txBox="1"/>
          <p:nvPr/>
        </p:nvSpPr>
        <p:spPr>
          <a:xfrm>
            <a:off x="548640" y="333756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« Chaque enfant possède un talent. Nos clubs lui donnent l’occasion de le découvrir, de le développer et de le partager. »</a:t>
            </a:r>
            <a:endParaRPr lang="en-US" sz="1900" dirty="0"/>
          </a:p>
          <a:p>
            <a:pPr indent="0" marL="0">
              <a:buNone/>
            </a:pPr>
            <a:r>
              <a:rPr lang="en-US" sz="1700" i="1" dirty="0">
                <a:solidFill>
                  <a:schemeClr val="bg2"/>
                </a:solidFill>
              </a:rPr>
              <a:t>“Every child has a talent. Our clubs provide opportunities to discover it, develop it and share it.”</a:t>
            </a:r>
            <a:endParaRPr lang="en-US" sz="1900" dirty="0"/>
          </a:p>
        </p:txBody>
      </p:sp>
      <p:sp>
        <p:nvSpPr>
          <p:cNvPr id="8" name="Contact"/>
          <p:cNvSpPr txBox="1"/>
          <p:nvPr/>
        </p:nvSpPr>
        <p:spPr>
          <a:xfrm>
            <a:off x="548640" y="54864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Bright Continent Bilingual School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Dragage – Yaoundé  ·  +237 678 34 12 13</a:t>
            </a:r>
            <a:endParaRPr lang="en-US" sz="2000" dirty="0"/>
          </a:p>
        </p:txBody>
      </p:sp>
      <p:pic>
        <p:nvPicPr>
          <p:cNvPr id="9" name="Collage" descr="Élèves de BCBS participant à plusieurs activité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120640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CBS Clubs">
  <a:themeElements>
    <a:clrScheme name="BCBS Clubs">
      <a:dk1>
        <a:srgbClr val="1B2B22"/>
      </a:dk1>
      <a:lt1>
        <a:srgbClr val="FFFFFF"/>
      </a:lt1>
      <a:dk2>
        <a:srgbClr val="143D2A"/>
      </a:dk2>
      <a:lt2>
        <a:srgbClr val="EAF3EC"/>
      </a:lt2>
      <a:accent1>
        <a:srgbClr val="1F5A3A"/>
      </a:accent1>
      <a:accent2>
        <a:srgbClr val="F2B705"/>
      </a:accent2>
      <a:accent3>
        <a:srgbClr val="BD2124"/>
      </a:accent3>
      <a:accent4>
        <a:srgbClr val="0E7C86"/>
      </a:accent4>
      <a:accent5>
        <a:srgbClr val="6BA539"/>
      </a:accent5>
      <a:accent6>
        <a:srgbClr val="566860"/>
      </a:accent6>
      <a:hlink>
        <a:srgbClr val="0E7C86"/>
      </a:hlink>
      <a:folHlink>
        <a:srgbClr val="566860"/>
      </a:folHlink>
    </a:clrScheme>
    <a:fontScheme name="BCBS Club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Bright Continent Bilingual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Clubs extrascolaires 2026–2027 / Extracurricular Clubs 2026–2027</dc:title>
  <dc:subject>PptxGenJS Presentation</dc:subject>
  <dc:creator>Bright Continent Bilingual School</dc:creator>
  <cp:lastModifiedBy>Bright Continent Bilingual School</cp:lastModifiedBy>
  <cp:revision>1</cp:revision>
  <dcterms:created xsi:type="dcterms:W3CDTF">2026-10-16T09:36:04Z</dcterms:created>
  <dcterms:modified xsi:type="dcterms:W3CDTF">2026-10-16T09:36:04Z</dcterms:modified>
</cp:coreProperties>
</file>